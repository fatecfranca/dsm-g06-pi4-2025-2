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10287000" cx="18288000"/>
  <p:notesSz cx="6858000" cy="9144000"/>
  <p:embeddedFontLst>
    <p:embeddedFont>
      <p:font typeface="Raleway"/>
      <p:regular r:id="rId24"/>
      <p:bold r:id="rId25"/>
      <p:italic r:id="rId26"/>
      <p:boldItalic r:id="rId27"/>
    </p:embeddedFont>
    <p:embeddedFont>
      <p:font typeface="Proxima Nova"/>
      <p:regular r:id="rId28"/>
      <p:bold r:id="rId29"/>
      <p:italic r:id="rId30"/>
      <p:boldItalic r:id="rId31"/>
    </p:embeddedFont>
    <p:embeddedFont>
      <p:font typeface="Proxima Nova Extrabold"/>
      <p:bold r:id="rId32"/>
    </p:embeddedFont>
    <p:embeddedFont>
      <p:font typeface="Bree Serif"/>
      <p:regular r:id="rId33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  <p:ext uri="GoogleSlidesCustomDataVersion2">
      <go:slidesCustomData xmlns:go="http://customooxmlschemas.google.com/" r:id="rId34" roundtripDataSignature="AMtx7mgeA7zvDawf2VkLdWR9ztcDxbID2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Raleway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font" Target="fonts/Raleway-italic.fntdata"/><Relationship Id="rId25" Type="http://schemas.openxmlformats.org/officeDocument/2006/relationships/font" Target="fonts/Raleway-bold.fntdata"/><Relationship Id="rId28" Type="http://schemas.openxmlformats.org/officeDocument/2006/relationships/font" Target="fonts/ProximaNova-regular.fntdata"/><Relationship Id="rId27" Type="http://schemas.openxmlformats.org/officeDocument/2006/relationships/font" Target="fonts/Raleway-boldItalic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font" Target="fonts/ProximaNova-bold.fntdata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font" Target="fonts/ProximaNova-boldItalic.fntdata"/><Relationship Id="rId30" Type="http://schemas.openxmlformats.org/officeDocument/2006/relationships/font" Target="fonts/ProximaNova-italic.fntdata"/><Relationship Id="rId11" Type="http://schemas.openxmlformats.org/officeDocument/2006/relationships/slide" Target="slides/slide6.xml"/><Relationship Id="rId33" Type="http://schemas.openxmlformats.org/officeDocument/2006/relationships/font" Target="fonts/BreeSerif-regular.fntdata"/><Relationship Id="rId10" Type="http://schemas.openxmlformats.org/officeDocument/2006/relationships/slide" Target="slides/slide5.xml"/><Relationship Id="rId32" Type="http://schemas.openxmlformats.org/officeDocument/2006/relationships/font" Target="fonts/ProximaNovaExtrabold-bold.fntdata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34" Type="http://customschemas.google.com/relationships/presentationmetadata" Target="metadata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14" name="Google Shape;114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29" name="Google Shape;129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47" name="Google Shape;147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62" name="Google Shape;162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76" name="Google Shape;176;p7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90" name="Google Shape;190;p1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03" name="Google Shape;203;p1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17" name="Google Shape;217;p14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32" name="Google Shape;232;p16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g39fbb9a373c_0_6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45" name="Google Shape;245;g39fbb9a373c_0_6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8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g39fbb9a373c_0_4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60" name="Google Shape;260;g39fbb9a373c_0_45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3" name="Shape 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Google Shape;274;p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75" name="Google Shape;275;p2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6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88" name="Google Shape;288;p17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302" name="Google Shape;302;p1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g39fbb9a373c_0_2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323" name="Google Shape;323;g39fbb9a373c_0_24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5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p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337" name="Google Shape;337;p25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2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8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28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2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2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29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29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2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2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2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30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0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3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3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3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3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31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31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3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3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3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32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32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32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32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32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3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3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3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33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3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3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3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34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34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34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3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3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3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35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35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35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3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3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3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3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36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3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3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3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37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37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3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3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3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2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p26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2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2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2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7.jpg"/><Relationship Id="rId5" Type="http://schemas.openxmlformats.org/officeDocument/2006/relationships/image" Target="../media/image6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image" Target="../media/image6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8.png"/><Relationship Id="rId5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Relationship Id="rId4" Type="http://schemas.openxmlformats.org/officeDocument/2006/relationships/image" Target="../media/image6.png"/><Relationship Id="rId5" Type="http://schemas.openxmlformats.org/officeDocument/2006/relationships/image" Target="../media/image10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6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Relationship Id="rId5" Type="http://schemas.openxmlformats.org/officeDocument/2006/relationships/image" Target="../media/image10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2.png"/><Relationship Id="rId4" Type="http://schemas.openxmlformats.org/officeDocument/2006/relationships/image" Target="../media/image6.png"/><Relationship Id="rId5" Type="http://schemas.openxmlformats.org/officeDocument/2006/relationships/image" Target="../media/image9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2.png"/><Relationship Id="rId4" Type="http://schemas.openxmlformats.org/officeDocument/2006/relationships/image" Target="../media/image12.png"/><Relationship Id="rId5" Type="http://schemas.openxmlformats.org/officeDocument/2006/relationships/image" Target="../media/image14.png"/><Relationship Id="rId6" Type="http://schemas.openxmlformats.org/officeDocument/2006/relationships/image" Target="../media/image13.png"/><Relationship Id="rId7" Type="http://schemas.openxmlformats.org/officeDocument/2006/relationships/image" Target="../media/image11.png"/><Relationship Id="rId8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"/>
          <p:cNvSpPr/>
          <p:nvPr/>
        </p:nvSpPr>
        <p:spPr>
          <a:xfrm>
            <a:off x="11322508" y="2936219"/>
            <a:ext cx="11873584" cy="7858154"/>
          </a:xfrm>
          <a:custGeom>
            <a:rect b="b" l="l" r="r" t="t"/>
            <a:pathLst>
              <a:path extrusionOk="0" h="7858154" w="11873584">
                <a:moveTo>
                  <a:pt x="0" y="0"/>
                </a:moveTo>
                <a:lnTo>
                  <a:pt x="11873584" y="0"/>
                </a:lnTo>
                <a:lnTo>
                  <a:pt x="11873584" y="7858154"/>
                </a:lnTo>
                <a:lnTo>
                  <a:pt x="0" y="785815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grpSp>
        <p:nvGrpSpPr>
          <p:cNvPr id="85" name="Google Shape;85;p1"/>
          <p:cNvGrpSpPr/>
          <p:nvPr/>
        </p:nvGrpSpPr>
        <p:grpSpPr>
          <a:xfrm>
            <a:off x="1234634" y="-915527"/>
            <a:ext cx="1660787" cy="1650235"/>
            <a:chOff x="0" y="-47625"/>
            <a:chExt cx="437406" cy="434627"/>
          </a:xfrm>
        </p:grpSpPr>
        <p:sp>
          <p:nvSpPr>
            <p:cNvPr id="86" name="Google Shape;86;p1"/>
            <p:cNvSpPr/>
            <p:nvPr/>
          </p:nvSpPr>
          <p:spPr>
            <a:xfrm>
              <a:off x="0" y="0"/>
              <a:ext cx="437406" cy="387002"/>
            </a:xfrm>
            <a:custGeom>
              <a:rect b="b" l="l" r="r" t="t"/>
              <a:pathLst>
                <a:path extrusionOk="0" h="387002" w="437406">
                  <a:moveTo>
                    <a:pt x="0" y="0"/>
                  </a:moveTo>
                  <a:lnTo>
                    <a:pt x="437406" y="0"/>
                  </a:lnTo>
                  <a:lnTo>
                    <a:pt x="437406" y="387002"/>
                  </a:lnTo>
                  <a:lnTo>
                    <a:pt x="0" y="387002"/>
                  </a:lnTo>
                  <a:close/>
                </a:path>
              </a:pathLst>
            </a:custGeom>
            <a:solidFill>
              <a:srgbClr val="7ED957"/>
            </a:solidFill>
            <a:ln>
              <a:noFill/>
            </a:ln>
          </p:spPr>
        </p:sp>
        <p:sp>
          <p:nvSpPr>
            <p:cNvPr id="87" name="Google Shape;87;p1"/>
            <p:cNvSpPr txBox="1"/>
            <p:nvPr/>
          </p:nvSpPr>
          <p:spPr>
            <a:xfrm>
              <a:off x="0" y="-47625"/>
              <a:ext cx="437406" cy="434627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88" name="Google Shape;88;p1"/>
          <p:cNvGrpSpPr/>
          <p:nvPr/>
        </p:nvGrpSpPr>
        <p:grpSpPr>
          <a:xfrm>
            <a:off x="2895428" y="-915527"/>
            <a:ext cx="489705" cy="1650235"/>
            <a:chOff x="0" y="-47625"/>
            <a:chExt cx="128975" cy="434627"/>
          </a:xfrm>
        </p:grpSpPr>
        <p:sp>
          <p:nvSpPr>
            <p:cNvPr id="89" name="Google Shape;89;p1"/>
            <p:cNvSpPr/>
            <p:nvPr/>
          </p:nvSpPr>
          <p:spPr>
            <a:xfrm>
              <a:off x="0" y="0"/>
              <a:ext cx="128975" cy="387002"/>
            </a:xfrm>
            <a:custGeom>
              <a:rect b="b" l="l" r="r" t="t"/>
              <a:pathLst>
                <a:path extrusionOk="0" h="387002" w="128975">
                  <a:moveTo>
                    <a:pt x="0" y="0"/>
                  </a:moveTo>
                  <a:lnTo>
                    <a:pt x="128975" y="0"/>
                  </a:lnTo>
                  <a:lnTo>
                    <a:pt x="128975" y="387002"/>
                  </a:lnTo>
                  <a:lnTo>
                    <a:pt x="0" y="387002"/>
                  </a:lnTo>
                  <a:close/>
                </a:path>
              </a:pathLst>
            </a:custGeom>
            <a:solidFill>
              <a:srgbClr val="00BF63"/>
            </a:solidFill>
            <a:ln>
              <a:noFill/>
            </a:ln>
          </p:spPr>
        </p:sp>
        <p:sp>
          <p:nvSpPr>
            <p:cNvPr id="90" name="Google Shape;90;p1"/>
            <p:cNvSpPr txBox="1"/>
            <p:nvPr/>
          </p:nvSpPr>
          <p:spPr>
            <a:xfrm>
              <a:off x="0" y="-47625"/>
              <a:ext cx="128975" cy="434627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91" name="Google Shape;91;p1"/>
          <p:cNvSpPr txBox="1"/>
          <p:nvPr/>
        </p:nvSpPr>
        <p:spPr>
          <a:xfrm>
            <a:off x="6853052" y="2469023"/>
            <a:ext cx="7437900" cy="1394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199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61"/>
              <a:buFont typeface="Arial"/>
              <a:buNone/>
            </a:pPr>
            <a:r>
              <a:rPr b="1" i="0" lang="en-US" sz="9061" u="none" cap="none" strike="noStrike">
                <a:solidFill>
                  <a:srgbClr val="7ED957"/>
                </a:solidFill>
                <a:latin typeface="Proxima Nova Extrabold"/>
                <a:ea typeface="Proxima Nova Extrabold"/>
                <a:cs typeface="Proxima Nova Extrabold"/>
                <a:sym typeface="Proxima Nova Extrabold"/>
              </a:rPr>
              <a:t>INTELIGENTE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2" name="Google Shape;92;p1"/>
          <p:cNvSpPr txBox="1"/>
          <p:nvPr/>
        </p:nvSpPr>
        <p:spPr>
          <a:xfrm>
            <a:off x="5072978" y="608696"/>
            <a:ext cx="8630100" cy="2149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4997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967"/>
              <a:buFont typeface="Arial"/>
              <a:buNone/>
            </a:pPr>
            <a:r>
              <a:rPr b="1" i="0" lang="en-US" sz="13967" u="none" cap="none" strike="noStrike">
                <a:solidFill>
                  <a:srgbClr val="7ED957"/>
                </a:solidFill>
                <a:latin typeface="Proxima Nova Extrabold"/>
                <a:ea typeface="Proxima Nova Extrabold"/>
                <a:cs typeface="Proxima Nova Extrabold"/>
                <a:sym typeface="Proxima Nova Extrabold"/>
              </a:rPr>
              <a:t>MOCHILA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3" name="Google Shape;93;p1"/>
          <p:cNvSpPr txBox="1"/>
          <p:nvPr/>
        </p:nvSpPr>
        <p:spPr>
          <a:xfrm>
            <a:off x="4453257" y="372774"/>
            <a:ext cx="53100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5004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56"/>
              <a:buFont typeface="Arial"/>
              <a:buNone/>
            </a:pPr>
            <a:r>
              <a:rPr b="1" i="0" lang="en-US" sz="4456" u="none" cap="none" strike="noStrike">
                <a:solidFill>
                  <a:srgbClr val="7ED957"/>
                </a:solidFill>
                <a:latin typeface="Proxima Nova"/>
                <a:ea typeface="Proxima Nova"/>
                <a:cs typeface="Proxima Nova"/>
                <a:sym typeface="Proxima Nova"/>
              </a:rPr>
              <a:t>APRESENTANDO 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" name="Google Shape;94;p1"/>
          <p:cNvSpPr txBox="1"/>
          <p:nvPr/>
        </p:nvSpPr>
        <p:spPr>
          <a:xfrm>
            <a:off x="15099150" y="372775"/>
            <a:ext cx="2969400" cy="18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4994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364"/>
              <a:buFont typeface="Arial"/>
              <a:buNone/>
            </a:pPr>
            <a:r>
              <a:rPr b="1" i="0" lang="en-US" sz="3364" u="none" cap="none" strike="noStrike">
                <a:solidFill>
                  <a:srgbClr val="00BF63"/>
                </a:solidFill>
                <a:latin typeface="Proxima Nova"/>
                <a:ea typeface="Proxima Nova"/>
                <a:cs typeface="Proxima Nova"/>
                <a:sym typeface="Proxima Nova"/>
              </a:rPr>
              <a:t>Claudio Junior</a:t>
            </a:r>
            <a:endParaRPr b="1" i="0" sz="3364" u="none" cap="none" strike="noStrike">
              <a:solidFill>
                <a:srgbClr val="00BF63"/>
              </a:solidFill>
              <a:latin typeface="Proxima Nova"/>
              <a:ea typeface="Proxima Nova"/>
              <a:cs typeface="Proxima Nova"/>
              <a:sym typeface="Proxima Nova"/>
            </a:endParaRPr>
          </a:p>
          <a:p>
            <a:pPr indent="0" lvl="0" marL="0" marR="0" rtl="0" algn="l">
              <a:lnSpc>
                <a:spcPct val="10499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64"/>
              <a:buFont typeface="Arial"/>
              <a:buNone/>
            </a:pPr>
            <a:r>
              <a:rPr b="1" i="0" lang="en-US" sz="3364" u="none" cap="none" strike="noStrike">
                <a:solidFill>
                  <a:srgbClr val="00BF63"/>
                </a:solidFill>
                <a:latin typeface="Proxima Nova"/>
                <a:ea typeface="Proxima Nova"/>
                <a:cs typeface="Proxima Nova"/>
                <a:sym typeface="Proxima Nova"/>
              </a:rPr>
              <a:t>João Vitor</a:t>
            </a:r>
            <a:endParaRPr b="1" i="0" sz="3364" u="none" cap="none" strike="noStrike">
              <a:solidFill>
                <a:srgbClr val="00BF63"/>
              </a:solidFill>
              <a:latin typeface="Proxima Nova"/>
              <a:ea typeface="Proxima Nova"/>
              <a:cs typeface="Proxima Nova"/>
              <a:sym typeface="Proxima Nova"/>
            </a:endParaRPr>
          </a:p>
          <a:p>
            <a:pPr indent="0" lvl="0" marL="0" marR="0" rtl="0" algn="l">
              <a:lnSpc>
                <a:spcPct val="104994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364"/>
              <a:buFont typeface="Arial"/>
              <a:buNone/>
            </a:pPr>
            <a:r>
              <a:rPr b="1" i="0" lang="en-US" sz="3364" u="none" cap="none" strike="noStrike">
                <a:solidFill>
                  <a:srgbClr val="00BF63"/>
                </a:solidFill>
                <a:latin typeface="Proxima Nova"/>
                <a:ea typeface="Proxima Nova"/>
                <a:cs typeface="Proxima Nova"/>
                <a:sym typeface="Proxima Nova"/>
              </a:rPr>
              <a:t>Luís Pedro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4994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5" name="Google Shape;95;p1"/>
          <p:cNvSpPr txBox="1"/>
          <p:nvPr/>
        </p:nvSpPr>
        <p:spPr>
          <a:xfrm>
            <a:off x="808200" y="8697175"/>
            <a:ext cx="9467400" cy="138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22014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61"/>
              <a:buFont typeface="Arial"/>
              <a:buNone/>
            </a:pPr>
            <a:r>
              <a:rPr b="0" i="0" lang="en-US" sz="4061" u="none" cap="none" strike="noStrike">
                <a:solidFill>
                  <a:srgbClr val="7ED957"/>
                </a:solidFill>
                <a:latin typeface="Bree Serif"/>
                <a:ea typeface="Bree Serif"/>
                <a:cs typeface="Bree Serif"/>
                <a:sym typeface="Bree Serif"/>
              </a:rPr>
              <a:t>MONITORAMENTO DE PESO PARA MAIS SAÚDE E CONFORTO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96" name="Google Shape;96;p1"/>
          <p:cNvPicPr preferRelativeResize="0"/>
          <p:nvPr/>
        </p:nvPicPr>
        <p:blipFill rotWithShape="1">
          <a:blip r:embed="rId4">
            <a:alphaModFix/>
          </a:blip>
          <a:srcRect b="11260" l="19519" r="19501" t="9775"/>
          <a:stretch/>
        </p:blipFill>
        <p:spPr>
          <a:xfrm>
            <a:off x="1234625" y="2683121"/>
            <a:ext cx="4052224" cy="52472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"/>
          <p:cNvSpPr/>
          <p:nvPr/>
        </p:nvSpPr>
        <p:spPr>
          <a:xfrm>
            <a:off x="11322508" y="2936219"/>
            <a:ext cx="11873584" cy="7858154"/>
          </a:xfrm>
          <a:custGeom>
            <a:rect b="b" l="l" r="r" t="t"/>
            <a:pathLst>
              <a:path extrusionOk="0" h="7858154" w="11873584">
                <a:moveTo>
                  <a:pt x="0" y="0"/>
                </a:moveTo>
                <a:lnTo>
                  <a:pt x="11873584" y="0"/>
                </a:lnTo>
                <a:lnTo>
                  <a:pt x="11873584" y="7858154"/>
                </a:lnTo>
                <a:lnTo>
                  <a:pt x="0" y="785815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grpSp>
        <p:nvGrpSpPr>
          <p:cNvPr id="102" name="Google Shape;102;p2"/>
          <p:cNvGrpSpPr/>
          <p:nvPr/>
        </p:nvGrpSpPr>
        <p:grpSpPr>
          <a:xfrm>
            <a:off x="1034654" y="-915527"/>
            <a:ext cx="1660787" cy="1650512"/>
            <a:chOff x="0" y="-47625"/>
            <a:chExt cx="437406" cy="434700"/>
          </a:xfrm>
        </p:grpSpPr>
        <p:sp>
          <p:nvSpPr>
            <p:cNvPr id="103" name="Google Shape;103;p2"/>
            <p:cNvSpPr/>
            <p:nvPr/>
          </p:nvSpPr>
          <p:spPr>
            <a:xfrm>
              <a:off x="0" y="0"/>
              <a:ext cx="437406" cy="387002"/>
            </a:xfrm>
            <a:custGeom>
              <a:rect b="b" l="l" r="r" t="t"/>
              <a:pathLst>
                <a:path extrusionOk="0" h="387002" w="437406">
                  <a:moveTo>
                    <a:pt x="0" y="0"/>
                  </a:moveTo>
                  <a:lnTo>
                    <a:pt x="437406" y="0"/>
                  </a:lnTo>
                  <a:lnTo>
                    <a:pt x="437406" y="387002"/>
                  </a:lnTo>
                  <a:lnTo>
                    <a:pt x="0" y="387002"/>
                  </a:lnTo>
                  <a:close/>
                </a:path>
              </a:pathLst>
            </a:custGeom>
            <a:solidFill>
              <a:srgbClr val="7ED957"/>
            </a:solidFill>
            <a:ln>
              <a:noFill/>
            </a:ln>
          </p:spPr>
        </p:sp>
        <p:sp>
          <p:nvSpPr>
            <p:cNvPr id="104" name="Google Shape;104;p2"/>
            <p:cNvSpPr txBox="1"/>
            <p:nvPr/>
          </p:nvSpPr>
          <p:spPr>
            <a:xfrm>
              <a:off x="0" y="-47625"/>
              <a:ext cx="437400" cy="434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05" name="Google Shape;105;p2"/>
          <p:cNvGrpSpPr/>
          <p:nvPr/>
        </p:nvGrpSpPr>
        <p:grpSpPr>
          <a:xfrm>
            <a:off x="2779973" y="-915527"/>
            <a:ext cx="489800" cy="1650512"/>
            <a:chOff x="0" y="-47625"/>
            <a:chExt cx="129000" cy="434700"/>
          </a:xfrm>
        </p:grpSpPr>
        <p:sp>
          <p:nvSpPr>
            <p:cNvPr id="106" name="Google Shape;106;p2"/>
            <p:cNvSpPr/>
            <p:nvPr/>
          </p:nvSpPr>
          <p:spPr>
            <a:xfrm>
              <a:off x="0" y="0"/>
              <a:ext cx="128975" cy="387002"/>
            </a:xfrm>
            <a:custGeom>
              <a:rect b="b" l="l" r="r" t="t"/>
              <a:pathLst>
                <a:path extrusionOk="0" h="387002" w="128975">
                  <a:moveTo>
                    <a:pt x="0" y="0"/>
                  </a:moveTo>
                  <a:lnTo>
                    <a:pt x="128975" y="0"/>
                  </a:lnTo>
                  <a:lnTo>
                    <a:pt x="128975" y="387002"/>
                  </a:lnTo>
                  <a:lnTo>
                    <a:pt x="0" y="387002"/>
                  </a:lnTo>
                  <a:close/>
                </a:path>
              </a:pathLst>
            </a:custGeom>
            <a:solidFill>
              <a:srgbClr val="00BF63"/>
            </a:solidFill>
            <a:ln>
              <a:noFill/>
            </a:ln>
          </p:spPr>
        </p:sp>
        <p:sp>
          <p:nvSpPr>
            <p:cNvPr id="107" name="Google Shape;107;p2"/>
            <p:cNvSpPr txBox="1"/>
            <p:nvPr/>
          </p:nvSpPr>
          <p:spPr>
            <a:xfrm>
              <a:off x="0" y="-47625"/>
              <a:ext cx="129000" cy="434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08" name="Google Shape;108;p2"/>
          <p:cNvSpPr txBox="1"/>
          <p:nvPr/>
        </p:nvSpPr>
        <p:spPr>
          <a:xfrm>
            <a:off x="0" y="1337825"/>
            <a:ext cx="15795600" cy="5204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424939" lvl="1" marL="1030472" marR="0" rtl="0" algn="l">
              <a:lnSpc>
                <a:spcPct val="105008"/>
              </a:lnSpc>
              <a:spcBef>
                <a:spcPts val="0"/>
              </a:spcBef>
              <a:spcAft>
                <a:spcPts val="0"/>
              </a:spcAft>
              <a:buClr>
                <a:srgbClr val="00BF63"/>
              </a:buClr>
              <a:buSzPts val="3350"/>
              <a:buFont typeface="Arial"/>
              <a:buChar char="•"/>
            </a:pPr>
            <a:r>
              <a:rPr b="1" i="0" lang="en-US" sz="3350" u="none" cap="none" strike="noStrike">
                <a:solidFill>
                  <a:srgbClr val="00BF63"/>
                </a:solidFill>
                <a:latin typeface="Raleway"/>
                <a:ea typeface="Raleway"/>
                <a:cs typeface="Raleway"/>
                <a:sym typeface="Raleway"/>
              </a:rPr>
              <a:t>Muitos de nós carregam mochilas pesadas todos os dias, seja na escola, faculdade ou no trabalho. Quase sem perceber, adicionamos livros, cadernos, notebooks e outros itens que, juntos, se tornam uma carga excessiva.</a:t>
            </a:r>
            <a:endParaRPr b="1" i="0" sz="3350" u="none" cap="none" strike="noStrike">
              <a:solidFill>
                <a:srgbClr val="00BF63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0" lvl="0" marL="914400" marR="0" rtl="0" algn="l">
              <a:lnSpc>
                <a:spcPct val="105008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350"/>
              <a:buFont typeface="Arial"/>
              <a:buNone/>
            </a:pPr>
            <a:r>
              <a:t/>
            </a:r>
            <a:endParaRPr b="1" i="0" sz="3350" u="none" cap="none" strike="noStrike">
              <a:solidFill>
                <a:srgbClr val="00BF63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-424939" lvl="1" marL="1030472" marR="0" rtl="0" algn="l">
              <a:lnSpc>
                <a:spcPct val="105008"/>
              </a:lnSpc>
              <a:spcBef>
                <a:spcPts val="0"/>
              </a:spcBef>
              <a:spcAft>
                <a:spcPts val="0"/>
              </a:spcAft>
              <a:buClr>
                <a:srgbClr val="00BF63"/>
              </a:buClr>
              <a:buSzPts val="3350"/>
              <a:buFont typeface="Arial"/>
              <a:buChar char="•"/>
            </a:pPr>
            <a:r>
              <a:rPr b="1" i="0" lang="en-US" sz="3350" u="none" cap="none" strike="noStrike">
                <a:solidFill>
                  <a:srgbClr val="00BF63"/>
                </a:solidFill>
                <a:latin typeface="Raleway"/>
                <a:ea typeface="Raleway"/>
                <a:cs typeface="Raleway"/>
                <a:sym typeface="Raleway"/>
              </a:rPr>
              <a:t>Essa rotina silenciosa pode ter consequências sérias. O excesso de peso não só causa desconforto imediato, mas também pode levar a dores crônicas, má postura e problemas de saúde a longo prazo.</a:t>
            </a:r>
            <a:endParaRPr b="0" i="0" sz="3350" u="none" cap="none" strike="noStrike">
              <a:solidFill>
                <a:srgbClr val="00BF6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5008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672"/>
              <a:buFont typeface="Arial"/>
              <a:buNone/>
            </a:pPr>
            <a:r>
              <a:t/>
            </a:r>
            <a:endParaRPr b="1" i="0" sz="5672" u="none" cap="none" strike="noStrike">
              <a:solidFill>
                <a:srgbClr val="7ED957"/>
              </a:solidFill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109" name="Google Shape;109;p2"/>
          <p:cNvSpPr/>
          <p:nvPr/>
        </p:nvSpPr>
        <p:spPr>
          <a:xfrm>
            <a:off x="1039105" y="6117825"/>
            <a:ext cx="6959625" cy="4018707"/>
          </a:xfrm>
          <a:custGeom>
            <a:rect b="b" l="l" r="r" t="t"/>
            <a:pathLst>
              <a:path extrusionOk="0" h="4900862" w="7364683">
                <a:moveTo>
                  <a:pt x="0" y="0"/>
                </a:moveTo>
                <a:lnTo>
                  <a:pt x="7364683" y="0"/>
                </a:lnTo>
                <a:lnTo>
                  <a:pt x="7364683" y="4900862"/>
                </a:lnTo>
                <a:lnTo>
                  <a:pt x="0" y="490086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110" name="Google Shape;110;p2"/>
          <p:cNvSpPr txBox="1"/>
          <p:nvPr/>
        </p:nvSpPr>
        <p:spPr>
          <a:xfrm>
            <a:off x="5071116" y="198584"/>
            <a:ext cx="9014400" cy="870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5004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656"/>
              <a:buFont typeface="Arial"/>
              <a:buNone/>
            </a:pPr>
            <a:r>
              <a:rPr b="1" i="0" lang="en-US" sz="5656" u="none" cap="none" strike="noStrike">
                <a:solidFill>
                  <a:srgbClr val="7ED957"/>
                </a:solidFill>
                <a:latin typeface="Proxima Nova"/>
                <a:ea typeface="Proxima Nova"/>
                <a:cs typeface="Proxima Nova"/>
                <a:sym typeface="Proxima Nova"/>
              </a:rPr>
              <a:t>PROBLEMA ENFRENTADO</a:t>
            </a:r>
            <a:endParaRPr b="0" i="0" sz="2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11" name="Google Shape;111;p2"/>
          <p:cNvPicPr preferRelativeResize="0"/>
          <p:nvPr/>
        </p:nvPicPr>
        <p:blipFill rotWithShape="1">
          <a:blip r:embed="rId5">
            <a:alphaModFix/>
          </a:blip>
          <a:srcRect b="11260" l="19519" r="19501" t="9775"/>
          <a:stretch/>
        </p:blipFill>
        <p:spPr>
          <a:xfrm>
            <a:off x="16461200" y="198575"/>
            <a:ext cx="1532649" cy="19846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3"/>
          <p:cNvSpPr/>
          <p:nvPr/>
        </p:nvSpPr>
        <p:spPr>
          <a:xfrm>
            <a:off x="11322508" y="2936219"/>
            <a:ext cx="11873584" cy="7858154"/>
          </a:xfrm>
          <a:custGeom>
            <a:rect b="b" l="l" r="r" t="t"/>
            <a:pathLst>
              <a:path extrusionOk="0" h="7858154" w="11873584">
                <a:moveTo>
                  <a:pt x="0" y="0"/>
                </a:moveTo>
                <a:lnTo>
                  <a:pt x="11873584" y="0"/>
                </a:lnTo>
                <a:lnTo>
                  <a:pt x="11873584" y="7858154"/>
                </a:lnTo>
                <a:lnTo>
                  <a:pt x="0" y="785815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grpSp>
        <p:nvGrpSpPr>
          <p:cNvPr id="117" name="Google Shape;117;p3"/>
          <p:cNvGrpSpPr/>
          <p:nvPr/>
        </p:nvGrpSpPr>
        <p:grpSpPr>
          <a:xfrm>
            <a:off x="1005790" y="-915527"/>
            <a:ext cx="1660787" cy="1650235"/>
            <a:chOff x="0" y="-47625"/>
            <a:chExt cx="437406" cy="434627"/>
          </a:xfrm>
        </p:grpSpPr>
        <p:sp>
          <p:nvSpPr>
            <p:cNvPr id="118" name="Google Shape;118;p3"/>
            <p:cNvSpPr/>
            <p:nvPr/>
          </p:nvSpPr>
          <p:spPr>
            <a:xfrm>
              <a:off x="0" y="0"/>
              <a:ext cx="437406" cy="387002"/>
            </a:xfrm>
            <a:custGeom>
              <a:rect b="b" l="l" r="r" t="t"/>
              <a:pathLst>
                <a:path extrusionOk="0" h="387002" w="437406">
                  <a:moveTo>
                    <a:pt x="0" y="0"/>
                  </a:moveTo>
                  <a:lnTo>
                    <a:pt x="437406" y="0"/>
                  </a:lnTo>
                  <a:lnTo>
                    <a:pt x="437406" y="387002"/>
                  </a:lnTo>
                  <a:lnTo>
                    <a:pt x="0" y="387002"/>
                  </a:lnTo>
                  <a:close/>
                </a:path>
              </a:pathLst>
            </a:custGeom>
            <a:solidFill>
              <a:srgbClr val="7ED957"/>
            </a:solidFill>
            <a:ln>
              <a:noFill/>
            </a:ln>
          </p:spPr>
        </p:sp>
        <p:sp>
          <p:nvSpPr>
            <p:cNvPr id="119" name="Google Shape;119;p3"/>
            <p:cNvSpPr txBox="1"/>
            <p:nvPr/>
          </p:nvSpPr>
          <p:spPr>
            <a:xfrm>
              <a:off x="0" y="-47625"/>
              <a:ext cx="437406" cy="434627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20" name="Google Shape;120;p3"/>
          <p:cNvGrpSpPr/>
          <p:nvPr/>
        </p:nvGrpSpPr>
        <p:grpSpPr>
          <a:xfrm>
            <a:off x="2751109" y="-915527"/>
            <a:ext cx="489705" cy="1650235"/>
            <a:chOff x="0" y="-47625"/>
            <a:chExt cx="128975" cy="434627"/>
          </a:xfrm>
        </p:grpSpPr>
        <p:sp>
          <p:nvSpPr>
            <p:cNvPr id="121" name="Google Shape;121;p3"/>
            <p:cNvSpPr/>
            <p:nvPr/>
          </p:nvSpPr>
          <p:spPr>
            <a:xfrm>
              <a:off x="0" y="0"/>
              <a:ext cx="128975" cy="387002"/>
            </a:xfrm>
            <a:custGeom>
              <a:rect b="b" l="l" r="r" t="t"/>
              <a:pathLst>
                <a:path extrusionOk="0" h="387002" w="128975">
                  <a:moveTo>
                    <a:pt x="0" y="0"/>
                  </a:moveTo>
                  <a:lnTo>
                    <a:pt x="128975" y="0"/>
                  </a:lnTo>
                  <a:lnTo>
                    <a:pt x="128975" y="387002"/>
                  </a:lnTo>
                  <a:lnTo>
                    <a:pt x="0" y="387002"/>
                  </a:lnTo>
                  <a:close/>
                </a:path>
              </a:pathLst>
            </a:custGeom>
            <a:solidFill>
              <a:srgbClr val="00BF63"/>
            </a:solidFill>
            <a:ln>
              <a:noFill/>
            </a:ln>
          </p:spPr>
        </p:sp>
        <p:sp>
          <p:nvSpPr>
            <p:cNvPr id="122" name="Google Shape;122;p3"/>
            <p:cNvSpPr txBox="1"/>
            <p:nvPr/>
          </p:nvSpPr>
          <p:spPr>
            <a:xfrm>
              <a:off x="0" y="-47625"/>
              <a:ext cx="128975" cy="434627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23" name="Google Shape;123;p3"/>
          <p:cNvSpPr txBox="1"/>
          <p:nvPr/>
        </p:nvSpPr>
        <p:spPr>
          <a:xfrm>
            <a:off x="0" y="1337825"/>
            <a:ext cx="15795600" cy="5746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424939" lvl="1" marL="1030472" marR="0" rtl="0" algn="l">
              <a:lnSpc>
                <a:spcPct val="105008"/>
              </a:lnSpc>
              <a:spcBef>
                <a:spcPts val="0"/>
              </a:spcBef>
              <a:spcAft>
                <a:spcPts val="0"/>
              </a:spcAft>
              <a:buClr>
                <a:srgbClr val="00BF63"/>
              </a:buClr>
              <a:buSzPts val="3350"/>
              <a:buFont typeface="Arial"/>
              <a:buChar char="•"/>
            </a:pPr>
            <a:r>
              <a:rPr b="1" i="0" lang="en-US" sz="3350" u="none" cap="none" strike="noStrike">
                <a:solidFill>
                  <a:srgbClr val="00BF63"/>
                </a:solidFill>
                <a:latin typeface="Raleway"/>
                <a:ea typeface="Raleway"/>
                <a:cs typeface="Raleway"/>
                <a:sym typeface="Raleway"/>
              </a:rPr>
              <a:t>A mochila oferece um monitoramento de peso em tempo real, fornecendo informações essenciais para que você possa cuidar da sua saúde e conforto, evitando os riscos associados ao transporte de peso excessivo.</a:t>
            </a:r>
            <a:endParaRPr b="1" i="0" sz="3350" u="none" cap="none" strike="noStrike">
              <a:solidFill>
                <a:srgbClr val="00BF63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0" lvl="0" marL="914400" marR="0" rtl="0" algn="l">
              <a:lnSpc>
                <a:spcPct val="105008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350"/>
              <a:buFont typeface="Arial"/>
              <a:buNone/>
            </a:pPr>
            <a:r>
              <a:t/>
            </a:r>
            <a:endParaRPr b="1" i="0" sz="3350" u="none" cap="none" strike="noStrike">
              <a:solidFill>
                <a:srgbClr val="00BF63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-424939" lvl="1" marL="1030472" marR="0" rtl="0" algn="l">
              <a:lnSpc>
                <a:spcPct val="105008"/>
              </a:lnSpc>
              <a:spcBef>
                <a:spcPts val="0"/>
              </a:spcBef>
              <a:spcAft>
                <a:spcPts val="0"/>
              </a:spcAft>
              <a:buClr>
                <a:srgbClr val="00BF63"/>
              </a:buClr>
              <a:buSzPts val="3350"/>
              <a:buFont typeface="Arial"/>
              <a:buChar char="•"/>
            </a:pPr>
            <a:r>
              <a:rPr b="1" i="0" lang="en-US" sz="3350" u="none" cap="none" strike="noStrike">
                <a:solidFill>
                  <a:srgbClr val="00BF63"/>
                </a:solidFill>
                <a:latin typeface="Raleway"/>
                <a:ea typeface="Raleway"/>
                <a:cs typeface="Raleway"/>
                <a:sym typeface="Raleway"/>
              </a:rPr>
              <a:t>Com a nossa Mochila Inteligente, você não precisa mais adivinhar se está carregando peso demais. A tecnologia faz o trabalho por você, lhe apresentando o peso transportado e gerando alertas quando esse limite é ultrapassado.</a:t>
            </a:r>
            <a:endParaRPr b="0" i="0" sz="3350" u="none" cap="none" strike="noStrike">
              <a:solidFill>
                <a:srgbClr val="00BF6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5008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672"/>
              <a:buFont typeface="Arial"/>
              <a:buNone/>
            </a:pPr>
            <a:r>
              <a:t/>
            </a:r>
            <a:endParaRPr b="1" i="0" sz="5672" u="none" cap="none" strike="noStrike">
              <a:solidFill>
                <a:srgbClr val="7ED957"/>
              </a:solidFill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124" name="Google Shape;124;p3"/>
          <p:cNvSpPr/>
          <p:nvPr/>
        </p:nvSpPr>
        <p:spPr>
          <a:xfrm>
            <a:off x="1005800" y="6500100"/>
            <a:ext cx="6880401" cy="3634929"/>
          </a:xfrm>
          <a:custGeom>
            <a:rect b="b" l="l" r="r" t="t"/>
            <a:pathLst>
              <a:path extrusionOk="0" h="4945481" w="7418222">
                <a:moveTo>
                  <a:pt x="0" y="0"/>
                </a:moveTo>
                <a:lnTo>
                  <a:pt x="7418222" y="0"/>
                </a:lnTo>
                <a:lnTo>
                  <a:pt x="7418222" y="4945481"/>
                </a:lnTo>
                <a:lnTo>
                  <a:pt x="0" y="494548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125" name="Google Shape;125;p3"/>
          <p:cNvSpPr txBox="1"/>
          <p:nvPr/>
        </p:nvSpPr>
        <p:spPr>
          <a:xfrm>
            <a:off x="3572769" y="189000"/>
            <a:ext cx="12097500" cy="839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5004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456"/>
              <a:buFont typeface="Arial"/>
              <a:buNone/>
            </a:pPr>
            <a:r>
              <a:rPr b="1" i="0" lang="en-US" sz="5456" u="none" cap="none" strike="noStrike">
                <a:solidFill>
                  <a:srgbClr val="7ED957"/>
                </a:solidFill>
                <a:latin typeface="Proxima Nova"/>
                <a:ea typeface="Proxima Nova"/>
                <a:cs typeface="Proxima Nova"/>
                <a:sym typeface="Proxima Nova"/>
              </a:rPr>
              <a:t>SOLUÇÃO: A MOCHILA INTELIGENTE</a:t>
            </a:r>
            <a:endParaRPr b="0" i="0" sz="2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6" name="Google Shape;126;p3"/>
          <p:cNvPicPr preferRelativeResize="0"/>
          <p:nvPr/>
        </p:nvPicPr>
        <p:blipFill rotWithShape="1">
          <a:blip r:embed="rId5">
            <a:alphaModFix/>
          </a:blip>
          <a:srcRect b="11260" l="19519" r="19501" t="9775"/>
          <a:stretch/>
        </p:blipFill>
        <p:spPr>
          <a:xfrm>
            <a:off x="16461200" y="198575"/>
            <a:ext cx="1532649" cy="19846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4"/>
          <p:cNvSpPr/>
          <p:nvPr/>
        </p:nvSpPr>
        <p:spPr>
          <a:xfrm>
            <a:off x="12146976" y="2898143"/>
            <a:ext cx="11873584" cy="7858154"/>
          </a:xfrm>
          <a:custGeom>
            <a:rect b="b" l="l" r="r" t="t"/>
            <a:pathLst>
              <a:path extrusionOk="0" h="7858154" w="11873584">
                <a:moveTo>
                  <a:pt x="0" y="0"/>
                </a:moveTo>
                <a:lnTo>
                  <a:pt x="11873583" y="0"/>
                </a:lnTo>
                <a:lnTo>
                  <a:pt x="11873583" y="7858154"/>
                </a:lnTo>
                <a:lnTo>
                  <a:pt x="0" y="785815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grpSp>
        <p:nvGrpSpPr>
          <p:cNvPr id="132" name="Google Shape;132;p4"/>
          <p:cNvGrpSpPr/>
          <p:nvPr/>
        </p:nvGrpSpPr>
        <p:grpSpPr>
          <a:xfrm>
            <a:off x="1005790" y="-915527"/>
            <a:ext cx="1660787" cy="1650235"/>
            <a:chOff x="0" y="-47625"/>
            <a:chExt cx="437406" cy="434627"/>
          </a:xfrm>
        </p:grpSpPr>
        <p:sp>
          <p:nvSpPr>
            <p:cNvPr id="133" name="Google Shape;133;p4"/>
            <p:cNvSpPr/>
            <p:nvPr/>
          </p:nvSpPr>
          <p:spPr>
            <a:xfrm>
              <a:off x="0" y="0"/>
              <a:ext cx="437406" cy="387002"/>
            </a:xfrm>
            <a:custGeom>
              <a:rect b="b" l="l" r="r" t="t"/>
              <a:pathLst>
                <a:path extrusionOk="0" h="387002" w="437406">
                  <a:moveTo>
                    <a:pt x="0" y="0"/>
                  </a:moveTo>
                  <a:lnTo>
                    <a:pt x="437406" y="0"/>
                  </a:lnTo>
                  <a:lnTo>
                    <a:pt x="437406" y="387002"/>
                  </a:lnTo>
                  <a:lnTo>
                    <a:pt x="0" y="387002"/>
                  </a:lnTo>
                  <a:close/>
                </a:path>
              </a:pathLst>
            </a:custGeom>
            <a:solidFill>
              <a:srgbClr val="7ED957"/>
            </a:solidFill>
            <a:ln>
              <a:noFill/>
            </a:ln>
          </p:spPr>
        </p:sp>
        <p:sp>
          <p:nvSpPr>
            <p:cNvPr id="134" name="Google Shape;134;p4"/>
            <p:cNvSpPr txBox="1"/>
            <p:nvPr/>
          </p:nvSpPr>
          <p:spPr>
            <a:xfrm>
              <a:off x="0" y="-47625"/>
              <a:ext cx="437406" cy="434627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35" name="Google Shape;135;p4"/>
          <p:cNvGrpSpPr/>
          <p:nvPr/>
        </p:nvGrpSpPr>
        <p:grpSpPr>
          <a:xfrm>
            <a:off x="2751109" y="-915527"/>
            <a:ext cx="489705" cy="1650235"/>
            <a:chOff x="0" y="-47625"/>
            <a:chExt cx="128975" cy="434627"/>
          </a:xfrm>
        </p:grpSpPr>
        <p:sp>
          <p:nvSpPr>
            <p:cNvPr id="136" name="Google Shape;136;p4"/>
            <p:cNvSpPr/>
            <p:nvPr/>
          </p:nvSpPr>
          <p:spPr>
            <a:xfrm>
              <a:off x="0" y="0"/>
              <a:ext cx="128975" cy="387002"/>
            </a:xfrm>
            <a:custGeom>
              <a:rect b="b" l="l" r="r" t="t"/>
              <a:pathLst>
                <a:path extrusionOk="0" h="387002" w="128975">
                  <a:moveTo>
                    <a:pt x="0" y="0"/>
                  </a:moveTo>
                  <a:lnTo>
                    <a:pt x="128975" y="0"/>
                  </a:lnTo>
                  <a:lnTo>
                    <a:pt x="128975" y="387002"/>
                  </a:lnTo>
                  <a:lnTo>
                    <a:pt x="0" y="387002"/>
                  </a:lnTo>
                  <a:close/>
                </a:path>
              </a:pathLst>
            </a:custGeom>
            <a:solidFill>
              <a:srgbClr val="00BF63"/>
            </a:solidFill>
            <a:ln>
              <a:noFill/>
            </a:ln>
          </p:spPr>
        </p:sp>
        <p:sp>
          <p:nvSpPr>
            <p:cNvPr id="137" name="Google Shape;137;p4"/>
            <p:cNvSpPr txBox="1"/>
            <p:nvPr/>
          </p:nvSpPr>
          <p:spPr>
            <a:xfrm>
              <a:off x="0" y="-47625"/>
              <a:ext cx="128975" cy="434627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38" name="Google Shape;138;p4"/>
          <p:cNvSpPr/>
          <p:nvPr/>
        </p:nvSpPr>
        <p:spPr>
          <a:xfrm>
            <a:off x="1595597" y="5012670"/>
            <a:ext cx="7466764" cy="4977842"/>
          </a:xfrm>
          <a:custGeom>
            <a:rect b="b" l="l" r="r" t="t"/>
            <a:pathLst>
              <a:path extrusionOk="0" h="4977842" w="7466764">
                <a:moveTo>
                  <a:pt x="0" y="0"/>
                </a:moveTo>
                <a:lnTo>
                  <a:pt x="7466763" y="0"/>
                </a:lnTo>
                <a:lnTo>
                  <a:pt x="7466763" y="4977842"/>
                </a:lnTo>
                <a:lnTo>
                  <a:pt x="0" y="497784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139" name="Google Shape;139;p4"/>
          <p:cNvSpPr txBox="1"/>
          <p:nvPr/>
        </p:nvSpPr>
        <p:spPr>
          <a:xfrm>
            <a:off x="2791766" y="3406660"/>
            <a:ext cx="12852300" cy="5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501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349"/>
              <a:buFont typeface="Arial"/>
              <a:buNone/>
            </a:pPr>
            <a:r>
              <a:rPr b="1" i="0" lang="en-US" sz="3349" u="none" cap="none" strike="noStrike">
                <a:solidFill>
                  <a:srgbClr val="7ED957"/>
                </a:solidFill>
                <a:latin typeface="Raleway"/>
                <a:ea typeface="Raleway"/>
                <a:cs typeface="Raleway"/>
                <a:sym typeface="Raleway"/>
              </a:rPr>
              <a:t>SENSORES DE PESO → MICROCONTROLADOR IOT → API → BD</a:t>
            </a:r>
            <a:endParaRPr b="0" i="0" sz="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0" name="Google Shape;140;p4"/>
          <p:cNvSpPr txBox="1"/>
          <p:nvPr/>
        </p:nvSpPr>
        <p:spPr>
          <a:xfrm>
            <a:off x="3618156" y="-127000"/>
            <a:ext cx="5907000" cy="182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4997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867"/>
              <a:buFont typeface="Arial"/>
              <a:buNone/>
            </a:pPr>
            <a:r>
              <a:rPr b="1" i="0" lang="en-US" sz="11867" u="none" cap="none" strike="noStrike">
                <a:solidFill>
                  <a:srgbClr val="7ED957"/>
                </a:solidFill>
                <a:latin typeface="Proxima Nova Extrabold"/>
                <a:ea typeface="Proxima Nova Extrabold"/>
                <a:cs typeface="Proxima Nova Extrabold"/>
                <a:sym typeface="Proxima Nova Extrabold"/>
              </a:rPr>
              <a:t>COMO </a:t>
            </a:r>
            <a:endParaRPr b="0" i="0" sz="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1" name="Google Shape;141;p4"/>
          <p:cNvSpPr txBox="1"/>
          <p:nvPr/>
        </p:nvSpPr>
        <p:spPr>
          <a:xfrm>
            <a:off x="5935312" y="1333905"/>
            <a:ext cx="10876800" cy="185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4997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67"/>
              <a:buFont typeface="Arial"/>
              <a:buNone/>
            </a:pPr>
            <a:r>
              <a:rPr b="1" i="0" lang="en-US" sz="12067" u="none" cap="none" strike="noStrike">
                <a:solidFill>
                  <a:srgbClr val="7ED957"/>
                </a:solidFill>
                <a:latin typeface="Proxima Nova"/>
                <a:ea typeface="Proxima Nova"/>
                <a:cs typeface="Proxima Nova"/>
                <a:sym typeface="Proxima Nova"/>
              </a:rPr>
              <a:t>FUNCIONA?</a:t>
            </a:r>
            <a:endParaRPr b="0" i="0" sz="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2" name="Google Shape;142;p4"/>
          <p:cNvSpPr txBox="1"/>
          <p:nvPr/>
        </p:nvSpPr>
        <p:spPr>
          <a:xfrm>
            <a:off x="3618150" y="4137500"/>
            <a:ext cx="4395300" cy="5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501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349"/>
              <a:buFont typeface="Arial"/>
              <a:buNone/>
            </a:pPr>
            <a:r>
              <a:rPr b="1" i="0" lang="en-US" sz="3349" u="none" cap="none" strike="noStrike">
                <a:solidFill>
                  <a:srgbClr val="7ED957"/>
                </a:solidFill>
                <a:latin typeface="Raleway"/>
                <a:ea typeface="Raleway"/>
                <a:cs typeface="Raleway"/>
                <a:sym typeface="Raleway"/>
              </a:rPr>
              <a:t>BD → API → MOBILE</a:t>
            </a:r>
            <a:endParaRPr b="0" i="0" sz="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3" name="Google Shape;143;p4"/>
          <p:cNvSpPr txBox="1"/>
          <p:nvPr/>
        </p:nvSpPr>
        <p:spPr>
          <a:xfrm>
            <a:off x="9871425" y="4137500"/>
            <a:ext cx="4395300" cy="5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501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349"/>
              <a:buFont typeface="Arial"/>
              <a:buNone/>
            </a:pPr>
            <a:r>
              <a:rPr b="1" i="0" lang="en-US" sz="3349" u="none" cap="none" strike="noStrike">
                <a:solidFill>
                  <a:srgbClr val="7ED957"/>
                </a:solidFill>
                <a:latin typeface="Raleway"/>
                <a:ea typeface="Raleway"/>
                <a:cs typeface="Raleway"/>
                <a:sym typeface="Raleway"/>
              </a:rPr>
              <a:t>BD → API → SITE</a:t>
            </a:r>
            <a:endParaRPr b="0" i="0" sz="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44" name="Google Shape;144;p4"/>
          <p:cNvPicPr preferRelativeResize="0"/>
          <p:nvPr/>
        </p:nvPicPr>
        <p:blipFill rotWithShape="1">
          <a:blip r:embed="rId5">
            <a:alphaModFix/>
          </a:blip>
          <a:srcRect b="11260" l="19519" r="19501" t="9775"/>
          <a:stretch/>
        </p:blipFill>
        <p:spPr>
          <a:xfrm>
            <a:off x="16461200" y="198575"/>
            <a:ext cx="1532649" cy="19846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9" name="Google Shape;149;p5"/>
          <p:cNvGrpSpPr/>
          <p:nvPr/>
        </p:nvGrpSpPr>
        <p:grpSpPr>
          <a:xfrm>
            <a:off x="1669654" y="-915526"/>
            <a:ext cx="1660777" cy="1650226"/>
            <a:chOff x="0" y="-47625"/>
            <a:chExt cx="437406" cy="434627"/>
          </a:xfrm>
        </p:grpSpPr>
        <p:sp>
          <p:nvSpPr>
            <p:cNvPr id="150" name="Google Shape;150;p5"/>
            <p:cNvSpPr/>
            <p:nvPr/>
          </p:nvSpPr>
          <p:spPr>
            <a:xfrm>
              <a:off x="0" y="0"/>
              <a:ext cx="437406" cy="387002"/>
            </a:xfrm>
            <a:custGeom>
              <a:rect b="b" l="l" r="r" t="t"/>
              <a:pathLst>
                <a:path extrusionOk="0" h="387002" w="437406">
                  <a:moveTo>
                    <a:pt x="0" y="0"/>
                  </a:moveTo>
                  <a:lnTo>
                    <a:pt x="437406" y="0"/>
                  </a:lnTo>
                  <a:lnTo>
                    <a:pt x="437406" y="387002"/>
                  </a:lnTo>
                  <a:lnTo>
                    <a:pt x="0" y="387002"/>
                  </a:lnTo>
                  <a:close/>
                </a:path>
              </a:pathLst>
            </a:custGeom>
            <a:solidFill>
              <a:srgbClr val="7ED957"/>
            </a:solidFill>
            <a:ln>
              <a:noFill/>
            </a:ln>
          </p:spPr>
        </p:sp>
        <p:sp>
          <p:nvSpPr>
            <p:cNvPr id="151" name="Google Shape;151;p5"/>
            <p:cNvSpPr txBox="1"/>
            <p:nvPr/>
          </p:nvSpPr>
          <p:spPr>
            <a:xfrm>
              <a:off x="0" y="-47625"/>
              <a:ext cx="437406" cy="434627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52" name="Google Shape;152;p5"/>
          <p:cNvGrpSpPr/>
          <p:nvPr/>
        </p:nvGrpSpPr>
        <p:grpSpPr>
          <a:xfrm>
            <a:off x="3414973" y="-915526"/>
            <a:ext cx="489701" cy="1650226"/>
            <a:chOff x="0" y="-47625"/>
            <a:chExt cx="128975" cy="434627"/>
          </a:xfrm>
        </p:grpSpPr>
        <p:sp>
          <p:nvSpPr>
            <p:cNvPr id="153" name="Google Shape;153;p5"/>
            <p:cNvSpPr/>
            <p:nvPr/>
          </p:nvSpPr>
          <p:spPr>
            <a:xfrm>
              <a:off x="0" y="0"/>
              <a:ext cx="128975" cy="387002"/>
            </a:xfrm>
            <a:custGeom>
              <a:rect b="b" l="l" r="r" t="t"/>
              <a:pathLst>
                <a:path extrusionOk="0" h="387002" w="128975">
                  <a:moveTo>
                    <a:pt x="0" y="0"/>
                  </a:moveTo>
                  <a:lnTo>
                    <a:pt x="128975" y="0"/>
                  </a:lnTo>
                  <a:lnTo>
                    <a:pt x="128975" y="387002"/>
                  </a:lnTo>
                  <a:lnTo>
                    <a:pt x="0" y="387002"/>
                  </a:lnTo>
                  <a:close/>
                </a:path>
              </a:pathLst>
            </a:custGeom>
            <a:solidFill>
              <a:srgbClr val="00BF63"/>
            </a:solidFill>
            <a:ln>
              <a:noFill/>
            </a:ln>
          </p:spPr>
        </p:sp>
        <p:sp>
          <p:nvSpPr>
            <p:cNvPr id="154" name="Google Shape;154;p5"/>
            <p:cNvSpPr txBox="1"/>
            <p:nvPr/>
          </p:nvSpPr>
          <p:spPr>
            <a:xfrm>
              <a:off x="0" y="-47625"/>
              <a:ext cx="128975" cy="434627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55" name="Google Shape;155;p5"/>
          <p:cNvSpPr txBox="1"/>
          <p:nvPr/>
        </p:nvSpPr>
        <p:spPr>
          <a:xfrm>
            <a:off x="375200" y="1730375"/>
            <a:ext cx="15627000" cy="61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463736" lvl="1" marL="1067176" marR="0" rtl="0" algn="l">
              <a:lnSpc>
                <a:spcPct val="105018"/>
              </a:lnSpc>
              <a:spcBef>
                <a:spcPts val="0"/>
              </a:spcBef>
              <a:spcAft>
                <a:spcPts val="0"/>
              </a:spcAft>
              <a:buClr>
                <a:srgbClr val="00BF63"/>
              </a:buClr>
              <a:buSzPts val="3842"/>
              <a:buFont typeface="Arial"/>
              <a:buChar char="•"/>
            </a:pPr>
            <a:r>
              <a:rPr b="1" i="0" lang="en-US" sz="3841" u="none" cap="none" strike="noStrike">
                <a:solidFill>
                  <a:srgbClr val="00BF63"/>
                </a:solidFill>
                <a:latin typeface="Raleway"/>
                <a:ea typeface="Raleway"/>
                <a:cs typeface="Raleway"/>
                <a:sym typeface="Raleway"/>
              </a:rPr>
              <a:t>ANÁLISE DE PESO TRANSPORTADO EM TEMPO REAL</a:t>
            </a:r>
            <a:endParaRPr b="1" sz="3841">
              <a:solidFill>
                <a:srgbClr val="00BF63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0" lvl="0" marL="914400" marR="0" rtl="0" algn="l">
              <a:lnSpc>
                <a:spcPct val="10501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3841">
              <a:solidFill>
                <a:srgbClr val="00BF63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-463736" lvl="1" marL="1067176" marR="0" rtl="0" algn="l">
              <a:lnSpc>
                <a:spcPct val="105018"/>
              </a:lnSpc>
              <a:spcBef>
                <a:spcPts val="0"/>
              </a:spcBef>
              <a:spcAft>
                <a:spcPts val="0"/>
              </a:spcAft>
              <a:buClr>
                <a:srgbClr val="00BF63"/>
              </a:buClr>
              <a:buSzPts val="3842"/>
              <a:buFont typeface="Arial"/>
              <a:buChar char="•"/>
            </a:pPr>
            <a:r>
              <a:rPr b="1" i="0" lang="en-US" sz="3841" u="none" cap="none" strike="noStrike">
                <a:solidFill>
                  <a:srgbClr val="00BF63"/>
                </a:solidFill>
                <a:latin typeface="Raleway"/>
                <a:ea typeface="Raleway"/>
                <a:cs typeface="Raleway"/>
                <a:sym typeface="Raleway"/>
              </a:rPr>
              <a:t>PERSONALIZAÇÃO DO LIMITE DO USUÁRIO (10%)</a:t>
            </a:r>
            <a:endParaRPr b="1" i="0" sz="3841" u="none" cap="none" strike="noStrike">
              <a:solidFill>
                <a:srgbClr val="00BF63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0" lvl="0" marL="914400" marR="0" rtl="0" algn="l">
              <a:lnSpc>
                <a:spcPct val="105018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1"/>
              <a:buFont typeface="Arial"/>
              <a:buNone/>
            </a:pPr>
            <a:r>
              <a:t/>
            </a:r>
            <a:endParaRPr b="1" i="0" sz="3841" u="none" cap="none" strike="noStrike">
              <a:solidFill>
                <a:srgbClr val="00BF63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-463737" lvl="1" marL="1067176" marR="0" rtl="0" algn="l">
              <a:lnSpc>
                <a:spcPct val="105018"/>
              </a:lnSpc>
              <a:spcBef>
                <a:spcPts val="0"/>
              </a:spcBef>
              <a:spcAft>
                <a:spcPts val="0"/>
              </a:spcAft>
              <a:buClr>
                <a:srgbClr val="00BF63"/>
              </a:buClr>
              <a:buSzPts val="3842"/>
              <a:buFont typeface="Arial"/>
              <a:buChar char="•"/>
            </a:pPr>
            <a:r>
              <a:rPr b="1" i="0" lang="en-US" sz="3841" u="none" cap="none" strike="noStrike">
                <a:solidFill>
                  <a:srgbClr val="00BF63"/>
                </a:solidFill>
                <a:latin typeface="Raleway"/>
                <a:ea typeface="Raleway"/>
                <a:cs typeface="Raleway"/>
                <a:sym typeface="Raleway"/>
              </a:rPr>
              <a:t>ALERTAS QUANDO O LIMITE É ULTRAPASSADO (MOCHILA OU USUÁRIO)</a:t>
            </a:r>
            <a:endParaRPr b="1" i="0" sz="3841" u="none" cap="none" strike="noStrike">
              <a:solidFill>
                <a:srgbClr val="00BF63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0" lvl="0" marL="914400" marR="0" rtl="0" algn="l">
              <a:lnSpc>
                <a:spcPct val="105018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1"/>
              <a:buFont typeface="Arial"/>
              <a:buNone/>
            </a:pPr>
            <a:r>
              <a:t/>
            </a:r>
            <a:endParaRPr b="1" i="0" sz="3841" u="none" cap="none" strike="noStrike">
              <a:solidFill>
                <a:srgbClr val="00BF63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-463736" lvl="1" marL="1067176" marR="0" rtl="0" algn="l">
              <a:lnSpc>
                <a:spcPct val="105018"/>
              </a:lnSpc>
              <a:spcBef>
                <a:spcPts val="0"/>
              </a:spcBef>
              <a:spcAft>
                <a:spcPts val="0"/>
              </a:spcAft>
              <a:buClr>
                <a:srgbClr val="00BF63"/>
              </a:buClr>
              <a:buSzPts val="3842"/>
              <a:buFont typeface="Arial"/>
              <a:buChar char="•"/>
            </a:pPr>
            <a:r>
              <a:rPr b="1" i="0" lang="en-US" sz="3841" u="none" cap="none" strike="noStrike">
                <a:solidFill>
                  <a:srgbClr val="00BF63"/>
                </a:solidFill>
                <a:latin typeface="Raleway"/>
                <a:ea typeface="Raleway"/>
                <a:cs typeface="Raleway"/>
                <a:sym typeface="Raleway"/>
              </a:rPr>
              <a:t>REALATÓRIOS  DE USO (DIÁRIO, SEMANAL, MENSAL E ANUAL)</a:t>
            </a:r>
            <a:endParaRPr b="1" i="0" sz="3841" u="none" cap="none" strike="noStrike">
              <a:solidFill>
                <a:srgbClr val="00BF63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0" lvl="0" marL="914400" marR="0" rtl="0" algn="l">
              <a:lnSpc>
                <a:spcPct val="10501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3841">
              <a:solidFill>
                <a:srgbClr val="00BF63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-463736" lvl="1" marL="1067176" marR="0" rtl="0" algn="l">
              <a:lnSpc>
                <a:spcPct val="105018"/>
              </a:lnSpc>
              <a:spcBef>
                <a:spcPts val="0"/>
              </a:spcBef>
              <a:spcAft>
                <a:spcPts val="0"/>
              </a:spcAft>
              <a:buClr>
                <a:srgbClr val="00BF63"/>
              </a:buClr>
              <a:buSzPts val="3842"/>
              <a:buFont typeface="Arial"/>
              <a:buChar char="•"/>
            </a:pPr>
            <a:r>
              <a:rPr b="1" lang="en-US" sz="3841">
                <a:solidFill>
                  <a:srgbClr val="00BF63"/>
                </a:solidFill>
                <a:latin typeface="Raleway"/>
                <a:ea typeface="Raleway"/>
                <a:cs typeface="Raleway"/>
                <a:sym typeface="Raleway"/>
              </a:rPr>
              <a:t>GERAR ESTATÍSTICA DE PREVISÃO DIÁRIA</a:t>
            </a:r>
            <a:endParaRPr b="1" i="0" sz="4442" u="none" cap="none" strike="noStrike">
              <a:solidFill>
                <a:srgbClr val="7ED957"/>
              </a:solidFill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156" name="Google Shape;156;p5"/>
          <p:cNvSpPr txBox="1"/>
          <p:nvPr/>
        </p:nvSpPr>
        <p:spPr>
          <a:xfrm>
            <a:off x="6198173" y="360145"/>
            <a:ext cx="6936300" cy="870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5004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656"/>
              <a:buFont typeface="Arial"/>
              <a:buNone/>
            </a:pPr>
            <a:r>
              <a:rPr b="1" i="0" lang="en-US" sz="5656" u="none" cap="none" strike="noStrike">
                <a:solidFill>
                  <a:srgbClr val="7ED957"/>
                </a:solidFill>
                <a:latin typeface="Proxima Nova"/>
                <a:ea typeface="Proxima Nova"/>
                <a:cs typeface="Proxima Nova"/>
                <a:sym typeface="Proxima Nova"/>
              </a:rPr>
              <a:t>FUNCIONALIDADES</a:t>
            </a:r>
            <a:endParaRPr b="0" i="0" sz="2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57" name="Google Shape;157;p5"/>
          <p:cNvPicPr preferRelativeResize="0"/>
          <p:nvPr/>
        </p:nvPicPr>
        <p:blipFill rotWithShape="1">
          <a:blip r:embed="rId3">
            <a:alphaModFix/>
          </a:blip>
          <a:srcRect b="10792" l="9642" r="5473" t="18525"/>
          <a:stretch/>
        </p:blipFill>
        <p:spPr>
          <a:xfrm>
            <a:off x="13363633" y="7162675"/>
            <a:ext cx="4720150" cy="3124325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5"/>
          <p:cNvSpPr/>
          <p:nvPr/>
        </p:nvSpPr>
        <p:spPr>
          <a:xfrm rot="3968610">
            <a:off x="-1830977" y="8238733"/>
            <a:ext cx="8146719" cy="5040640"/>
          </a:xfrm>
          <a:custGeom>
            <a:rect b="b" l="l" r="r" t="t"/>
            <a:pathLst>
              <a:path extrusionOk="0" h="7858154" w="11873584">
                <a:moveTo>
                  <a:pt x="0" y="0"/>
                </a:moveTo>
                <a:lnTo>
                  <a:pt x="11873583" y="0"/>
                </a:lnTo>
                <a:lnTo>
                  <a:pt x="11873583" y="7858154"/>
                </a:lnTo>
                <a:lnTo>
                  <a:pt x="0" y="785815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pic>
        <p:nvPicPr>
          <p:cNvPr id="159" name="Google Shape;159;p5"/>
          <p:cNvPicPr preferRelativeResize="0"/>
          <p:nvPr/>
        </p:nvPicPr>
        <p:blipFill rotWithShape="1">
          <a:blip r:embed="rId5">
            <a:alphaModFix/>
          </a:blip>
          <a:srcRect b="11260" l="19519" r="19501" t="9775"/>
          <a:stretch/>
        </p:blipFill>
        <p:spPr>
          <a:xfrm>
            <a:off x="16461200" y="198575"/>
            <a:ext cx="1532649" cy="19846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6"/>
          <p:cNvSpPr/>
          <p:nvPr/>
        </p:nvSpPr>
        <p:spPr>
          <a:xfrm>
            <a:off x="11322508" y="2936219"/>
            <a:ext cx="11873584" cy="7858154"/>
          </a:xfrm>
          <a:custGeom>
            <a:rect b="b" l="l" r="r" t="t"/>
            <a:pathLst>
              <a:path extrusionOk="0" h="7858154" w="11873584">
                <a:moveTo>
                  <a:pt x="0" y="0"/>
                </a:moveTo>
                <a:lnTo>
                  <a:pt x="11873584" y="0"/>
                </a:lnTo>
                <a:lnTo>
                  <a:pt x="11873584" y="7858154"/>
                </a:lnTo>
                <a:lnTo>
                  <a:pt x="0" y="785815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grpSp>
        <p:nvGrpSpPr>
          <p:cNvPr id="165" name="Google Shape;165;p6"/>
          <p:cNvGrpSpPr/>
          <p:nvPr/>
        </p:nvGrpSpPr>
        <p:grpSpPr>
          <a:xfrm>
            <a:off x="1669654" y="-915526"/>
            <a:ext cx="1660777" cy="1650226"/>
            <a:chOff x="0" y="-47625"/>
            <a:chExt cx="437406" cy="434627"/>
          </a:xfrm>
        </p:grpSpPr>
        <p:sp>
          <p:nvSpPr>
            <p:cNvPr id="166" name="Google Shape;166;p6"/>
            <p:cNvSpPr/>
            <p:nvPr/>
          </p:nvSpPr>
          <p:spPr>
            <a:xfrm>
              <a:off x="0" y="0"/>
              <a:ext cx="437406" cy="387002"/>
            </a:xfrm>
            <a:custGeom>
              <a:rect b="b" l="l" r="r" t="t"/>
              <a:pathLst>
                <a:path extrusionOk="0" h="387002" w="437406">
                  <a:moveTo>
                    <a:pt x="0" y="0"/>
                  </a:moveTo>
                  <a:lnTo>
                    <a:pt x="437406" y="0"/>
                  </a:lnTo>
                  <a:lnTo>
                    <a:pt x="437406" y="387002"/>
                  </a:lnTo>
                  <a:lnTo>
                    <a:pt x="0" y="387002"/>
                  </a:lnTo>
                  <a:close/>
                </a:path>
              </a:pathLst>
            </a:custGeom>
            <a:solidFill>
              <a:srgbClr val="7ED957"/>
            </a:solidFill>
            <a:ln>
              <a:noFill/>
            </a:ln>
          </p:spPr>
        </p:sp>
        <p:sp>
          <p:nvSpPr>
            <p:cNvPr id="167" name="Google Shape;167;p6"/>
            <p:cNvSpPr txBox="1"/>
            <p:nvPr/>
          </p:nvSpPr>
          <p:spPr>
            <a:xfrm>
              <a:off x="0" y="-47625"/>
              <a:ext cx="437406" cy="434627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68" name="Google Shape;168;p6"/>
          <p:cNvGrpSpPr/>
          <p:nvPr/>
        </p:nvGrpSpPr>
        <p:grpSpPr>
          <a:xfrm>
            <a:off x="3414973" y="-915526"/>
            <a:ext cx="489701" cy="1650226"/>
            <a:chOff x="0" y="-47625"/>
            <a:chExt cx="128975" cy="434627"/>
          </a:xfrm>
        </p:grpSpPr>
        <p:sp>
          <p:nvSpPr>
            <p:cNvPr id="169" name="Google Shape;169;p6"/>
            <p:cNvSpPr/>
            <p:nvPr/>
          </p:nvSpPr>
          <p:spPr>
            <a:xfrm>
              <a:off x="0" y="0"/>
              <a:ext cx="128975" cy="387002"/>
            </a:xfrm>
            <a:custGeom>
              <a:rect b="b" l="l" r="r" t="t"/>
              <a:pathLst>
                <a:path extrusionOk="0" h="387002" w="128975">
                  <a:moveTo>
                    <a:pt x="0" y="0"/>
                  </a:moveTo>
                  <a:lnTo>
                    <a:pt x="128975" y="0"/>
                  </a:lnTo>
                  <a:lnTo>
                    <a:pt x="128975" y="387002"/>
                  </a:lnTo>
                  <a:lnTo>
                    <a:pt x="0" y="387002"/>
                  </a:lnTo>
                  <a:close/>
                </a:path>
              </a:pathLst>
            </a:custGeom>
            <a:solidFill>
              <a:srgbClr val="00BF63"/>
            </a:solidFill>
            <a:ln>
              <a:noFill/>
            </a:ln>
          </p:spPr>
        </p:sp>
        <p:sp>
          <p:nvSpPr>
            <p:cNvPr id="170" name="Google Shape;170;p6"/>
            <p:cNvSpPr txBox="1"/>
            <p:nvPr/>
          </p:nvSpPr>
          <p:spPr>
            <a:xfrm>
              <a:off x="0" y="-47625"/>
              <a:ext cx="128975" cy="434627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71" name="Google Shape;171;p6"/>
          <p:cNvSpPr txBox="1"/>
          <p:nvPr/>
        </p:nvSpPr>
        <p:spPr>
          <a:xfrm>
            <a:off x="346375" y="3124325"/>
            <a:ext cx="15850200" cy="1949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4997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667"/>
              <a:buFont typeface="Arial"/>
              <a:buNone/>
            </a:pPr>
            <a:r>
              <a:rPr b="1" i="0" lang="en-US" sz="12667" u="none" cap="none" strike="noStrike">
                <a:solidFill>
                  <a:srgbClr val="7ED957"/>
                </a:solidFill>
                <a:latin typeface="Proxima Nova"/>
                <a:ea typeface="Proxima Nova"/>
                <a:cs typeface="Proxima Nova"/>
                <a:sym typeface="Proxima Nova"/>
              </a:rPr>
              <a:t>DESENVOLVIMENTO</a:t>
            </a:r>
            <a:endParaRPr b="0" i="0" sz="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2" name="Google Shape;172;p6"/>
          <p:cNvSpPr txBox="1"/>
          <p:nvPr/>
        </p:nvSpPr>
        <p:spPr>
          <a:xfrm>
            <a:off x="1022000" y="5074025"/>
            <a:ext cx="14980200" cy="1318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4997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567"/>
              <a:buFont typeface="Arial"/>
              <a:buNone/>
            </a:pPr>
            <a:r>
              <a:rPr b="1" i="0" lang="en-US" sz="8567" u="none" cap="none" strike="noStrike">
                <a:solidFill>
                  <a:srgbClr val="7ED957"/>
                </a:solidFill>
                <a:latin typeface="Proxima Nova"/>
                <a:ea typeface="Proxima Nova"/>
                <a:cs typeface="Proxima Nova"/>
                <a:sym typeface="Proxima Nova"/>
              </a:rPr>
              <a:t>(TECNOLOGIAS UTILIZADAS)</a:t>
            </a:r>
            <a:endParaRPr b="0" i="0" sz="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73" name="Google Shape;173;p6"/>
          <p:cNvPicPr preferRelativeResize="0"/>
          <p:nvPr/>
        </p:nvPicPr>
        <p:blipFill rotWithShape="1">
          <a:blip r:embed="rId4">
            <a:alphaModFix/>
          </a:blip>
          <a:srcRect b="11260" l="19519" r="19501" t="9775"/>
          <a:stretch/>
        </p:blipFill>
        <p:spPr>
          <a:xfrm>
            <a:off x="16461200" y="198575"/>
            <a:ext cx="1532649" cy="19846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7"/>
          <p:cNvSpPr/>
          <p:nvPr/>
        </p:nvSpPr>
        <p:spPr>
          <a:xfrm>
            <a:off x="12560200" y="5323950"/>
            <a:ext cx="10537806" cy="5991842"/>
          </a:xfrm>
          <a:custGeom>
            <a:rect b="b" l="l" r="r" t="t"/>
            <a:pathLst>
              <a:path extrusionOk="0" h="7858154" w="11873584">
                <a:moveTo>
                  <a:pt x="0" y="0"/>
                </a:moveTo>
                <a:lnTo>
                  <a:pt x="11873584" y="0"/>
                </a:lnTo>
                <a:lnTo>
                  <a:pt x="11873584" y="7858154"/>
                </a:lnTo>
                <a:lnTo>
                  <a:pt x="0" y="785815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grpSp>
        <p:nvGrpSpPr>
          <p:cNvPr id="179" name="Google Shape;179;p7"/>
          <p:cNvGrpSpPr/>
          <p:nvPr/>
        </p:nvGrpSpPr>
        <p:grpSpPr>
          <a:xfrm>
            <a:off x="1669654" y="-915527"/>
            <a:ext cx="1660787" cy="1650512"/>
            <a:chOff x="0" y="-47625"/>
            <a:chExt cx="437406" cy="434700"/>
          </a:xfrm>
        </p:grpSpPr>
        <p:sp>
          <p:nvSpPr>
            <p:cNvPr id="180" name="Google Shape;180;p7"/>
            <p:cNvSpPr/>
            <p:nvPr/>
          </p:nvSpPr>
          <p:spPr>
            <a:xfrm>
              <a:off x="0" y="0"/>
              <a:ext cx="437406" cy="387002"/>
            </a:xfrm>
            <a:custGeom>
              <a:rect b="b" l="l" r="r" t="t"/>
              <a:pathLst>
                <a:path extrusionOk="0" h="387002" w="437406">
                  <a:moveTo>
                    <a:pt x="0" y="0"/>
                  </a:moveTo>
                  <a:lnTo>
                    <a:pt x="437406" y="0"/>
                  </a:lnTo>
                  <a:lnTo>
                    <a:pt x="437406" y="387002"/>
                  </a:lnTo>
                  <a:lnTo>
                    <a:pt x="0" y="387002"/>
                  </a:lnTo>
                  <a:close/>
                </a:path>
              </a:pathLst>
            </a:custGeom>
            <a:solidFill>
              <a:srgbClr val="7ED957"/>
            </a:solidFill>
            <a:ln>
              <a:noFill/>
            </a:ln>
          </p:spPr>
        </p:sp>
        <p:sp>
          <p:nvSpPr>
            <p:cNvPr id="181" name="Google Shape;181;p7"/>
            <p:cNvSpPr txBox="1"/>
            <p:nvPr/>
          </p:nvSpPr>
          <p:spPr>
            <a:xfrm>
              <a:off x="0" y="-47625"/>
              <a:ext cx="437400" cy="434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82" name="Google Shape;182;p7"/>
          <p:cNvGrpSpPr/>
          <p:nvPr/>
        </p:nvGrpSpPr>
        <p:grpSpPr>
          <a:xfrm>
            <a:off x="3414973" y="-915527"/>
            <a:ext cx="489800" cy="1650512"/>
            <a:chOff x="0" y="-47625"/>
            <a:chExt cx="129000" cy="434700"/>
          </a:xfrm>
        </p:grpSpPr>
        <p:sp>
          <p:nvSpPr>
            <p:cNvPr id="183" name="Google Shape;183;p7"/>
            <p:cNvSpPr/>
            <p:nvPr/>
          </p:nvSpPr>
          <p:spPr>
            <a:xfrm>
              <a:off x="0" y="0"/>
              <a:ext cx="128975" cy="387002"/>
            </a:xfrm>
            <a:custGeom>
              <a:rect b="b" l="l" r="r" t="t"/>
              <a:pathLst>
                <a:path extrusionOk="0" h="387002" w="128975">
                  <a:moveTo>
                    <a:pt x="0" y="0"/>
                  </a:moveTo>
                  <a:lnTo>
                    <a:pt x="128975" y="0"/>
                  </a:lnTo>
                  <a:lnTo>
                    <a:pt x="128975" y="387002"/>
                  </a:lnTo>
                  <a:lnTo>
                    <a:pt x="0" y="387002"/>
                  </a:lnTo>
                  <a:close/>
                </a:path>
              </a:pathLst>
            </a:custGeom>
            <a:solidFill>
              <a:srgbClr val="00BF63"/>
            </a:solidFill>
            <a:ln>
              <a:noFill/>
            </a:ln>
          </p:spPr>
        </p:sp>
        <p:sp>
          <p:nvSpPr>
            <p:cNvPr id="184" name="Google Shape;184;p7"/>
            <p:cNvSpPr txBox="1"/>
            <p:nvPr/>
          </p:nvSpPr>
          <p:spPr>
            <a:xfrm>
              <a:off x="0" y="-47625"/>
              <a:ext cx="129000" cy="434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85" name="Google Shape;185;p7"/>
          <p:cNvSpPr txBox="1"/>
          <p:nvPr/>
        </p:nvSpPr>
        <p:spPr>
          <a:xfrm>
            <a:off x="6497275" y="165975"/>
            <a:ext cx="6338100" cy="114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4997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467"/>
              <a:buFont typeface="Arial"/>
              <a:buNone/>
            </a:pPr>
            <a:r>
              <a:rPr b="1" i="0" lang="en-US" sz="7467" u="none" cap="none" strike="noStrike">
                <a:solidFill>
                  <a:srgbClr val="7ED957"/>
                </a:solidFill>
                <a:latin typeface="Proxima Nova"/>
                <a:ea typeface="Proxima Nova"/>
                <a:cs typeface="Proxima Nova"/>
                <a:sym typeface="Proxima Nova"/>
              </a:rPr>
              <a:t>VISÃO GERAL</a:t>
            </a:r>
            <a:endParaRPr b="0" i="0" sz="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6" name="Google Shape;186;p7"/>
          <p:cNvSpPr txBox="1"/>
          <p:nvPr/>
        </p:nvSpPr>
        <p:spPr>
          <a:xfrm>
            <a:off x="993300" y="2192200"/>
            <a:ext cx="15627000" cy="6893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463737" lvl="1" marL="1067176" marR="0" rtl="0" algn="l">
              <a:lnSpc>
                <a:spcPct val="105018"/>
              </a:lnSpc>
              <a:spcBef>
                <a:spcPts val="0"/>
              </a:spcBef>
              <a:spcAft>
                <a:spcPts val="0"/>
              </a:spcAft>
              <a:buClr>
                <a:srgbClr val="00BF63"/>
              </a:buClr>
              <a:buSzPts val="3842"/>
              <a:buFont typeface="Arial"/>
              <a:buChar char="•"/>
            </a:pPr>
            <a:r>
              <a:rPr b="1" i="0" lang="en-US" sz="3841" u="none" cap="none" strike="noStrike">
                <a:solidFill>
                  <a:srgbClr val="00BF63"/>
                </a:solidFill>
                <a:latin typeface="Raleway"/>
                <a:ea typeface="Raleway"/>
                <a:cs typeface="Raleway"/>
                <a:sym typeface="Raleway"/>
              </a:rPr>
              <a:t>BD</a:t>
            </a:r>
            <a:r>
              <a:rPr b="1" lang="en-US" sz="3841">
                <a:solidFill>
                  <a:srgbClr val="00BF63"/>
                </a:solidFill>
                <a:latin typeface="Raleway"/>
                <a:ea typeface="Raleway"/>
                <a:cs typeface="Raleway"/>
                <a:sym typeface="Raleway"/>
              </a:rPr>
              <a:t>R</a:t>
            </a:r>
            <a:r>
              <a:rPr b="1" i="0" lang="en-US" sz="3841" u="none" cap="none" strike="noStrike">
                <a:solidFill>
                  <a:srgbClr val="00BF63"/>
                </a:solidFill>
                <a:latin typeface="Raleway"/>
                <a:ea typeface="Raleway"/>
                <a:cs typeface="Raleway"/>
                <a:sym typeface="Raleway"/>
              </a:rPr>
              <a:t>: POSTGRES</a:t>
            </a:r>
            <a:r>
              <a:rPr b="1" lang="en-US" sz="3841">
                <a:solidFill>
                  <a:srgbClr val="00BF63"/>
                </a:solidFill>
                <a:latin typeface="Raleway"/>
                <a:ea typeface="Raleway"/>
                <a:cs typeface="Raleway"/>
                <a:sym typeface="Raleway"/>
              </a:rPr>
              <a:t>QL</a:t>
            </a:r>
            <a:endParaRPr b="1" i="0" sz="3841" u="none" cap="none" strike="noStrike">
              <a:solidFill>
                <a:srgbClr val="00BF63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0" lvl="0" marL="914400" marR="0" rtl="0" algn="l">
              <a:lnSpc>
                <a:spcPct val="105018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1"/>
              <a:buFont typeface="Arial"/>
              <a:buNone/>
            </a:pPr>
            <a:r>
              <a:t/>
            </a:r>
            <a:endParaRPr b="1" i="0" sz="3841" u="none" cap="none" strike="noStrike">
              <a:solidFill>
                <a:srgbClr val="00BF63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-463737" lvl="1" marL="1067176" marR="0" rtl="0" algn="l">
              <a:lnSpc>
                <a:spcPct val="105018"/>
              </a:lnSpc>
              <a:spcBef>
                <a:spcPts val="0"/>
              </a:spcBef>
              <a:spcAft>
                <a:spcPts val="0"/>
              </a:spcAft>
              <a:buClr>
                <a:srgbClr val="00BF63"/>
              </a:buClr>
              <a:buSzPts val="3842"/>
              <a:buFont typeface="Arial"/>
              <a:buChar char="•"/>
            </a:pPr>
            <a:r>
              <a:rPr b="1" i="0" lang="en-US" sz="3841" u="none" cap="none" strike="noStrike">
                <a:solidFill>
                  <a:srgbClr val="00BF63"/>
                </a:solidFill>
                <a:latin typeface="Raleway"/>
                <a:ea typeface="Raleway"/>
                <a:cs typeface="Raleway"/>
                <a:sym typeface="Raleway"/>
              </a:rPr>
              <a:t>API: NODE.JS</a:t>
            </a:r>
            <a:endParaRPr b="1" i="0" sz="3841" u="none" cap="none" strike="noStrike">
              <a:solidFill>
                <a:srgbClr val="00BF63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0" lvl="0" marL="914400" marR="0" rtl="0" algn="l">
              <a:lnSpc>
                <a:spcPct val="105018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1"/>
              <a:buFont typeface="Arial"/>
              <a:buNone/>
            </a:pPr>
            <a:r>
              <a:t/>
            </a:r>
            <a:endParaRPr b="1" i="0" sz="3841" u="none" cap="none" strike="noStrike">
              <a:solidFill>
                <a:srgbClr val="00BF63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-463736" lvl="1" marL="1067176" marR="0" rtl="0" algn="l">
              <a:lnSpc>
                <a:spcPct val="105018"/>
              </a:lnSpc>
              <a:spcBef>
                <a:spcPts val="0"/>
              </a:spcBef>
              <a:spcAft>
                <a:spcPts val="0"/>
              </a:spcAft>
              <a:buClr>
                <a:srgbClr val="00BF63"/>
              </a:buClr>
              <a:buSzPts val="3842"/>
              <a:buFont typeface="Arial"/>
              <a:buChar char="•"/>
            </a:pPr>
            <a:r>
              <a:rPr b="1" i="0" lang="en-US" sz="3841" u="none" cap="none" strike="noStrike">
                <a:solidFill>
                  <a:srgbClr val="00BF63"/>
                </a:solidFill>
                <a:latin typeface="Raleway"/>
                <a:ea typeface="Raleway"/>
                <a:cs typeface="Raleway"/>
                <a:sym typeface="Raleway"/>
              </a:rPr>
              <a:t>MOBILE: REACT</a:t>
            </a:r>
            <a:r>
              <a:rPr b="1" lang="en-US" sz="3841">
                <a:solidFill>
                  <a:srgbClr val="00BF63"/>
                </a:solidFill>
                <a:latin typeface="Raleway"/>
                <a:ea typeface="Raleway"/>
                <a:cs typeface="Raleway"/>
                <a:sym typeface="Raleway"/>
              </a:rPr>
              <a:t>-</a:t>
            </a:r>
            <a:r>
              <a:rPr b="1" i="0" lang="en-US" sz="3841" u="none" cap="none" strike="noStrike">
                <a:solidFill>
                  <a:srgbClr val="00BF63"/>
                </a:solidFill>
                <a:latin typeface="Raleway"/>
                <a:ea typeface="Raleway"/>
                <a:cs typeface="Raleway"/>
                <a:sym typeface="Raleway"/>
              </a:rPr>
              <a:t>NATIVE</a:t>
            </a:r>
            <a:endParaRPr b="1" sz="3841">
              <a:solidFill>
                <a:srgbClr val="00BF63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0" lvl="0" marL="914400" marR="0" rtl="0" algn="l">
              <a:lnSpc>
                <a:spcPct val="10501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3841">
              <a:solidFill>
                <a:srgbClr val="00BF63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-463736" lvl="1" marL="1067176" marR="0" rtl="0" algn="l">
              <a:lnSpc>
                <a:spcPct val="105018"/>
              </a:lnSpc>
              <a:spcBef>
                <a:spcPts val="0"/>
              </a:spcBef>
              <a:spcAft>
                <a:spcPts val="0"/>
              </a:spcAft>
              <a:buClr>
                <a:srgbClr val="00BF63"/>
              </a:buClr>
              <a:buSzPts val="3842"/>
              <a:buFont typeface="Arial"/>
              <a:buChar char="•"/>
            </a:pPr>
            <a:r>
              <a:rPr b="1" i="0" lang="en-US" sz="3841" u="none" cap="none" strike="noStrike">
                <a:solidFill>
                  <a:srgbClr val="00BF63"/>
                </a:solidFill>
                <a:latin typeface="Raleway"/>
                <a:ea typeface="Raleway"/>
                <a:cs typeface="Raleway"/>
                <a:sym typeface="Raleway"/>
              </a:rPr>
              <a:t>WEB: </a:t>
            </a:r>
            <a:r>
              <a:rPr b="1" i="0" lang="en-US" sz="3841" cap="none" strike="noStrike">
                <a:solidFill>
                  <a:srgbClr val="00BF63"/>
                </a:solidFill>
                <a:latin typeface="Raleway"/>
                <a:ea typeface="Raleway"/>
                <a:cs typeface="Raleway"/>
                <a:sym typeface="Raleway"/>
              </a:rPr>
              <a:t>NEXT.JS</a:t>
            </a:r>
            <a:endParaRPr b="1" sz="3841">
              <a:solidFill>
                <a:srgbClr val="00BF63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0" lvl="0" marL="914400" marR="0" rtl="0" algn="l">
              <a:lnSpc>
                <a:spcPct val="10501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3841">
              <a:solidFill>
                <a:srgbClr val="00BF63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-463736" lvl="1" marL="1067176" marR="0" rtl="0" algn="l">
              <a:lnSpc>
                <a:spcPct val="105018"/>
              </a:lnSpc>
              <a:spcBef>
                <a:spcPts val="0"/>
              </a:spcBef>
              <a:spcAft>
                <a:spcPts val="0"/>
              </a:spcAft>
              <a:buClr>
                <a:srgbClr val="00BF63"/>
              </a:buClr>
              <a:buSzPts val="3842"/>
              <a:buFont typeface="Arial"/>
              <a:buChar char="•"/>
            </a:pPr>
            <a:r>
              <a:rPr b="1" i="0" lang="en-US" sz="3841" u="none" cap="none" strike="noStrike">
                <a:solidFill>
                  <a:srgbClr val="00BF63"/>
                </a:solidFill>
                <a:latin typeface="Raleway"/>
                <a:ea typeface="Raleway"/>
                <a:cs typeface="Raleway"/>
                <a:sym typeface="Raleway"/>
              </a:rPr>
              <a:t>IOT: ESP32-C3 (</a:t>
            </a:r>
            <a:r>
              <a:rPr b="1" lang="en-US" sz="3841">
                <a:solidFill>
                  <a:srgbClr val="00BF63"/>
                </a:solidFill>
                <a:latin typeface="Raleway"/>
                <a:ea typeface="Raleway"/>
                <a:cs typeface="Raleway"/>
                <a:sym typeface="Raleway"/>
              </a:rPr>
              <a:t>C</a:t>
            </a:r>
            <a:r>
              <a:rPr b="1" i="0" lang="en-US" sz="3841" u="none" cap="none" strike="noStrike">
                <a:solidFill>
                  <a:srgbClr val="00BF63"/>
                </a:solidFill>
                <a:latin typeface="Raleway"/>
                <a:ea typeface="Raleway"/>
                <a:cs typeface="Raleway"/>
                <a:sym typeface="Raleway"/>
              </a:rPr>
              <a:t>++)</a:t>
            </a:r>
            <a:endParaRPr b="1" i="0" sz="3841" u="none" cap="none" strike="noStrike">
              <a:solidFill>
                <a:srgbClr val="00BF63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0" lvl="0" marL="914400" marR="0" rtl="0" algn="l">
              <a:lnSpc>
                <a:spcPct val="105018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41"/>
              <a:buFont typeface="Arial"/>
              <a:buNone/>
            </a:pPr>
            <a:r>
              <a:t/>
            </a:r>
            <a:endParaRPr b="1" i="0" sz="3841" u="none" cap="none" strike="noStrike">
              <a:solidFill>
                <a:srgbClr val="00BF63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0" lvl="0" marL="0" marR="0" rtl="0" algn="l">
              <a:lnSpc>
                <a:spcPct val="105018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42"/>
              <a:buFont typeface="Arial"/>
              <a:buNone/>
            </a:pPr>
            <a:r>
              <a:t/>
            </a:r>
            <a:endParaRPr b="1" i="0" sz="4442" u="none" cap="none" strike="noStrike">
              <a:solidFill>
                <a:srgbClr val="7ED957"/>
              </a:solidFill>
              <a:latin typeface="Raleway"/>
              <a:ea typeface="Raleway"/>
              <a:cs typeface="Raleway"/>
              <a:sym typeface="Raleway"/>
            </a:endParaRPr>
          </a:p>
        </p:txBody>
      </p:sp>
      <p:pic>
        <p:nvPicPr>
          <p:cNvPr id="187" name="Google Shape;187;p7"/>
          <p:cNvPicPr preferRelativeResize="0"/>
          <p:nvPr/>
        </p:nvPicPr>
        <p:blipFill rotWithShape="1">
          <a:blip r:embed="rId4">
            <a:alphaModFix/>
          </a:blip>
          <a:srcRect b="11260" l="19519" r="19501" t="9775"/>
          <a:stretch/>
        </p:blipFill>
        <p:spPr>
          <a:xfrm>
            <a:off x="16461200" y="198575"/>
            <a:ext cx="1532649" cy="19846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2" name="Google Shape;192;p10"/>
          <p:cNvGrpSpPr/>
          <p:nvPr/>
        </p:nvGrpSpPr>
        <p:grpSpPr>
          <a:xfrm>
            <a:off x="919199" y="-915527"/>
            <a:ext cx="1660787" cy="1650512"/>
            <a:chOff x="0" y="-47625"/>
            <a:chExt cx="437406" cy="434700"/>
          </a:xfrm>
        </p:grpSpPr>
        <p:sp>
          <p:nvSpPr>
            <p:cNvPr id="193" name="Google Shape;193;p10"/>
            <p:cNvSpPr/>
            <p:nvPr/>
          </p:nvSpPr>
          <p:spPr>
            <a:xfrm>
              <a:off x="0" y="0"/>
              <a:ext cx="437406" cy="387002"/>
            </a:xfrm>
            <a:custGeom>
              <a:rect b="b" l="l" r="r" t="t"/>
              <a:pathLst>
                <a:path extrusionOk="0" h="387002" w="437406">
                  <a:moveTo>
                    <a:pt x="0" y="0"/>
                  </a:moveTo>
                  <a:lnTo>
                    <a:pt x="437406" y="0"/>
                  </a:lnTo>
                  <a:lnTo>
                    <a:pt x="437406" y="387002"/>
                  </a:lnTo>
                  <a:lnTo>
                    <a:pt x="0" y="387002"/>
                  </a:lnTo>
                  <a:close/>
                </a:path>
              </a:pathLst>
            </a:custGeom>
            <a:solidFill>
              <a:srgbClr val="7ED957"/>
            </a:solidFill>
            <a:ln>
              <a:noFill/>
            </a:ln>
          </p:spPr>
        </p:sp>
        <p:sp>
          <p:nvSpPr>
            <p:cNvPr id="194" name="Google Shape;194;p10"/>
            <p:cNvSpPr txBox="1"/>
            <p:nvPr/>
          </p:nvSpPr>
          <p:spPr>
            <a:xfrm>
              <a:off x="0" y="-47625"/>
              <a:ext cx="437400" cy="434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95" name="Google Shape;195;p10"/>
          <p:cNvGrpSpPr/>
          <p:nvPr/>
        </p:nvGrpSpPr>
        <p:grpSpPr>
          <a:xfrm>
            <a:off x="2664518" y="-915527"/>
            <a:ext cx="489800" cy="1650512"/>
            <a:chOff x="0" y="-47625"/>
            <a:chExt cx="129000" cy="434700"/>
          </a:xfrm>
        </p:grpSpPr>
        <p:sp>
          <p:nvSpPr>
            <p:cNvPr id="196" name="Google Shape;196;p10"/>
            <p:cNvSpPr/>
            <p:nvPr/>
          </p:nvSpPr>
          <p:spPr>
            <a:xfrm>
              <a:off x="0" y="0"/>
              <a:ext cx="128975" cy="387002"/>
            </a:xfrm>
            <a:custGeom>
              <a:rect b="b" l="l" r="r" t="t"/>
              <a:pathLst>
                <a:path extrusionOk="0" h="387002" w="128975">
                  <a:moveTo>
                    <a:pt x="0" y="0"/>
                  </a:moveTo>
                  <a:lnTo>
                    <a:pt x="128975" y="0"/>
                  </a:lnTo>
                  <a:lnTo>
                    <a:pt x="128975" y="387002"/>
                  </a:lnTo>
                  <a:lnTo>
                    <a:pt x="0" y="387002"/>
                  </a:lnTo>
                  <a:close/>
                </a:path>
              </a:pathLst>
            </a:custGeom>
            <a:solidFill>
              <a:srgbClr val="00BF63"/>
            </a:solidFill>
            <a:ln>
              <a:noFill/>
            </a:ln>
          </p:spPr>
        </p:sp>
        <p:sp>
          <p:nvSpPr>
            <p:cNvPr id="197" name="Google Shape;197;p10"/>
            <p:cNvSpPr txBox="1"/>
            <p:nvPr/>
          </p:nvSpPr>
          <p:spPr>
            <a:xfrm>
              <a:off x="0" y="-47625"/>
              <a:ext cx="129000" cy="434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98" name="Google Shape;198;p10"/>
          <p:cNvSpPr txBox="1"/>
          <p:nvPr/>
        </p:nvSpPr>
        <p:spPr>
          <a:xfrm>
            <a:off x="7391810" y="235200"/>
            <a:ext cx="4498200" cy="793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5004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156"/>
              <a:buFont typeface="Arial"/>
              <a:buNone/>
            </a:pPr>
            <a:r>
              <a:rPr b="1" i="0" lang="en-US" sz="5156" u="none" cap="none" strike="noStrike">
                <a:solidFill>
                  <a:srgbClr val="7ED957"/>
                </a:solidFill>
                <a:latin typeface="Proxima Nova"/>
                <a:ea typeface="Proxima Nova"/>
                <a:cs typeface="Proxima Nova"/>
                <a:sym typeface="Proxima Nova"/>
              </a:rPr>
              <a:t>BD - Estrutura</a:t>
            </a:r>
            <a:endParaRPr b="0" i="0" sz="2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99" name="Google Shape;199;p1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794008" y="1028700"/>
            <a:ext cx="15069841" cy="9258299"/>
          </a:xfrm>
          <a:prstGeom prst="rect">
            <a:avLst/>
          </a:prstGeom>
          <a:noFill/>
          <a:ln>
            <a:noFill/>
          </a:ln>
        </p:spPr>
      </p:pic>
      <p:pic>
        <p:nvPicPr>
          <p:cNvPr id="200" name="Google Shape;200;p10"/>
          <p:cNvPicPr preferRelativeResize="0"/>
          <p:nvPr/>
        </p:nvPicPr>
        <p:blipFill rotWithShape="1">
          <a:blip r:embed="rId4">
            <a:alphaModFix/>
          </a:blip>
          <a:srcRect b="11260" l="19519" r="19501" t="9775"/>
          <a:stretch/>
        </p:blipFill>
        <p:spPr>
          <a:xfrm>
            <a:off x="16461200" y="198575"/>
            <a:ext cx="1532649" cy="19846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3"/>
          <p:cNvSpPr/>
          <p:nvPr/>
        </p:nvSpPr>
        <p:spPr>
          <a:xfrm>
            <a:off x="13248423" y="6490324"/>
            <a:ext cx="9023924" cy="4754183"/>
          </a:xfrm>
          <a:custGeom>
            <a:rect b="b" l="l" r="r" t="t"/>
            <a:pathLst>
              <a:path extrusionOk="0" h="7858154" w="11873584">
                <a:moveTo>
                  <a:pt x="0" y="0"/>
                </a:moveTo>
                <a:lnTo>
                  <a:pt x="11873584" y="0"/>
                </a:lnTo>
                <a:lnTo>
                  <a:pt x="11873584" y="7858154"/>
                </a:lnTo>
                <a:lnTo>
                  <a:pt x="0" y="785815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grpSp>
        <p:nvGrpSpPr>
          <p:cNvPr id="206" name="Google Shape;206;p13"/>
          <p:cNvGrpSpPr/>
          <p:nvPr/>
        </p:nvGrpSpPr>
        <p:grpSpPr>
          <a:xfrm>
            <a:off x="919199" y="-915527"/>
            <a:ext cx="1660787" cy="1650512"/>
            <a:chOff x="0" y="-47625"/>
            <a:chExt cx="437406" cy="434700"/>
          </a:xfrm>
        </p:grpSpPr>
        <p:sp>
          <p:nvSpPr>
            <p:cNvPr id="207" name="Google Shape;207;p13"/>
            <p:cNvSpPr/>
            <p:nvPr/>
          </p:nvSpPr>
          <p:spPr>
            <a:xfrm>
              <a:off x="0" y="0"/>
              <a:ext cx="437406" cy="387002"/>
            </a:xfrm>
            <a:custGeom>
              <a:rect b="b" l="l" r="r" t="t"/>
              <a:pathLst>
                <a:path extrusionOk="0" h="387002" w="437406">
                  <a:moveTo>
                    <a:pt x="0" y="0"/>
                  </a:moveTo>
                  <a:lnTo>
                    <a:pt x="437406" y="0"/>
                  </a:lnTo>
                  <a:lnTo>
                    <a:pt x="437406" y="387002"/>
                  </a:lnTo>
                  <a:lnTo>
                    <a:pt x="0" y="387002"/>
                  </a:lnTo>
                  <a:close/>
                </a:path>
              </a:pathLst>
            </a:custGeom>
            <a:solidFill>
              <a:srgbClr val="7ED957"/>
            </a:solidFill>
            <a:ln>
              <a:noFill/>
            </a:ln>
          </p:spPr>
        </p:sp>
        <p:sp>
          <p:nvSpPr>
            <p:cNvPr id="208" name="Google Shape;208;p13"/>
            <p:cNvSpPr txBox="1"/>
            <p:nvPr/>
          </p:nvSpPr>
          <p:spPr>
            <a:xfrm>
              <a:off x="0" y="-47625"/>
              <a:ext cx="437400" cy="434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09" name="Google Shape;209;p13"/>
          <p:cNvGrpSpPr/>
          <p:nvPr/>
        </p:nvGrpSpPr>
        <p:grpSpPr>
          <a:xfrm>
            <a:off x="2664518" y="-915527"/>
            <a:ext cx="489800" cy="1650512"/>
            <a:chOff x="0" y="-47625"/>
            <a:chExt cx="129000" cy="434700"/>
          </a:xfrm>
        </p:grpSpPr>
        <p:sp>
          <p:nvSpPr>
            <p:cNvPr id="210" name="Google Shape;210;p13"/>
            <p:cNvSpPr/>
            <p:nvPr/>
          </p:nvSpPr>
          <p:spPr>
            <a:xfrm>
              <a:off x="0" y="0"/>
              <a:ext cx="128975" cy="387002"/>
            </a:xfrm>
            <a:custGeom>
              <a:rect b="b" l="l" r="r" t="t"/>
              <a:pathLst>
                <a:path extrusionOk="0" h="387002" w="128975">
                  <a:moveTo>
                    <a:pt x="0" y="0"/>
                  </a:moveTo>
                  <a:lnTo>
                    <a:pt x="128975" y="0"/>
                  </a:lnTo>
                  <a:lnTo>
                    <a:pt x="128975" y="387002"/>
                  </a:lnTo>
                  <a:lnTo>
                    <a:pt x="0" y="387002"/>
                  </a:lnTo>
                  <a:close/>
                </a:path>
              </a:pathLst>
            </a:custGeom>
            <a:solidFill>
              <a:srgbClr val="00BF63"/>
            </a:solidFill>
            <a:ln>
              <a:noFill/>
            </a:ln>
          </p:spPr>
        </p:sp>
        <p:sp>
          <p:nvSpPr>
            <p:cNvPr id="211" name="Google Shape;211;p13"/>
            <p:cNvSpPr txBox="1"/>
            <p:nvPr/>
          </p:nvSpPr>
          <p:spPr>
            <a:xfrm>
              <a:off x="0" y="-47625"/>
              <a:ext cx="129000" cy="434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12" name="Google Shape;212;p13"/>
          <p:cNvSpPr txBox="1"/>
          <p:nvPr/>
        </p:nvSpPr>
        <p:spPr>
          <a:xfrm>
            <a:off x="3731593" y="198575"/>
            <a:ext cx="12097500" cy="793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5004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156"/>
              <a:buFont typeface="Arial"/>
              <a:buNone/>
            </a:pPr>
            <a:r>
              <a:rPr b="1" i="0" lang="en-US" sz="5156" u="none" cap="none" strike="noStrike">
                <a:solidFill>
                  <a:srgbClr val="7ED957"/>
                </a:solidFill>
                <a:latin typeface="Proxima Nova"/>
                <a:ea typeface="Proxima Nova"/>
                <a:cs typeface="Proxima Nova"/>
                <a:sym typeface="Proxima Nova"/>
              </a:rPr>
              <a:t>API - Funcionalidades Implementadas</a:t>
            </a:r>
            <a:endParaRPr b="0" i="0" sz="2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3" name="Google Shape;213;p13"/>
          <p:cNvSpPr txBox="1"/>
          <p:nvPr/>
        </p:nvSpPr>
        <p:spPr>
          <a:xfrm>
            <a:off x="919196" y="1643157"/>
            <a:ext cx="14911200" cy="994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457200" lvl="0" marL="457200" marR="0" rtl="0" algn="l">
              <a:lnSpc>
                <a:spcPct val="105008"/>
              </a:lnSpc>
              <a:spcBef>
                <a:spcPts val="0"/>
              </a:spcBef>
              <a:spcAft>
                <a:spcPts val="0"/>
              </a:spcAft>
              <a:buClr>
                <a:srgbClr val="00BF63"/>
              </a:buClr>
              <a:buSzPts val="3800"/>
              <a:buFont typeface="Raleway"/>
              <a:buChar char="-"/>
            </a:pPr>
            <a:r>
              <a:rPr b="1" i="0" lang="en-US" sz="3800" u="none" cap="none" strike="noStrike">
                <a:solidFill>
                  <a:srgbClr val="00BF63"/>
                </a:solidFill>
                <a:latin typeface="Raleway"/>
                <a:ea typeface="Raleway"/>
                <a:cs typeface="Raleway"/>
                <a:sym typeface="Raleway"/>
              </a:rPr>
              <a:t>Login / Cadastro de Usuários</a:t>
            </a:r>
            <a:endParaRPr b="1" i="0" sz="3800" u="none" cap="none" strike="noStrike">
              <a:solidFill>
                <a:srgbClr val="00BF63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0" lvl="0" marL="457200" marR="0" rtl="0" algn="l">
              <a:lnSpc>
                <a:spcPct val="105008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00"/>
              <a:buFont typeface="Arial"/>
              <a:buNone/>
            </a:pPr>
            <a:r>
              <a:t/>
            </a:r>
            <a:endParaRPr b="1" i="0" sz="3800" u="none" cap="none" strike="noStrike">
              <a:solidFill>
                <a:srgbClr val="00BF63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-457200" lvl="0" marL="457200" marR="0" rtl="0" algn="l">
              <a:lnSpc>
                <a:spcPct val="105008"/>
              </a:lnSpc>
              <a:spcBef>
                <a:spcPts val="0"/>
              </a:spcBef>
              <a:spcAft>
                <a:spcPts val="0"/>
              </a:spcAft>
              <a:buClr>
                <a:srgbClr val="00BF63"/>
              </a:buClr>
              <a:buSzPts val="3800"/>
              <a:buFont typeface="Raleway"/>
              <a:buChar char="-"/>
            </a:pPr>
            <a:r>
              <a:rPr b="1" i="0" lang="en-US" sz="3800" u="none" cap="none" strike="noStrike">
                <a:solidFill>
                  <a:srgbClr val="00BF63"/>
                </a:solidFill>
                <a:latin typeface="Raleway"/>
                <a:ea typeface="Raleway"/>
                <a:cs typeface="Raleway"/>
                <a:sym typeface="Raleway"/>
              </a:rPr>
              <a:t>Gerenciamento de mochilas pelos administradores do sistema</a:t>
            </a:r>
            <a:endParaRPr b="1" i="0" sz="3800" u="none" cap="none" strike="noStrike">
              <a:solidFill>
                <a:srgbClr val="00BF63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0" lvl="0" marL="457200" marR="0" rtl="0" algn="l">
              <a:lnSpc>
                <a:spcPct val="105008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00"/>
              <a:buFont typeface="Arial"/>
              <a:buNone/>
            </a:pPr>
            <a:r>
              <a:t/>
            </a:r>
            <a:endParaRPr b="1" i="0" sz="3800" u="none" cap="none" strike="noStrike">
              <a:solidFill>
                <a:srgbClr val="00BF63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-457200" lvl="0" marL="457200" marR="0" rtl="0" algn="l">
              <a:lnSpc>
                <a:spcPct val="105008"/>
              </a:lnSpc>
              <a:spcBef>
                <a:spcPts val="0"/>
              </a:spcBef>
              <a:spcAft>
                <a:spcPts val="0"/>
              </a:spcAft>
              <a:buClr>
                <a:srgbClr val="00BF63"/>
              </a:buClr>
              <a:buSzPts val="3800"/>
              <a:buFont typeface="Raleway"/>
              <a:buChar char="-"/>
            </a:pPr>
            <a:r>
              <a:rPr b="1" i="0" lang="en-US" sz="3800" u="none" cap="none" strike="noStrike">
                <a:solidFill>
                  <a:srgbClr val="00BF63"/>
                </a:solidFill>
                <a:latin typeface="Raleway"/>
                <a:ea typeface="Raleway"/>
                <a:cs typeface="Raleway"/>
                <a:sym typeface="Raleway"/>
              </a:rPr>
              <a:t>Vínculo da mochila com o usuário</a:t>
            </a:r>
            <a:endParaRPr b="1" i="0" sz="3800" u="none" cap="none" strike="noStrike">
              <a:solidFill>
                <a:srgbClr val="00BF63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0" lvl="0" marL="457200" marR="0" rtl="0" algn="l">
              <a:lnSpc>
                <a:spcPct val="105008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00"/>
              <a:buFont typeface="Arial"/>
              <a:buNone/>
            </a:pPr>
            <a:r>
              <a:t/>
            </a:r>
            <a:endParaRPr b="1" i="0" sz="3800" u="none" cap="none" strike="noStrike">
              <a:solidFill>
                <a:srgbClr val="00BF63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-457200" lvl="0" marL="457200" marR="0" rtl="0" algn="l">
              <a:lnSpc>
                <a:spcPct val="105008"/>
              </a:lnSpc>
              <a:spcBef>
                <a:spcPts val="0"/>
              </a:spcBef>
              <a:spcAft>
                <a:spcPts val="0"/>
              </a:spcAft>
              <a:buClr>
                <a:srgbClr val="00BF63"/>
              </a:buClr>
              <a:buSzPts val="3800"/>
              <a:buFont typeface="Raleway"/>
              <a:buChar char="-"/>
            </a:pPr>
            <a:r>
              <a:rPr b="1" i="0" lang="en-US" sz="3800" u="none" cap="none" strike="noStrike">
                <a:solidFill>
                  <a:srgbClr val="00BF63"/>
                </a:solidFill>
                <a:latin typeface="Raleway"/>
                <a:ea typeface="Raleway"/>
                <a:cs typeface="Raleway"/>
                <a:sym typeface="Raleway"/>
              </a:rPr>
              <a:t>Recebimento de medições capturados pela IoT</a:t>
            </a:r>
            <a:endParaRPr b="1" i="0" sz="3800" u="none" cap="none" strike="noStrike">
              <a:solidFill>
                <a:srgbClr val="00BF63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0" lvl="0" marL="457200" marR="0" rtl="0" algn="l">
              <a:lnSpc>
                <a:spcPct val="105008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00"/>
              <a:buFont typeface="Arial"/>
              <a:buNone/>
            </a:pPr>
            <a:r>
              <a:t/>
            </a:r>
            <a:endParaRPr b="1" i="0" sz="3800" u="none" cap="none" strike="noStrike">
              <a:solidFill>
                <a:srgbClr val="00BF63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-457200" lvl="0" marL="457200" marR="0" rtl="0" algn="l">
              <a:lnSpc>
                <a:spcPct val="105008"/>
              </a:lnSpc>
              <a:spcBef>
                <a:spcPts val="0"/>
              </a:spcBef>
              <a:spcAft>
                <a:spcPts val="0"/>
              </a:spcAft>
              <a:buClr>
                <a:srgbClr val="00BF63"/>
              </a:buClr>
              <a:buSzPts val="3800"/>
              <a:buFont typeface="Raleway"/>
              <a:buChar char="-"/>
            </a:pPr>
            <a:r>
              <a:rPr b="1" i="0" lang="en-US" sz="3800" u="none" cap="none" strike="noStrike">
                <a:solidFill>
                  <a:srgbClr val="00BF63"/>
                </a:solidFill>
                <a:latin typeface="Raleway"/>
                <a:ea typeface="Raleway"/>
                <a:cs typeface="Raleway"/>
                <a:sym typeface="Raleway"/>
              </a:rPr>
              <a:t>Criação e encaminhamento de alertas, caso o limite do peso recomendável para o usuário ou mochila seja ultrapassado</a:t>
            </a:r>
            <a:endParaRPr b="1" i="0" sz="3800" u="none" cap="none" strike="noStrike">
              <a:solidFill>
                <a:srgbClr val="00BF63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0" lvl="0" marL="457200" marR="0" rtl="0" algn="l">
              <a:lnSpc>
                <a:spcPct val="105008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00"/>
              <a:buFont typeface="Arial"/>
              <a:buNone/>
            </a:pPr>
            <a:r>
              <a:t/>
            </a:r>
            <a:endParaRPr b="1" i="0" sz="3800" u="none" cap="none" strike="noStrike">
              <a:solidFill>
                <a:srgbClr val="00BF63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-457200" lvl="0" marL="457200" marR="0" rtl="0" algn="l">
              <a:lnSpc>
                <a:spcPct val="105008"/>
              </a:lnSpc>
              <a:spcBef>
                <a:spcPts val="0"/>
              </a:spcBef>
              <a:spcAft>
                <a:spcPts val="0"/>
              </a:spcAft>
              <a:buClr>
                <a:srgbClr val="00BF63"/>
              </a:buClr>
              <a:buSzPts val="3800"/>
              <a:buFont typeface="Raleway"/>
              <a:buChar char="-"/>
            </a:pPr>
            <a:r>
              <a:rPr b="1" i="0" lang="en-US" sz="3800" u="none" cap="none" strike="noStrike">
                <a:solidFill>
                  <a:srgbClr val="00BF63"/>
                </a:solidFill>
                <a:latin typeface="Raleway"/>
                <a:ea typeface="Raleway"/>
                <a:cs typeface="Raleway"/>
                <a:sym typeface="Raleway"/>
              </a:rPr>
              <a:t>Geração de relatórios  (diário, semanal, mensal</a:t>
            </a:r>
            <a:r>
              <a:rPr b="1" lang="en-US" sz="3800">
                <a:solidFill>
                  <a:srgbClr val="00BF63"/>
                </a:solidFill>
                <a:latin typeface="Raleway"/>
                <a:ea typeface="Raleway"/>
                <a:cs typeface="Raleway"/>
                <a:sym typeface="Raleway"/>
              </a:rPr>
              <a:t> e</a:t>
            </a:r>
            <a:r>
              <a:rPr b="1" i="0" lang="en-US" sz="3800" u="none" cap="none" strike="noStrike">
                <a:solidFill>
                  <a:srgbClr val="00BF63"/>
                </a:solidFill>
                <a:latin typeface="Raleway"/>
                <a:ea typeface="Raleway"/>
                <a:cs typeface="Raleway"/>
                <a:sym typeface="Raleway"/>
              </a:rPr>
              <a:t> anual) e previsões diárias</a:t>
            </a:r>
            <a:endParaRPr b="1" i="0" sz="3800" u="none" cap="none" strike="noStrike">
              <a:solidFill>
                <a:srgbClr val="00BF63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0" lvl="0" marL="0" marR="0" rtl="0" algn="l">
              <a:lnSpc>
                <a:spcPct val="105008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b="1" i="0" sz="3800" u="none" cap="none" strike="noStrike">
              <a:solidFill>
                <a:srgbClr val="00BF63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0" lvl="0" marL="0" marR="0" rtl="0" algn="l">
              <a:lnSpc>
                <a:spcPct val="105008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00"/>
              <a:buFont typeface="Arial"/>
              <a:buNone/>
            </a:pPr>
            <a:r>
              <a:t/>
            </a:r>
            <a:endParaRPr b="1" i="0" sz="3800" u="none" cap="none" strike="noStrike">
              <a:solidFill>
                <a:srgbClr val="00BF63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0" lvl="0" marL="0" marR="0" rtl="0" algn="l">
              <a:lnSpc>
                <a:spcPct val="105008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772"/>
              <a:buFont typeface="Arial"/>
              <a:buNone/>
            </a:pPr>
            <a:r>
              <a:t/>
            </a:r>
            <a:endParaRPr b="1" i="0" sz="4772" u="none" cap="none" strike="noStrike">
              <a:solidFill>
                <a:srgbClr val="7ED957"/>
              </a:solidFill>
              <a:latin typeface="Raleway"/>
              <a:ea typeface="Raleway"/>
              <a:cs typeface="Raleway"/>
              <a:sym typeface="Raleway"/>
            </a:endParaRPr>
          </a:p>
        </p:txBody>
      </p:sp>
      <p:pic>
        <p:nvPicPr>
          <p:cNvPr id="214" name="Google Shape;214;p13"/>
          <p:cNvPicPr preferRelativeResize="0"/>
          <p:nvPr/>
        </p:nvPicPr>
        <p:blipFill rotWithShape="1">
          <a:blip r:embed="rId4">
            <a:alphaModFix/>
          </a:blip>
          <a:srcRect b="11260" l="19519" r="19501" t="9775"/>
          <a:stretch/>
        </p:blipFill>
        <p:spPr>
          <a:xfrm>
            <a:off x="16461200" y="198575"/>
            <a:ext cx="1532649" cy="19846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14"/>
          <p:cNvSpPr/>
          <p:nvPr/>
        </p:nvSpPr>
        <p:spPr>
          <a:xfrm>
            <a:off x="13248423" y="6490324"/>
            <a:ext cx="9023924" cy="4754183"/>
          </a:xfrm>
          <a:custGeom>
            <a:rect b="b" l="l" r="r" t="t"/>
            <a:pathLst>
              <a:path extrusionOk="0" h="7858154" w="11873584">
                <a:moveTo>
                  <a:pt x="0" y="0"/>
                </a:moveTo>
                <a:lnTo>
                  <a:pt x="11873584" y="0"/>
                </a:lnTo>
                <a:lnTo>
                  <a:pt x="11873584" y="7858154"/>
                </a:lnTo>
                <a:lnTo>
                  <a:pt x="0" y="785815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grpSp>
        <p:nvGrpSpPr>
          <p:cNvPr id="220" name="Google Shape;220;p14"/>
          <p:cNvGrpSpPr/>
          <p:nvPr/>
        </p:nvGrpSpPr>
        <p:grpSpPr>
          <a:xfrm>
            <a:off x="919199" y="-915527"/>
            <a:ext cx="1660787" cy="1650512"/>
            <a:chOff x="0" y="-47625"/>
            <a:chExt cx="437406" cy="434700"/>
          </a:xfrm>
        </p:grpSpPr>
        <p:sp>
          <p:nvSpPr>
            <p:cNvPr id="221" name="Google Shape;221;p14"/>
            <p:cNvSpPr/>
            <p:nvPr/>
          </p:nvSpPr>
          <p:spPr>
            <a:xfrm>
              <a:off x="0" y="0"/>
              <a:ext cx="437406" cy="387002"/>
            </a:xfrm>
            <a:custGeom>
              <a:rect b="b" l="l" r="r" t="t"/>
              <a:pathLst>
                <a:path extrusionOk="0" h="387002" w="437406">
                  <a:moveTo>
                    <a:pt x="0" y="0"/>
                  </a:moveTo>
                  <a:lnTo>
                    <a:pt x="437406" y="0"/>
                  </a:lnTo>
                  <a:lnTo>
                    <a:pt x="437406" y="387002"/>
                  </a:lnTo>
                  <a:lnTo>
                    <a:pt x="0" y="387002"/>
                  </a:lnTo>
                  <a:close/>
                </a:path>
              </a:pathLst>
            </a:custGeom>
            <a:solidFill>
              <a:srgbClr val="7ED957"/>
            </a:solidFill>
            <a:ln>
              <a:noFill/>
            </a:ln>
          </p:spPr>
        </p:sp>
        <p:sp>
          <p:nvSpPr>
            <p:cNvPr id="222" name="Google Shape;222;p14"/>
            <p:cNvSpPr txBox="1"/>
            <p:nvPr/>
          </p:nvSpPr>
          <p:spPr>
            <a:xfrm>
              <a:off x="0" y="-47625"/>
              <a:ext cx="437400" cy="434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23" name="Google Shape;223;p14"/>
          <p:cNvGrpSpPr/>
          <p:nvPr/>
        </p:nvGrpSpPr>
        <p:grpSpPr>
          <a:xfrm>
            <a:off x="2664518" y="-915527"/>
            <a:ext cx="489800" cy="1650512"/>
            <a:chOff x="0" y="-47625"/>
            <a:chExt cx="129000" cy="434700"/>
          </a:xfrm>
        </p:grpSpPr>
        <p:sp>
          <p:nvSpPr>
            <p:cNvPr id="224" name="Google Shape;224;p14"/>
            <p:cNvSpPr/>
            <p:nvPr/>
          </p:nvSpPr>
          <p:spPr>
            <a:xfrm>
              <a:off x="0" y="0"/>
              <a:ext cx="128975" cy="387002"/>
            </a:xfrm>
            <a:custGeom>
              <a:rect b="b" l="l" r="r" t="t"/>
              <a:pathLst>
                <a:path extrusionOk="0" h="387002" w="128975">
                  <a:moveTo>
                    <a:pt x="0" y="0"/>
                  </a:moveTo>
                  <a:lnTo>
                    <a:pt x="128975" y="0"/>
                  </a:lnTo>
                  <a:lnTo>
                    <a:pt x="128975" y="387002"/>
                  </a:lnTo>
                  <a:lnTo>
                    <a:pt x="0" y="387002"/>
                  </a:lnTo>
                  <a:close/>
                </a:path>
              </a:pathLst>
            </a:custGeom>
            <a:solidFill>
              <a:srgbClr val="00BF63"/>
            </a:solidFill>
            <a:ln>
              <a:noFill/>
            </a:ln>
          </p:spPr>
        </p:sp>
        <p:sp>
          <p:nvSpPr>
            <p:cNvPr id="225" name="Google Shape;225;p14"/>
            <p:cNvSpPr txBox="1"/>
            <p:nvPr/>
          </p:nvSpPr>
          <p:spPr>
            <a:xfrm>
              <a:off x="0" y="-47625"/>
              <a:ext cx="129000" cy="434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26" name="Google Shape;226;p14"/>
          <p:cNvSpPr txBox="1"/>
          <p:nvPr/>
        </p:nvSpPr>
        <p:spPr>
          <a:xfrm>
            <a:off x="6305096" y="235200"/>
            <a:ext cx="4581000" cy="793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5004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156"/>
              <a:buFont typeface="Arial"/>
              <a:buNone/>
            </a:pPr>
            <a:r>
              <a:rPr b="1" i="0" lang="en-US" sz="5156" u="none" cap="none" strike="noStrike">
                <a:solidFill>
                  <a:srgbClr val="7ED957"/>
                </a:solidFill>
                <a:latin typeface="Proxima Nova"/>
                <a:ea typeface="Proxima Nova"/>
                <a:cs typeface="Proxima Nova"/>
                <a:sym typeface="Proxima Nova"/>
              </a:rPr>
              <a:t>API - Estrutura</a:t>
            </a:r>
            <a:endParaRPr b="0" i="0" sz="2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7" name="Google Shape;227;p14"/>
          <p:cNvSpPr txBox="1"/>
          <p:nvPr/>
        </p:nvSpPr>
        <p:spPr>
          <a:xfrm>
            <a:off x="919198" y="1206047"/>
            <a:ext cx="6123600" cy="871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5008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i="0" lang="en-US" sz="2000" u="none" cap="none" strike="noStrike">
                <a:solidFill>
                  <a:srgbClr val="00BF63"/>
                </a:solidFill>
                <a:latin typeface="Raleway"/>
                <a:ea typeface="Raleway"/>
                <a:cs typeface="Raleway"/>
                <a:sym typeface="Raleway"/>
              </a:rPr>
              <a:t>DSM-G06-PI4-2025-2/</a:t>
            </a:r>
            <a:endParaRPr b="1" i="0" sz="2000" u="none" cap="none" strike="noStrike">
              <a:solidFill>
                <a:srgbClr val="00BF63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0" lvl="0" marL="0" marR="0" rtl="0" algn="l">
              <a:lnSpc>
                <a:spcPct val="105008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i="0" lang="en-US" sz="2000" u="none" cap="none" strike="noStrike">
                <a:solidFill>
                  <a:srgbClr val="00BF63"/>
                </a:solidFill>
                <a:latin typeface="Raleway"/>
                <a:ea typeface="Raleway"/>
                <a:cs typeface="Raleway"/>
                <a:sym typeface="Raleway"/>
              </a:rPr>
              <a:t>├── API/</a:t>
            </a:r>
            <a:endParaRPr b="1" i="0" sz="2000" u="none" cap="none" strike="noStrike">
              <a:solidFill>
                <a:srgbClr val="00BF63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0" lvl="0" marL="0" marR="0" rtl="0" algn="l">
              <a:lnSpc>
                <a:spcPct val="105008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i="0" lang="en-US" sz="2000" u="none" cap="none" strike="noStrike">
                <a:solidFill>
                  <a:srgbClr val="00BF63"/>
                </a:solidFill>
                <a:latin typeface="Raleway"/>
                <a:ea typeface="Raleway"/>
                <a:cs typeface="Raleway"/>
                <a:sym typeface="Raleway"/>
              </a:rPr>
              <a:t>│   ├── prisma/</a:t>
            </a:r>
            <a:endParaRPr b="1" i="0" sz="2000" u="none" cap="none" strike="noStrike">
              <a:solidFill>
                <a:srgbClr val="00BF63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0" lvl="0" marL="0" marR="0" rtl="0" algn="l">
              <a:lnSpc>
                <a:spcPct val="105008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i="0" lang="en-US" sz="2000" u="none" cap="none" strike="noStrike">
                <a:solidFill>
                  <a:srgbClr val="00BF63"/>
                </a:solidFill>
                <a:latin typeface="Raleway"/>
                <a:ea typeface="Raleway"/>
                <a:cs typeface="Raleway"/>
                <a:sym typeface="Raleway"/>
              </a:rPr>
              <a:t>│   │   ├── migrations/</a:t>
            </a:r>
            <a:endParaRPr b="1" i="0" sz="2000" u="none" cap="none" strike="noStrike">
              <a:solidFill>
                <a:srgbClr val="00BF63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0" lvl="0" marL="0" marR="0" rtl="0" algn="l">
              <a:lnSpc>
                <a:spcPct val="105008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i="0" lang="en-US" sz="2000" u="none" cap="none" strike="noStrike">
                <a:solidFill>
                  <a:srgbClr val="00BF63"/>
                </a:solidFill>
                <a:latin typeface="Raleway"/>
                <a:ea typeface="Raleway"/>
                <a:cs typeface="Raleway"/>
                <a:sym typeface="Raleway"/>
              </a:rPr>
              <a:t>│   │   └── schema.prisma</a:t>
            </a:r>
            <a:endParaRPr b="1" i="0" sz="2000" u="none" cap="none" strike="noStrike">
              <a:solidFill>
                <a:srgbClr val="00BF63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0" lvl="0" marL="0" marR="0" rtl="0" algn="l">
              <a:lnSpc>
                <a:spcPct val="105008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i="0" lang="en-US" sz="2000" u="none" cap="none" strike="noStrike">
                <a:solidFill>
                  <a:srgbClr val="00BF63"/>
                </a:solidFill>
                <a:latin typeface="Raleway"/>
                <a:ea typeface="Raleway"/>
                <a:cs typeface="Raleway"/>
                <a:sym typeface="Raleway"/>
              </a:rPr>
              <a:t>│   └── src/</a:t>
            </a:r>
            <a:endParaRPr b="1" i="0" sz="2000" u="none" cap="none" strike="noStrike">
              <a:solidFill>
                <a:srgbClr val="00BF63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0" lvl="0" marL="0" marR="0" rtl="0" algn="l">
              <a:lnSpc>
                <a:spcPct val="105008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i="0" lang="en-US" sz="2000" u="none" cap="none" strike="noStrike">
                <a:solidFill>
                  <a:srgbClr val="00BF63"/>
                </a:solidFill>
                <a:latin typeface="Raleway"/>
                <a:ea typeface="Raleway"/>
                <a:cs typeface="Raleway"/>
                <a:sym typeface="Raleway"/>
              </a:rPr>
              <a:t>│       ├── controllers/</a:t>
            </a:r>
            <a:endParaRPr b="1" i="0" sz="2000" u="none" cap="none" strike="noStrike">
              <a:solidFill>
                <a:srgbClr val="00BF63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0" lvl="0" marL="0" marR="0" rtl="0" algn="l">
              <a:lnSpc>
                <a:spcPct val="105008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i="0" lang="en-US" sz="2000" u="none" cap="none" strike="noStrike">
                <a:solidFill>
                  <a:srgbClr val="00BF63"/>
                </a:solidFill>
                <a:latin typeface="Raleway"/>
                <a:ea typeface="Raleway"/>
                <a:cs typeface="Raleway"/>
                <a:sym typeface="Raleway"/>
              </a:rPr>
              <a:t>│       │   ├── alertas.js</a:t>
            </a:r>
            <a:endParaRPr b="1" i="0" sz="2000" u="none" cap="none" strike="noStrike">
              <a:solidFill>
                <a:srgbClr val="00BF63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0" lvl="0" marL="0" marR="0" rtl="0" algn="l">
              <a:lnSpc>
                <a:spcPct val="105008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i="0" lang="en-US" sz="2000" u="none" cap="none" strike="noStrike">
                <a:solidFill>
                  <a:srgbClr val="00BF63"/>
                </a:solidFill>
                <a:latin typeface="Raleway"/>
                <a:ea typeface="Raleway"/>
                <a:cs typeface="Raleway"/>
                <a:sym typeface="Raleway"/>
              </a:rPr>
              <a:t>│       │   ├── medicoes.js</a:t>
            </a:r>
            <a:endParaRPr b="1" i="0" sz="2000" u="none" cap="none" strike="noStrike">
              <a:solidFill>
                <a:srgbClr val="00BF63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0" lvl="0" marL="0" marR="0" rtl="0" algn="l">
              <a:lnSpc>
                <a:spcPct val="105008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i="0" lang="en-US" sz="2000" u="none" cap="none" strike="noStrike">
                <a:solidFill>
                  <a:srgbClr val="00BF63"/>
                </a:solidFill>
                <a:latin typeface="Raleway"/>
                <a:ea typeface="Raleway"/>
                <a:cs typeface="Raleway"/>
                <a:sym typeface="Raleway"/>
              </a:rPr>
              <a:t>│       │   ├── mochilas.js</a:t>
            </a:r>
            <a:endParaRPr b="1" i="0" sz="2000" u="none" cap="none" strike="noStrike">
              <a:solidFill>
                <a:srgbClr val="00BF63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0" lvl="0" marL="0" marR="0" rtl="0" algn="l">
              <a:lnSpc>
                <a:spcPct val="105008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i="0" lang="en-US" sz="2000" u="none" cap="none" strike="noStrike">
                <a:solidFill>
                  <a:srgbClr val="00BF63"/>
                </a:solidFill>
                <a:latin typeface="Raleway"/>
                <a:ea typeface="Raleway"/>
                <a:cs typeface="Raleway"/>
                <a:sym typeface="Raleway"/>
              </a:rPr>
              <a:t>│       │   ├── tokenJWT.js</a:t>
            </a:r>
            <a:endParaRPr b="1" i="0" sz="2000" u="none" cap="none" strike="noStrike">
              <a:solidFill>
                <a:srgbClr val="00BF63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0" lvl="0" marL="0" marR="0" rtl="0" algn="l">
              <a:lnSpc>
                <a:spcPct val="105008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i="0" lang="en-US" sz="2000" u="none" cap="none" strike="noStrike">
                <a:solidFill>
                  <a:srgbClr val="00BF63"/>
                </a:solidFill>
                <a:latin typeface="Raleway"/>
                <a:ea typeface="Raleway"/>
                <a:cs typeface="Raleway"/>
                <a:sym typeface="Raleway"/>
              </a:rPr>
              <a:t>│       │   ├── usuarios.js</a:t>
            </a:r>
            <a:endParaRPr b="1" i="0" sz="2000" u="none" cap="none" strike="noStrike">
              <a:solidFill>
                <a:srgbClr val="00BF63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0" lvl="0" marL="0" marR="0" rtl="0" algn="l">
              <a:lnSpc>
                <a:spcPct val="105008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i="0" lang="en-US" sz="2000" u="none" cap="none" strike="noStrike">
                <a:solidFill>
                  <a:srgbClr val="00BF63"/>
                </a:solidFill>
                <a:latin typeface="Raleway"/>
                <a:ea typeface="Raleway"/>
                <a:cs typeface="Raleway"/>
                <a:sym typeface="Raleway"/>
              </a:rPr>
              <a:t>│       │   └── usuariosMochilas.js</a:t>
            </a:r>
            <a:endParaRPr b="1" i="0" sz="2000" u="none" cap="none" strike="noStrike">
              <a:solidFill>
                <a:srgbClr val="00BF63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0" lvl="0" marL="0" marR="0" rtl="0" algn="l">
              <a:lnSpc>
                <a:spcPct val="105008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i="0" lang="en-US" sz="2000" u="none" cap="none" strike="noStrike">
                <a:solidFill>
                  <a:srgbClr val="00BF63"/>
                </a:solidFill>
                <a:latin typeface="Raleway"/>
                <a:ea typeface="Raleway"/>
                <a:cs typeface="Raleway"/>
                <a:sym typeface="Raleway"/>
              </a:rPr>
              <a:t>│       ├── middlewares/</a:t>
            </a:r>
            <a:endParaRPr b="1" i="0" sz="2000" u="none" cap="none" strike="noStrike">
              <a:solidFill>
                <a:srgbClr val="00BF63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0" lvl="0" marL="0" rtl="0" algn="l">
              <a:lnSpc>
                <a:spcPct val="105008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2000">
                <a:solidFill>
                  <a:srgbClr val="00BF63"/>
                </a:solidFill>
                <a:latin typeface="Raleway"/>
                <a:ea typeface="Raleway"/>
                <a:cs typeface="Raleway"/>
                <a:sym typeface="Raleway"/>
              </a:rPr>
              <a:t>│       ├</a:t>
            </a:r>
            <a:r>
              <a:rPr b="1" lang="en-US" sz="2000">
                <a:solidFill>
                  <a:srgbClr val="00BF63"/>
                </a:solidFill>
                <a:latin typeface="Raleway"/>
                <a:ea typeface="Raleway"/>
                <a:cs typeface="Raleway"/>
                <a:sym typeface="Raleway"/>
              </a:rPr>
              <a:t>── public/</a:t>
            </a:r>
            <a:endParaRPr b="1" sz="2000">
              <a:solidFill>
                <a:srgbClr val="00BF63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0" lvl="0" marL="0" marR="0" rtl="0" algn="l">
              <a:lnSpc>
                <a:spcPct val="105008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i="0" lang="en-US" sz="2000" u="none" cap="none" strike="noStrike">
                <a:solidFill>
                  <a:srgbClr val="00BF63"/>
                </a:solidFill>
                <a:latin typeface="Raleway"/>
                <a:ea typeface="Raleway"/>
                <a:cs typeface="Raleway"/>
                <a:sym typeface="Raleway"/>
              </a:rPr>
              <a:t>│       └── routes/</a:t>
            </a:r>
            <a:endParaRPr b="1" i="0" sz="2000" u="none" cap="none" strike="noStrike">
              <a:solidFill>
                <a:srgbClr val="00BF63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0" lvl="0" marL="0" marR="0" rtl="0" algn="l">
              <a:lnSpc>
                <a:spcPct val="105008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i="0" lang="en-US" sz="2000" u="none" cap="none" strike="noStrike">
                <a:solidFill>
                  <a:srgbClr val="00BF63"/>
                </a:solidFill>
                <a:latin typeface="Raleway"/>
                <a:ea typeface="Raleway"/>
                <a:cs typeface="Raleway"/>
                <a:sym typeface="Raleway"/>
              </a:rPr>
              <a:t>│           ├── alertas.js</a:t>
            </a:r>
            <a:endParaRPr b="1" i="0" sz="2000" u="none" cap="none" strike="noStrike">
              <a:solidFill>
                <a:srgbClr val="00BF63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0" lvl="0" marL="0" marR="0" rtl="0" algn="l">
              <a:lnSpc>
                <a:spcPct val="105008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i="0" lang="en-US" sz="2000" u="none" cap="none" strike="noStrike">
                <a:solidFill>
                  <a:srgbClr val="00BF63"/>
                </a:solidFill>
                <a:latin typeface="Raleway"/>
                <a:ea typeface="Raleway"/>
                <a:cs typeface="Raleway"/>
                <a:sym typeface="Raleway"/>
              </a:rPr>
              <a:t>│           ├── medicoes.js</a:t>
            </a:r>
            <a:endParaRPr b="1" i="0" sz="2000" u="none" cap="none" strike="noStrike">
              <a:solidFill>
                <a:srgbClr val="00BF63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0" lvl="0" marL="0" marR="0" rtl="0" algn="l">
              <a:lnSpc>
                <a:spcPct val="105008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i="0" lang="en-US" sz="2000" u="none" cap="none" strike="noStrike">
                <a:solidFill>
                  <a:srgbClr val="00BF63"/>
                </a:solidFill>
                <a:latin typeface="Raleway"/>
                <a:ea typeface="Raleway"/>
                <a:cs typeface="Raleway"/>
                <a:sym typeface="Raleway"/>
              </a:rPr>
              <a:t>│           ├── mochilas.js</a:t>
            </a:r>
            <a:endParaRPr b="1" i="0" sz="2000" u="none" cap="none" strike="noStrike">
              <a:solidFill>
                <a:srgbClr val="00BF63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0" lvl="0" marL="0" marR="0" rtl="0" algn="l">
              <a:lnSpc>
                <a:spcPct val="105008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i="0" lang="en-US" sz="2000" u="none" cap="none" strike="noStrike">
                <a:solidFill>
                  <a:srgbClr val="00BF63"/>
                </a:solidFill>
                <a:latin typeface="Raleway"/>
                <a:ea typeface="Raleway"/>
                <a:cs typeface="Raleway"/>
                <a:sym typeface="Raleway"/>
              </a:rPr>
              <a:t>│           ├── tokenJWT.js</a:t>
            </a:r>
            <a:endParaRPr b="1" i="0" sz="2000" u="none" cap="none" strike="noStrike">
              <a:solidFill>
                <a:srgbClr val="00BF63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0" lvl="0" marL="0" marR="0" rtl="0" algn="l">
              <a:lnSpc>
                <a:spcPct val="105008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i="0" lang="en-US" sz="2000" u="none" cap="none" strike="noStrike">
                <a:solidFill>
                  <a:srgbClr val="00BF63"/>
                </a:solidFill>
                <a:latin typeface="Raleway"/>
                <a:ea typeface="Raleway"/>
                <a:cs typeface="Raleway"/>
                <a:sym typeface="Raleway"/>
              </a:rPr>
              <a:t>│           ├── usuarios.js</a:t>
            </a:r>
            <a:endParaRPr b="1" i="0" sz="2000" u="none" cap="none" strike="noStrike">
              <a:solidFill>
                <a:srgbClr val="00BF63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0" lvl="0" marL="0" marR="0" rtl="0" algn="l">
              <a:lnSpc>
                <a:spcPct val="105008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i="0" lang="en-US" sz="2000" u="none" cap="none" strike="noStrike">
                <a:solidFill>
                  <a:srgbClr val="00BF63"/>
                </a:solidFill>
                <a:latin typeface="Raleway"/>
                <a:ea typeface="Raleway"/>
                <a:cs typeface="Raleway"/>
                <a:sym typeface="Raleway"/>
              </a:rPr>
              <a:t>│           └── usuariosMochilas.js</a:t>
            </a:r>
            <a:endParaRPr b="1" i="0" sz="2000" u="none" cap="none" strike="noStrike">
              <a:solidFill>
                <a:srgbClr val="00BF63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0" lvl="0" marL="0" rtl="0" algn="l">
              <a:lnSpc>
                <a:spcPct val="105008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2000">
                <a:solidFill>
                  <a:srgbClr val="00BF63"/>
                </a:solidFill>
                <a:latin typeface="Raleway"/>
                <a:ea typeface="Raleway"/>
                <a:cs typeface="Raleway"/>
                <a:sym typeface="Raleway"/>
              </a:rPr>
              <a:t>│       ├── app.js</a:t>
            </a:r>
            <a:endParaRPr b="1" sz="2000">
              <a:solidFill>
                <a:srgbClr val="00BF63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0" lvl="0" marL="0" rtl="0" algn="l">
              <a:lnSpc>
                <a:spcPct val="105008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2000">
                <a:solidFill>
                  <a:srgbClr val="00BF63"/>
                </a:solidFill>
                <a:latin typeface="Raleway"/>
                <a:ea typeface="Raleway"/>
                <a:cs typeface="Raleway"/>
                <a:sym typeface="Raleway"/>
              </a:rPr>
              <a:t>│       ├── prisma.js</a:t>
            </a:r>
            <a:endParaRPr b="1" sz="2000">
              <a:solidFill>
                <a:srgbClr val="00BF63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0" lvl="0" marL="0" rtl="0" algn="l">
              <a:lnSpc>
                <a:spcPct val="105008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2000">
                <a:solidFill>
                  <a:srgbClr val="00BF63"/>
                </a:solidFill>
                <a:latin typeface="Raleway"/>
                <a:ea typeface="Raleway"/>
                <a:cs typeface="Raleway"/>
                <a:sym typeface="Raleway"/>
              </a:rPr>
              <a:t>│       ├── server.js</a:t>
            </a:r>
            <a:endParaRPr b="1" sz="2000">
              <a:solidFill>
                <a:srgbClr val="00BF63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0" lvl="0" marL="0" rtl="0" algn="l">
              <a:lnSpc>
                <a:spcPct val="105008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2000">
                <a:solidFill>
                  <a:srgbClr val="00BF63"/>
                </a:solidFill>
                <a:latin typeface="Raleway"/>
                <a:ea typeface="Raleway"/>
                <a:cs typeface="Raleway"/>
                <a:sym typeface="Raleway"/>
              </a:rPr>
              <a:t>│       ├── utils.js</a:t>
            </a:r>
            <a:endParaRPr b="1" sz="2000">
              <a:solidFill>
                <a:srgbClr val="00BF63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0" lvl="0" marL="0" rtl="0" algn="l">
              <a:lnSpc>
                <a:spcPct val="105008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2000">
                <a:solidFill>
                  <a:srgbClr val="00BF63"/>
                </a:solidFill>
                <a:latin typeface="Raleway"/>
                <a:ea typeface="Raleway"/>
                <a:cs typeface="Raleway"/>
                <a:sym typeface="Raleway"/>
              </a:rPr>
              <a:t>│       ├── .env</a:t>
            </a:r>
            <a:endParaRPr b="1" sz="2000">
              <a:solidFill>
                <a:srgbClr val="00BF63"/>
              </a:solidFill>
              <a:latin typeface="Raleway"/>
              <a:ea typeface="Raleway"/>
              <a:cs typeface="Raleway"/>
              <a:sym typeface="Raleway"/>
            </a:endParaRPr>
          </a:p>
        </p:txBody>
      </p:sp>
      <p:pic>
        <p:nvPicPr>
          <p:cNvPr id="228" name="Google Shape;228;p14"/>
          <p:cNvPicPr preferRelativeResize="0"/>
          <p:nvPr/>
        </p:nvPicPr>
        <p:blipFill rotWithShape="1">
          <a:blip r:embed="rId4">
            <a:alphaModFix/>
          </a:blip>
          <a:srcRect b="11260" l="19519" r="19501" t="9775"/>
          <a:stretch/>
        </p:blipFill>
        <p:spPr>
          <a:xfrm>
            <a:off x="16461200" y="198575"/>
            <a:ext cx="1532649" cy="19846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29" name="Google Shape;229;p14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8278051" y="1266205"/>
            <a:ext cx="4581000" cy="8604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4" name="Google Shape;234;p16"/>
          <p:cNvGrpSpPr/>
          <p:nvPr/>
        </p:nvGrpSpPr>
        <p:grpSpPr>
          <a:xfrm>
            <a:off x="919199" y="-915527"/>
            <a:ext cx="1660787" cy="1650512"/>
            <a:chOff x="0" y="-47625"/>
            <a:chExt cx="437406" cy="434700"/>
          </a:xfrm>
        </p:grpSpPr>
        <p:sp>
          <p:nvSpPr>
            <p:cNvPr id="235" name="Google Shape;235;p16"/>
            <p:cNvSpPr/>
            <p:nvPr/>
          </p:nvSpPr>
          <p:spPr>
            <a:xfrm>
              <a:off x="0" y="0"/>
              <a:ext cx="437406" cy="387002"/>
            </a:xfrm>
            <a:custGeom>
              <a:rect b="b" l="l" r="r" t="t"/>
              <a:pathLst>
                <a:path extrusionOk="0" h="387002" w="437406">
                  <a:moveTo>
                    <a:pt x="0" y="0"/>
                  </a:moveTo>
                  <a:lnTo>
                    <a:pt x="437406" y="0"/>
                  </a:lnTo>
                  <a:lnTo>
                    <a:pt x="437406" y="387002"/>
                  </a:lnTo>
                  <a:lnTo>
                    <a:pt x="0" y="387002"/>
                  </a:lnTo>
                  <a:close/>
                </a:path>
              </a:pathLst>
            </a:custGeom>
            <a:solidFill>
              <a:srgbClr val="7ED957"/>
            </a:solidFill>
            <a:ln>
              <a:noFill/>
            </a:ln>
          </p:spPr>
        </p:sp>
        <p:sp>
          <p:nvSpPr>
            <p:cNvPr id="236" name="Google Shape;236;p16"/>
            <p:cNvSpPr txBox="1"/>
            <p:nvPr/>
          </p:nvSpPr>
          <p:spPr>
            <a:xfrm>
              <a:off x="0" y="-47625"/>
              <a:ext cx="437400" cy="434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37" name="Google Shape;237;p16"/>
          <p:cNvGrpSpPr/>
          <p:nvPr/>
        </p:nvGrpSpPr>
        <p:grpSpPr>
          <a:xfrm>
            <a:off x="2664518" y="-915527"/>
            <a:ext cx="489800" cy="1650512"/>
            <a:chOff x="0" y="-47625"/>
            <a:chExt cx="129000" cy="434700"/>
          </a:xfrm>
        </p:grpSpPr>
        <p:sp>
          <p:nvSpPr>
            <p:cNvPr id="238" name="Google Shape;238;p16"/>
            <p:cNvSpPr/>
            <p:nvPr/>
          </p:nvSpPr>
          <p:spPr>
            <a:xfrm>
              <a:off x="0" y="0"/>
              <a:ext cx="128975" cy="387002"/>
            </a:xfrm>
            <a:custGeom>
              <a:rect b="b" l="l" r="r" t="t"/>
              <a:pathLst>
                <a:path extrusionOk="0" h="387002" w="128975">
                  <a:moveTo>
                    <a:pt x="0" y="0"/>
                  </a:moveTo>
                  <a:lnTo>
                    <a:pt x="128975" y="0"/>
                  </a:lnTo>
                  <a:lnTo>
                    <a:pt x="128975" y="387002"/>
                  </a:lnTo>
                  <a:lnTo>
                    <a:pt x="0" y="387002"/>
                  </a:lnTo>
                  <a:close/>
                </a:path>
              </a:pathLst>
            </a:custGeom>
            <a:solidFill>
              <a:srgbClr val="00BF63"/>
            </a:solidFill>
            <a:ln>
              <a:noFill/>
            </a:ln>
          </p:spPr>
        </p:sp>
        <p:sp>
          <p:nvSpPr>
            <p:cNvPr id="239" name="Google Shape;239;p16"/>
            <p:cNvSpPr txBox="1"/>
            <p:nvPr/>
          </p:nvSpPr>
          <p:spPr>
            <a:xfrm>
              <a:off x="0" y="-47625"/>
              <a:ext cx="129000" cy="434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40" name="Google Shape;240;p16"/>
          <p:cNvSpPr txBox="1"/>
          <p:nvPr/>
        </p:nvSpPr>
        <p:spPr>
          <a:xfrm>
            <a:off x="4248500" y="340975"/>
            <a:ext cx="10881600" cy="793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5004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156"/>
              <a:buFont typeface="Arial"/>
              <a:buNone/>
            </a:pPr>
            <a:r>
              <a:rPr b="1" i="0" lang="en-US" sz="5156" u="none" cap="none" strike="noStrike">
                <a:solidFill>
                  <a:srgbClr val="7ED957"/>
                </a:solidFill>
                <a:latin typeface="Proxima Nova"/>
                <a:ea typeface="Proxima Nova"/>
                <a:cs typeface="Proxima Nova"/>
                <a:sym typeface="Proxima Nova"/>
              </a:rPr>
              <a:t>API - Token JWT (Access / Refresh)</a:t>
            </a:r>
            <a:endParaRPr b="0" i="0" sz="2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1" name="Google Shape;241;p16"/>
          <p:cNvSpPr txBox="1"/>
          <p:nvPr/>
        </p:nvSpPr>
        <p:spPr>
          <a:xfrm>
            <a:off x="377800" y="1431225"/>
            <a:ext cx="15879300" cy="8916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105008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2500">
                <a:solidFill>
                  <a:srgbClr val="00BF63"/>
                </a:solidFill>
                <a:latin typeface="Raleway"/>
                <a:ea typeface="Raleway"/>
                <a:cs typeface="Raleway"/>
                <a:sym typeface="Raleway"/>
              </a:rPr>
              <a:t>Para acessar e utilizar nossa API, é necessário um processo de autenticação via token JWT (JSON Web Token).</a:t>
            </a:r>
            <a:endParaRPr b="1" sz="2500">
              <a:solidFill>
                <a:srgbClr val="00BF63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0" lvl="0" marL="0" rtl="0" algn="l">
              <a:lnSpc>
                <a:spcPct val="105008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b="1" sz="2500">
              <a:solidFill>
                <a:srgbClr val="00BF63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0" lvl="0" marL="0" rtl="0" algn="l">
              <a:lnSpc>
                <a:spcPct val="105008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2500">
                <a:solidFill>
                  <a:srgbClr val="00BF63"/>
                </a:solidFill>
                <a:latin typeface="Raleway"/>
                <a:ea typeface="Raleway"/>
                <a:cs typeface="Raleway"/>
                <a:sym typeface="Raleway"/>
              </a:rPr>
              <a:t>O token JWT é gerado no momento do login com e-mail e senha para os usuários e serve para garantir a segurança de todas as interações. Ele funciona como uma chave de acesso, permitindo que se consuma os endpoints da API de acordo com as suas permissões.</a:t>
            </a:r>
            <a:endParaRPr b="1" sz="2500">
              <a:solidFill>
                <a:srgbClr val="00BF63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0" lvl="0" marL="0" rtl="0" algn="l">
              <a:lnSpc>
                <a:spcPct val="105008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b="1" sz="2500">
              <a:solidFill>
                <a:srgbClr val="00BF63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0" lvl="0" marL="0" rtl="0" algn="l">
              <a:lnSpc>
                <a:spcPct val="105008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2500">
                <a:solidFill>
                  <a:srgbClr val="00BF63"/>
                </a:solidFill>
                <a:latin typeface="Raleway"/>
                <a:ea typeface="Raleway"/>
                <a:cs typeface="Raleway"/>
                <a:sym typeface="Raleway"/>
              </a:rPr>
              <a:t>A mochila, atuando como um cliente IoT, realiza um "login" inicial utilizando suas próprias credenciais: um código de identificação e uma assinatura (gerada a partir da data-hora atual e uma Chave-Privada).</a:t>
            </a:r>
            <a:endParaRPr b="1" sz="2500">
              <a:solidFill>
                <a:srgbClr val="00BF63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0" lvl="0" marL="0" rtl="0" algn="l">
              <a:lnSpc>
                <a:spcPct val="105008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b="1" sz="2500">
              <a:solidFill>
                <a:srgbClr val="00BF63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0" lvl="0" marL="0" marR="0" rtl="0" algn="l">
              <a:lnSpc>
                <a:spcPct val="105008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i="0" lang="en-US" sz="2500" u="none" cap="none" strike="noStrike">
                <a:solidFill>
                  <a:srgbClr val="00BF63"/>
                </a:solidFill>
                <a:latin typeface="Raleway"/>
                <a:ea typeface="Raleway"/>
                <a:cs typeface="Raleway"/>
                <a:sym typeface="Raleway"/>
              </a:rPr>
              <a:t>Para aumentar a segurança e a usabilidade, nossa API utiliza um par de tokens: o Token de Acesso (Access Token) e o Token de Atualização (Refresh Token).</a:t>
            </a:r>
            <a:endParaRPr b="1" i="0" sz="2500" u="none" cap="none" strike="noStrike">
              <a:solidFill>
                <a:srgbClr val="00BF63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0" lvl="0" marL="0" marR="0" rtl="0" algn="l">
              <a:lnSpc>
                <a:spcPct val="105008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b="1" i="0" sz="2500" u="none" cap="none" strike="noStrike">
              <a:solidFill>
                <a:srgbClr val="00BF63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0" lvl="0" marL="0" marR="0" rtl="0" algn="l">
              <a:lnSpc>
                <a:spcPct val="105008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i="0" lang="en-US" sz="2500" u="none" cap="none" strike="noStrike">
                <a:solidFill>
                  <a:srgbClr val="00BF63"/>
                </a:solidFill>
                <a:latin typeface="Raleway"/>
                <a:ea typeface="Raleway"/>
                <a:cs typeface="Raleway"/>
                <a:sym typeface="Raleway"/>
              </a:rPr>
              <a:t>O Token de Acesso é a sua chave para interagir com a API. Ele é de curta duração e expira rapidamente (em 15 minutos). Isso é uma medida de segurança, pois, se for interceptado, o risco de uso indevido é limitado.</a:t>
            </a:r>
            <a:endParaRPr b="1" i="0" sz="2500" u="none" cap="none" strike="noStrike">
              <a:solidFill>
                <a:srgbClr val="00BF63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0" lvl="0" marL="0" marR="0" rtl="0" algn="l">
              <a:lnSpc>
                <a:spcPct val="105008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b="1" i="0" sz="2500" u="none" cap="none" strike="noStrike">
              <a:solidFill>
                <a:srgbClr val="00BF63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0" lvl="0" marL="0" marR="0" rtl="0" algn="l">
              <a:lnSpc>
                <a:spcPct val="105008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i="0" lang="en-US" sz="2500" u="none" cap="none" strike="noStrike">
                <a:solidFill>
                  <a:srgbClr val="00BF63"/>
                </a:solidFill>
                <a:latin typeface="Raleway"/>
                <a:ea typeface="Raleway"/>
                <a:cs typeface="Raleway"/>
                <a:sym typeface="Raleway"/>
              </a:rPr>
              <a:t>O Token de Atualização, por outro lado, tem uma vida útil mais longa (Mobile: 60 dias | Web: 1 dia | I</a:t>
            </a:r>
            <a:r>
              <a:rPr b="1" lang="en-US" sz="2500">
                <a:solidFill>
                  <a:srgbClr val="00BF63"/>
                </a:solidFill>
                <a:latin typeface="Raleway"/>
                <a:ea typeface="Raleway"/>
                <a:cs typeface="Raleway"/>
                <a:sym typeface="Raleway"/>
              </a:rPr>
              <a:t>o</a:t>
            </a:r>
            <a:r>
              <a:rPr b="1" i="0" lang="en-US" sz="2500" u="none" cap="none" strike="noStrike">
                <a:solidFill>
                  <a:srgbClr val="00BF63"/>
                </a:solidFill>
                <a:latin typeface="Raleway"/>
                <a:ea typeface="Raleway"/>
                <a:cs typeface="Raleway"/>
                <a:sym typeface="Raleway"/>
              </a:rPr>
              <a:t>T: </a:t>
            </a:r>
            <a:r>
              <a:rPr b="1" lang="en-US" sz="2500">
                <a:solidFill>
                  <a:srgbClr val="00BF63"/>
                </a:solidFill>
                <a:latin typeface="Raleway"/>
                <a:ea typeface="Raleway"/>
                <a:cs typeface="Raleway"/>
                <a:sym typeface="Raleway"/>
              </a:rPr>
              <a:t>1 dia</a:t>
            </a:r>
            <a:r>
              <a:rPr b="1" i="0" lang="en-US" sz="2500" u="none" cap="none" strike="noStrike">
                <a:solidFill>
                  <a:srgbClr val="00BF63"/>
                </a:solidFill>
                <a:latin typeface="Raleway"/>
                <a:ea typeface="Raleway"/>
                <a:cs typeface="Raleway"/>
                <a:sym typeface="Raleway"/>
              </a:rPr>
              <a:t>). Ele não é usado para acessar a API diretamente. Sua única função é obter um novo Token de Acesso quando o antigo expirar, sem que o usuário precise fazer o login novamente. Isso garante uma experiência de uso contínua, mantendo a segurança.</a:t>
            </a:r>
            <a:endParaRPr b="1" i="0" sz="2500" u="none" cap="none" strike="noStrike">
              <a:solidFill>
                <a:srgbClr val="00BF63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0" lvl="0" marL="0" marR="0" rtl="0" algn="l">
              <a:lnSpc>
                <a:spcPct val="105008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t/>
            </a:r>
            <a:endParaRPr b="1" i="0" sz="2800" u="none" cap="none" strike="noStrike">
              <a:solidFill>
                <a:srgbClr val="00BF63"/>
              </a:solidFill>
              <a:latin typeface="Raleway"/>
              <a:ea typeface="Raleway"/>
              <a:cs typeface="Raleway"/>
              <a:sym typeface="Raleway"/>
            </a:endParaRPr>
          </a:p>
        </p:txBody>
      </p:sp>
      <p:pic>
        <p:nvPicPr>
          <p:cNvPr id="242" name="Google Shape;242;p16"/>
          <p:cNvPicPr preferRelativeResize="0"/>
          <p:nvPr/>
        </p:nvPicPr>
        <p:blipFill rotWithShape="1">
          <a:blip r:embed="rId3">
            <a:alphaModFix/>
          </a:blip>
          <a:srcRect b="11260" l="19519" r="19501" t="9775"/>
          <a:stretch/>
        </p:blipFill>
        <p:spPr>
          <a:xfrm>
            <a:off x="16461200" y="198575"/>
            <a:ext cx="1532649" cy="19846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g39fbb9a373c_0_60"/>
          <p:cNvSpPr/>
          <p:nvPr/>
        </p:nvSpPr>
        <p:spPr>
          <a:xfrm>
            <a:off x="13248423" y="6490324"/>
            <a:ext cx="9023924" cy="4754183"/>
          </a:xfrm>
          <a:custGeom>
            <a:rect b="b" l="l" r="r" t="t"/>
            <a:pathLst>
              <a:path extrusionOk="0" h="7858154" w="11873584">
                <a:moveTo>
                  <a:pt x="0" y="0"/>
                </a:moveTo>
                <a:lnTo>
                  <a:pt x="11873584" y="0"/>
                </a:lnTo>
                <a:lnTo>
                  <a:pt x="11873584" y="7858154"/>
                </a:lnTo>
                <a:lnTo>
                  <a:pt x="0" y="785815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grpSp>
        <p:nvGrpSpPr>
          <p:cNvPr id="248" name="Google Shape;248;g39fbb9a373c_0_60"/>
          <p:cNvGrpSpPr/>
          <p:nvPr/>
        </p:nvGrpSpPr>
        <p:grpSpPr>
          <a:xfrm>
            <a:off x="919199" y="-915527"/>
            <a:ext cx="1660787" cy="1650512"/>
            <a:chOff x="0" y="-47625"/>
            <a:chExt cx="437406" cy="434700"/>
          </a:xfrm>
        </p:grpSpPr>
        <p:sp>
          <p:nvSpPr>
            <p:cNvPr id="249" name="Google Shape;249;g39fbb9a373c_0_60"/>
            <p:cNvSpPr/>
            <p:nvPr/>
          </p:nvSpPr>
          <p:spPr>
            <a:xfrm>
              <a:off x="0" y="0"/>
              <a:ext cx="437406" cy="387002"/>
            </a:xfrm>
            <a:custGeom>
              <a:rect b="b" l="l" r="r" t="t"/>
              <a:pathLst>
                <a:path extrusionOk="0" h="387002" w="437406">
                  <a:moveTo>
                    <a:pt x="0" y="0"/>
                  </a:moveTo>
                  <a:lnTo>
                    <a:pt x="437406" y="0"/>
                  </a:lnTo>
                  <a:lnTo>
                    <a:pt x="437406" y="387002"/>
                  </a:lnTo>
                  <a:lnTo>
                    <a:pt x="0" y="387002"/>
                  </a:lnTo>
                  <a:close/>
                </a:path>
              </a:pathLst>
            </a:custGeom>
            <a:solidFill>
              <a:srgbClr val="7ED957"/>
            </a:solidFill>
            <a:ln>
              <a:noFill/>
            </a:ln>
          </p:spPr>
        </p:sp>
        <p:sp>
          <p:nvSpPr>
            <p:cNvPr id="250" name="Google Shape;250;g39fbb9a373c_0_60"/>
            <p:cNvSpPr txBox="1"/>
            <p:nvPr/>
          </p:nvSpPr>
          <p:spPr>
            <a:xfrm>
              <a:off x="0" y="-47625"/>
              <a:ext cx="437400" cy="434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51" name="Google Shape;251;g39fbb9a373c_0_60"/>
          <p:cNvGrpSpPr/>
          <p:nvPr/>
        </p:nvGrpSpPr>
        <p:grpSpPr>
          <a:xfrm>
            <a:off x="2664518" y="-915527"/>
            <a:ext cx="489800" cy="1650512"/>
            <a:chOff x="0" y="-47625"/>
            <a:chExt cx="129000" cy="434700"/>
          </a:xfrm>
        </p:grpSpPr>
        <p:sp>
          <p:nvSpPr>
            <p:cNvPr id="252" name="Google Shape;252;g39fbb9a373c_0_60"/>
            <p:cNvSpPr/>
            <p:nvPr/>
          </p:nvSpPr>
          <p:spPr>
            <a:xfrm>
              <a:off x="0" y="0"/>
              <a:ext cx="128975" cy="387002"/>
            </a:xfrm>
            <a:custGeom>
              <a:rect b="b" l="l" r="r" t="t"/>
              <a:pathLst>
                <a:path extrusionOk="0" h="387002" w="128975">
                  <a:moveTo>
                    <a:pt x="0" y="0"/>
                  </a:moveTo>
                  <a:lnTo>
                    <a:pt x="128975" y="0"/>
                  </a:lnTo>
                  <a:lnTo>
                    <a:pt x="128975" y="387002"/>
                  </a:lnTo>
                  <a:lnTo>
                    <a:pt x="0" y="387002"/>
                  </a:lnTo>
                  <a:close/>
                </a:path>
              </a:pathLst>
            </a:custGeom>
            <a:solidFill>
              <a:srgbClr val="00BF63"/>
            </a:solidFill>
            <a:ln>
              <a:noFill/>
            </a:ln>
          </p:spPr>
        </p:sp>
        <p:sp>
          <p:nvSpPr>
            <p:cNvPr id="253" name="Google Shape;253;g39fbb9a373c_0_60"/>
            <p:cNvSpPr txBox="1"/>
            <p:nvPr/>
          </p:nvSpPr>
          <p:spPr>
            <a:xfrm>
              <a:off x="0" y="-47625"/>
              <a:ext cx="129000" cy="434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54" name="Google Shape;254;g39fbb9a373c_0_60"/>
          <p:cNvSpPr txBox="1"/>
          <p:nvPr/>
        </p:nvSpPr>
        <p:spPr>
          <a:xfrm>
            <a:off x="6686850" y="198575"/>
            <a:ext cx="4914300" cy="793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5004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156"/>
              <a:buFont typeface="Arial"/>
              <a:buNone/>
            </a:pPr>
            <a:r>
              <a:rPr b="1" lang="en-US" sz="5156">
                <a:solidFill>
                  <a:srgbClr val="7ED957"/>
                </a:solidFill>
                <a:latin typeface="Proxima Nova"/>
                <a:ea typeface="Proxima Nova"/>
                <a:cs typeface="Proxima Nova"/>
                <a:sym typeface="Proxima Nova"/>
              </a:rPr>
              <a:t>WEB</a:t>
            </a:r>
            <a:r>
              <a:rPr b="1" i="0" lang="en-US" sz="5156" u="none" cap="none" strike="noStrike">
                <a:solidFill>
                  <a:srgbClr val="7ED957"/>
                </a:solidFill>
                <a:latin typeface="Proxima Nova"/>
                <a:ea typeface="Proxima Nova"/>
                <a:cs typeface="Proxima Nova"/>
                <a:sym typeface="Proxima Nova"/>
              </a:rPr>
              <a:t> - Estrutura</a:t>
            </a:r>
            <a:endParaRPr b="0" i="0" sz="2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5" name="Google Shape;255;g39fbb9a373c_0_60"/>
          <p:cNvSpPr txBox="1"/>
          <p:nvPr/>
        </p:nvSpPr>
        <p:spPr>
          <a:xfrm>
            <a:off x="919198" y="1206047"/>
            <a:ext cx="6123600" cy="871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5008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i="0" lang="en-US" sz="2000" u="none" cap="none" strike="noStrike">
                <a:solidFill>
                  <a:srgbClr val="00BF63"/>
                </a:solidFill>
                <a:latin typeface="Raleway"/>
                <a:ea typeface="Raleway"/>
                <a:cs typeface="Raleway"/>
                <a:sym typeface="Raleway"/>
              </a:rPr>
              <a:t>DSM-G06-PI4-2025-2/</a:t>
            </a:r>
            <a:endParaRPr b="1" i="0" sz="2000" u="none" cap="none" strike="noStrike">
              <a:solidFill>
                <a:srgbClr val="00BF63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0" lvl="0" marL="0" marR="0" rtl="0" algn="l">
              <a:lnSpc>
                <a:spcPct val="105008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i="0" lang="en-US" sz="2000" u="none" cap="none" strike="noStrike">
                <a:solidFill>
                  <a:srgbClr val="00BF63"/>
                </a:solidFill>
                <a:latin typeface="Raleway"/>
                <a:ea typeface="Raleway"/>
                <a:cs typeface="Raleway"/>
                <a:sym typeface="Raleway"/>
              </a:rPr>
              <a:t>├── API/</a:t>
            </a:r>
            <a:endParaRPr b="1" i="0" sz="2000" u="none" cap="none" strike="noStrike">
              <a:solidFill>
                <a:srgbClr val="00BF63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0" lvl="0" marL="0" marR="0" rtl="0" algn="l">
              <a:lnSpc>
                <a:spcPct val="105008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i="0" lang="en-US" sz="2000" u="none" cap="none" strike="noStrike">
                <a:solidFill>
                  <a:srgbClr val="00BF63"/>
                </a:solidFill>
                <a:latin typeface="Raleway"/>
                <a:ea typeface="Raleway"/>
                <a:cs typeface="Raleway"/>
                <a:sym typeface="Raleway"/>
              </a:rPr>
              <a:t>│   ├── prisma/</a:t>
            </a:r>
            <a:endParaRPr b="1" i="0" sz="2000" u="none" cap="none" strike="noStrike">
              <a:solidFill>
                <a:srgbClr val="00BF63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0" lvl="0" marL="0" marR="0" rtl="0" algn="l">
              <a:lnSpc>
                <a:spcPct val="105008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i="0" lang="en-US" sz="2000" u="none" cap="none" strike="noStrike">
                <a:solidFill>
                  <a:srgbClr val="00BF63"/>
                </a:solidFill>
                <a:latin typeface="Raleway"/>
                <a:ea typeface="Raleway"/>
                <a:cs typeface="Raleway"/>
                <a:sym typeface="Raleway"/>
              </a:rPr>
              <a:t>│   │   ├── migrations/</a:t>
            </a:r>
            <a:endParaRPr b="1" i="0" sz="2000" u="none" cap="none" strike="noStrike">
              <a:solidFill>
                <a:srgbClr val="00BF63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0" lvl="0" marL="0" marR="0" rtl="0" algn="l">
              <a:lnSpc>
                <a:spcPct val="105008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i="0" lang="en-US" sz="2000" u="none" cap="none" strike="noStrike">
                <a:solidFill>
                  <a:srgbClr val="00BF63"/>
                </a:solidFill>
                <a:latin typeface="Raleway"/>
                <a:ea typeface="Raleway"/>
                <a:cs typeface="Raleway"/>
                <a:sym typeface="Raleway"/>
              </a:rPr>
              <a:t>│   │   └── schema.prisma</a:t>
            </a:r>
            <a:endParaRPr b="1" i="0" sz="2000" u="none" cap="none" strike="noStrike">
              <a:solidFill>
                <a:srgbClr val="00BF63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0" lvl="0" marL="0" marR="0" rtl="0" algn="l">
              <a:lnSpc>
                <a:spcPct val="105008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i="0" lang="en-US" sz="2000" u="none" cap="none" strike="noStrike">
                <a:solidFill>
                  <a:srgbClr val="00BF63"/>
                </a:solidFill>
                <a:latin typeface="Raleway"/>
                <a:ea typeface="Raleway"/>
                <a:cs typeface="Raleway"/>
                <a:sym typeface="Raleway"/>
              </a:rPr>
              <a:t>│   └── src/</a:t>
            </a:r>
            <a:endParaRPr b="1" i="0" sz="2000" u="none" cap="none" strike="noStrike">
              <a:solidFill>
                <a:srgbClr val="00BF63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0" lvl="0" marL="0" marR="0" rtl="0" algn="l">
              <a:lnSpc>
                <a:spcPct val="105008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i="0" lang="en-US" sz="2000" u="none" cap="none" strike="noStrike">
                <a:solidFill>
                  <a:srgbClr val="00BF63"/>
                </a:solidFill>
                <a:latin typeface="Raleway"/>
                <a:ea typeface="Raleway"/>
                <a:cs typeface="Raleway"/>
                <a:sym typeface="Raleway"/>
              </a:rPr>
              <a:t>│       ├── controllers/</a:t>
            </a:r>
            <a:endParaRPr b="1" i="0" sz="2000" u="none" cap="none" strike="noStrike">
              <a:solidFill>
                <a:srgbClr val="00BF63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0" lvl="0" marL="0" marR="0" rtl="0" algn="l">
              <a:lnSpc>
                <a:spcPct val="105008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i="0" lang="en-US" sz="2000" u="none" cap="none" strike="noStrike">
                <a:solidFill>
                  <a:srgbClr val="00BF63"/>
                </a:solidFill>
                <a:latin typeface="Raleway"/>
                <a:ea typeface="Raleway"/>
                <a:cs typeface="Raleway"/>
                <a:sym typeface="Raleway"/>
              </a:rPr>
              <a:t>│       │   ├── alertas.js</a:t>
            </a:r>
            <a:endParaRPr b="1" i="0" sz="2000" u="none" cap="none" strike="noStrike">
              <a:solidFill>
                <a:srgbClr val="00BF63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0" lvl="0" marL="0" marR="0" rtl="0" algn="l">
              <a:lnSpc>
                <a:spcPct val="105008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i="0" lang="en-US" sz="2000" u="none" cap="none" strike="noStrike">
                <a:solidFill>
                  <a:srgbClr val="00BF63"/>
                </a:solidFill>
                <a:latin typeface="Raleway"/>
                <a:ea typeface="Raleway"/>
                <a:cs typeface="Raleway"/>
                <a:sym typeface="Raleway"/>
              </a:rPr>
              <a:t>│       │   ├── medicoes.js</a:t>
            </a:r>
            <a:endParaRPr b="1" i="0" sz="2000" u="none" cap="none" strike="noStrike">
              <a:solidFill>
                <a:srgbClr val="00BF63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0" lvl="0" marL="0" marR="0" rtl="0" algn="l">
              <a:lnSpc>
                <a:spcPct val="105008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i="0" lang="en-US" sz="2000" u="none" cap="none" strike="noStrike">
                <a:solidFill>
                  <a:srgbClr val="00BF63"/>
                </a:solidFill>
                <a:latin typeface="Raleway"/>
                <a:ea typeface="Raleway"/>
                <a:cs typeface="Raleway"/>
                <a:sym typeface="Raleway"/>
              </a:rPr>
              <a:t>│       │   ├── mochilas.js</a:t>
            </a:r>
            <a:endParaRPr b="1" i="0" sz="2000" u="none" cap="none" strike="noStrike">
              <a:solidFill>
                <a:srgbClr val="00BF63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0" lvl="0" marL="0" marR="0" rtl="0" algn="l">
              <a:lnSpc>
                <a:spcPct val="105008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i="0" lang="en-US" sz="2000" u="none" cap="none" strike="noStrike">
                <a:solidFill>
                  <a:srgbClr val="00BF63"/>
                </a:solidFill>
                <a:latin typeface="Raleway"/>
                <a:ea typeface="Raleway"/>
                <a:cs typeface="Raleway"/>
                <a:sym typeface="Raleway"/>
              </a:rPr>
              <a:t>│       │   ├── tokenJWT.js</a:t>
            </a:r>
            <a:endParaRPr b="1" i="0" sz="2000" u="none" cap="none" strike="noStrike">
              <a:solidFill>
                <a:srgbClr val="00BF63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0" lvl="0" marL="0" marR="0" rtl="0" algn="l">
              <a:lnSpc>
                <a:spcPct val="105008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i="0" lang="en-US" sz="2000" u="none" cap="none" strike="noStrike">
                <a:solidFill>
                  <a:srgbClr val="00BF63"/>
                </a:solidFill>
                <a:latin typeface="Raleway"/>
                <a:ea typeface="Raleway"/>
                <a:cs typeface="Raleway"/>
                <a:sym typeface="Raleway"/>
              </a:rPr>
              <a:t>│       │   ├── usuarios.js</a:t>
            </a:r>
            <a:endParaRPr b="1" i="0" sz="2000" u="none" cap="none" strike="noStrike">
              <a:solidFill>
                <a:srgbClr val="00BF63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0" lvl="0" marL="0" marR="0" rtl="0" algn="l">
              <a:lnSpc>
                <a:spcPct val="105008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i="0" lang="en-US" sz="2000" u="none" cap="none" strike="noStrike">
                <a:solidFill>
                  <a:srgbClr val="00BF63"/>
                </a:solidFill>
                <a:latin typeface="Raleway"/>
                <a:ea typeface="Raleway"/>
                <a:cs typeface="Raleway"/>
                <a:sym typeface="Raleway"/>
              </a:rPr>
              <a:t>│       │   └── usuariosMochilas.js</a:t>
            </a:r>
            <a:endParaRPr b="1" i="0" sz="2000" u="none" cap="none" strike="noStrike">
              <a:solidFill>
                <a:srgbClr val="00BF63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0" lvl="0" marL="0" marR="0" rtl="0" algn="l">
              <a:lnSpc>
                <a:spcPct val="105008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i="0" lang="en-US" sz="2000" u="none" cap="none" strike="noStrike">
                <a:solidFill>
                  <a:srgbClr val="00BF63"/>
                </a:solidFill>
                <a:latin typeface="Raleway"/>
                <a:ea typeface="Raleway"/>
                <a:cs typeface="Raleway"/>
                <a:sym typeface="Raleway"/>
              </a:rPr>
              <a:t>│       ├── middlewares/</a:t>
            </a:r>
            <a:endParaRPr b="1" i="0" sz="2000" u="none" cap="none" strike="noStrike">
              <a:solidFill>
                <a:srgbClr val="00BF63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0" lvl="0" marL="0" rtl="0" algn="l">
              <a:lnSpc>
                <a:spcPct val="105008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2000">
                <a:solidFill>
                  <a:srgbClr val="00BF63"/>
                </a:solidFill>
                <a:latin typeface="Raleway"/>
                <a:ea typeface="Raleway"/>
                <a:cs typeface="Raleway"/>
                <a:sym typeface="Raleway"/>
              </a:rPr>
              <a:t>│       ├── public/</a:t>
            </a:r>
            <a:endParaRPr b="1" sz="2000">
              <a:solidFill>
                <a:srgbClr val="00BF63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0" lvl="0" marL="0" marR="0" rtl="0" algn="l">
              <a:lnSpc>
                <a:spcPct val="105008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i="0" lang="en-US" sz="2000" u="none" cap="none" strike="noStrike">
                <a:solidFill>
                  <a:srgbClr val="00BF63"/>
                </a:solidFill>
                <a:latin typeface="Raleway"/>
                <a:ea typeface="Raleway"/>
                <a:cs typeface="Raleway"/>
                <a:sym typeface="Raleway"/>
              </a:rPr>
              <a:t>│       └── routes/</a:t>
            </a:r>
            <a:endParaRPr b="1" i="0" sz="2000" u="none" cap="none" strike="noStrike">
              <a:solidFill>
                <a:srgbClr val="00BF63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0" lvl="0" marL="0" marR="0" rtl="0" algn="l">
              <a:lnSpc>
                <a:spcPct val="105008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i="0" lang="en-US" sz="2000" u="none" cap="none" strike="noStrike">
                <a:solidFill>
                  <a:srgbClr val="00BF63"/>
                </a:solidFill>
                <a:latin typeface="Raleway"/>
                <a:ea typeface="Raleway"/>
                <a:cs typeface="Raleway"/>
                <a:sym typeface="Raleway"/>
              </a:rPr>
              <a:t>│           ├── alertas.js</a:t>
            </a:r>
            <a:endParaRPr b="1" i="0" sz="2000" u="none" cap="none" strike="noStrike">
              <a:solidFill>
                <a:srgbClr val="00BF63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0" lvl="0" marL="0" marR="0" rtl="0" algn="l">
              <a:lnSpc>
                <a:spcPct val="105008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i="0" lang="en-US" sz="2000" u="none" cap="none" strike="noStrike">
                <a:solidFill>
                  <a:srgbClr val="00BF63"/>
                </a:solidFill>
                <a:latin typeface="Raleway"/>
                <a:ea typeface="Raleway"/>
                <a:cs typeface="Raleway"/>
                <a:sym typeface="Raleway"/>
              </a:rPr>
              <a:t>│           ├── medicoes.js</a:t>
            </a:r>
            <a:endParaRPr b="1" i="0" sz="2000" u="none" cap="none" strike="noStrike">
              <a:solidFill>
                <a:srgbClr val="00BF63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0" lvl="0" marL="0" marR="0" rtl="0" algn="l">
              <a:lnSpc>
                <a:spcPct val="105008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i="0" lang="en-US" sz="2000" u="none" cap="none" strike="noStrike">
                <a:solidFill>
                  <a:srgbClr val="00BF63"/>
                </a:solidFill>
                <a:latin typeface="Raleway"/>
                <a:ea typeface="Raleway"/>
                <a:cs typeface="Raleway"/>
                <a:sym typeface="Raleway"/>
              </a:rPr>
              <a:t>│           ├── mochilas.js</a:t>
            </a:r>
            <a:endParaRPr b="1" i="0" sz="2000" u="none" cap="none" strike="noStrike">
              <a:solidFill>
                <a:srgbClr val="00BF63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0" lvl="0" marL="0" marR="0" rtl="0" algn="l">
              <a:lnSpc>
                <a:spcPct val="105008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i="0" lang="en-US" sz="2000" u="none" cap="none" strike="noStrike">
                <a:solidFill>
                  <a:srgbClr val="00BF63"/>
                </a:solidFill>
                <a:latin typeface="Raleway"/>
                <a:ea typeface="Raleway"/>
                <a:cs typeface="Raleway"/>
                <a:sym typeface="Raleway"/>
              </a:rPr>
              <a:t>│           ├── tokenJWT.js</a:t>
            </a:r>
            <a:endParaRPr b="1" i="0" sz="2000" u="none" cap="none" strike="noStrike">
              <a:solidFill>
                <a:srgbClr val="00BF63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0" lvl="0" marL="0" marR="0" rtl="0" algn="l">
              <a:lnSpc>
                <a:spcPct val="105008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i="0" lang="en-US" sz="2000" u="none" cap="none" strike="noStrike">
                <a:solidFill>
                  <a:srgbClr val="00BF63"/>
                </a:solidFill>
                <a:latin typeface="Raleway"/>
                <a:ea typeface="Raleway"/>
                <a:cs typeface="Raleway"/>
                <a:sym typeface="Raleway"/>
              </a:rPr>
              <a:t>│           ├── usuarios.js</a:t>
            </a:r>
            <a:endParaRPr b="1" i="0" sz="2000" u="none" cap="none" strike="noStrike">
              <a:solidFill>
                <a:srgbClr val="00BF63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0" lvl="0" marL="0" marR="0" rtl="0" algn="l">
              <a:lnSpc>
                <a:spcPct val="105008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i="0" lang="en-US" sz="2000" u="none" cap="none" strike="noStrike">
                <a:solidFill>
                  <a:srgbClr val="00BF63"/>
                </a:solidFill>
                <a:latin typeface="Raleway"/>
                <a:ea typeface="Raleway"/>
                <a:cs typeface="Raleway"/>
                <a:sym typeface="Raleway"/>
              </a:rPr>
              <a:t>│           └── usuariosMochilas.js</a:t>
            </a:r>
            <a:endParaRPr b="1" i="0" sz="2000" u="none" cap="none" strike="noStrike">
              <a:solidFill>
                <a:srgbClr val="00BF63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0" lvl="0" marL="0" rtl="0" algn="l">
              <a:lnSpc>
                <a:spcPct val="105008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2000">
                <a:solidFill>
                  <a:srgbClr val="00BF63"/>
                </a:solidFill>
                <a:latin typeface="Raleway"/>
                <a:ea typeface="Raleway"/>
                <a:cs typeface="Raleway"/>
                <a:sym typeface="Raleway"/>
              </a:rPr>
              <a:t>│       ├── app.js</a:t>
            </a:r>
            <a:endParaRPr b="1" sz="2000">
              <a:solidFill>
                <a:srgbClr val="00BF63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0" lvl="0" marL="0" rtl="0" algn="l">
              <a:lnSpc>
                <a:spcPct val="105008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2000">
                <a:solidFill>
                  <a:srgbClr val="00BF63"/>
                </a:solidFill>
                <a:latin typeface="Raleway"/>
                <a:ea typeface="Raleway"/>
                <a:cs typeface="Raleway"/>
                <a:sym typeface="Raleway"/>
              </a:rPr>
              <a:t>│       ├── prisma.js</a:t>
            </a:r>
            <a:endParaRPr b="1" sz="2000">
              <a:solidFill>
                <a:srgbClr val="00BF63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0" lvl="0" marL="0" rtl="0" algn="l">
              <a:lnSpc>
                <a:spcPct val="105008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2000">
                <a:solidFill>
                  <a:srgbClr val="00BF63"/>
                </a:solidFill>
                <a:latin typeface="Raleway"/>
                <a:ea typeface="Raleway"/>
                <a:cs typeface="Raleway"/>
                <a:sym typeface="Raleway"/>
              </a:rPr>
              <a:t>│       ├── server.js</a:t>
            </a:r>
            <a:endParaRPr b="1" sz="2000">
              <a:solidFill>
                <a:srgbClr val="00BF63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0" lvl="0" marL="0" rtl="0" algn="l">
              <a:lnSpc>
                <a:spcPct val="105008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2000">
                <a:solidFill>
                  <a:srgbClr val="00BF63"/>
                </a:solidFill>
                <a:latin typeface="Raleway"/>
                <a:ea typeface="Raleway"/>
                <a:cs typeface="Raleway"/>
                <a:sym typeface="Raleway"/>
              </a:rPr>
              <a:t>│       ├── utils.js</a:t>
            </a:r>
            <a:endParaRPr b="1" sz="2000">
              <a:solidFill>
                <a:srgbClr val="00BF63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0" lvl="0" marL="0" rtl="0" algn="l">
              <a:lnSpc>
                <a:spcPct val="105008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2000">
                <a:solidFill>
                  <a:srgbClr val="00BF63"/>
                </a:solidFill>
                <a:latin typeface="Raleway"/>
                <a:ea typeface="Raleway"/>
                <a:cs typeface="Raleway"/>
                <a:sym typeface="Raleway"/>
              </a:rPr>
              <a:t>│       ├── .env</a:t>
            </a:r>
            <a:endParaRPr b="1" sz="2000">
              <a:solidFill>
                <a:srgbClr val="00BF63"/>
              </a:solidFill>
              <a:latin typeface="Raleway"/>
              <a:ea typeface="Raleway"/>
              <a:cs typeface="Raleway"/>
              <a:sym typeface="Raleway"/>
            </a:endParaRPr>
          </a:p>
        </p:txBody>
      </p:sp>
      <p:pic>
        <p:nvPicPr>
          <p:cNvPr id="256" name="Google Shape;256;g39fbb9a373c_0_60"/>
          <p:cNvPicPr preferRelativeResize="0"/>
          <p:nvPr/>
        </p:nvPicPr>
        <p:blipFill rotWithShape="1">
          <a:blip r:embed="rId4">
            <a:alphaModFix/>
          </a:blip>
          <a:srcRect b="11260" l="19519" r="19501" t="9775"/>
          <a:stretch/>
        </p:blipFill>
        <p:spPr>
          <a:xfrm>
            <a:off x="16461200" y="198575"/>
            <a:ext cx="1532649" cy="19846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57" name="Google Shape;257;g39fbb9a373c_0_60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8278051" y="1266205"/>
            <a:ext cx="4581000" cy="8604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g39fbb9a373c_0_45"/>
          <p:cNvSpPr/>
          <p:nvPr/>
        </p:nvSpPr>
        <p:spPr>
          <a:xfrm>
            <a:off x="13248423" y="6490324"/>
            <a:ext cx="9023924" cy="4754183"/>
          </a:xfrm>
          <a:custGeom>
            <a:rect b="b" l="l" r="r" t="t"/>
            <a:pathLst>
              <a:path extrusionOk="0" h="7858154" w="11873584">
                <a:moveTo>
                  <a:pt x="0" y="0"/>
                </a:moveTo>
                <a:lnTo>
                  <a:pt x="11873584" y="0"/>
                </a:lnTo>
                <a:lnTo>
                  <a:pt x="11873584" y="7858154"/>
                </a:lnTo>
                <a:lnTo>
                  <a:pt x="0" y="785815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grpSp>
        <p:nvGrpSpPr>
          <p:cNvPr id="263" name="Google Shape;263;g39fbb9a373c_0_45"/>
          <p:cNvGrpSpPr/>
          <p:nvPr/>
        </p:nvGrpSpPr>
        <p:grpSpPr>
          <a:xfrm>
            <a:off x="919199" y="-915527"/>
            <a:ext cx="1660787" cy="1650512"/>
            <a:chOff x="0" y="-47625"/>
            <a:chExt cx="437406" cy="434700"/>
          </a:xfrm>
        </p:grpSpPr>
        <p:sp>
          <p:nvSpPr>
            <p:cNvPr id="264" name="Google Shape;264;g39fbb9a373c_0_45"/>
            <p:cNvSpPr/>
            <p:nvPr/>
          </p:nvSpPr>
          <p:spPr>
            <a:xfrm>
              <a:off x="0" y="0"/>
              <a:ext cx="437406" cy="387002"/>
            </a:xfrm>
            <a:custGeom>
              <a:rect b="b" l="l" r="r" t="t"/>
              <a:pathLst>
                <a:path extrusionOk="0" h="387002" w="437406">
                  <a:moveTo>
                    <a:pt x="0" y="0"/>
                  </a:moveTo>
                  <a:lnTo>
                    <a:pt x="437406" y="0"/>
                  </a:lnTo>
                  <a:lnTo>
                    <a:pt x="437406" y="387002"/>
                  </a:lnTo>
                  <a:lnTo>
                    <a:pt x="0" y="387002"/>
                  </a:lnTo>
                  <a:close/>
                </a:path>
              </a:pathLst>
            </a:custGeom>
            <a:solidFill>
              <a:srgbClr val="7ED957"/>
            </a:solidFill>
            <a:ln>
              <a:noFill/>
            </a:ln>
          </p:spPr>
        </p:sp>
        <p:sp>
          <p:nvSpPr>
            <p:cNvPr id="265" name="Google Shape;265;g39fbb9a373c_0_45"/>
            <p:cNvSpPr txBox="1"/>
            <p:nvPr/>
          </p:nvSpPr>
          <p:spPr>
            <a:xfrm>
              <a:off x="0" y="-47625"/>
              <a:ext cx="437400" cy="434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66" name="Google Shape;266;g39fbb9a373c_0_45"/>
          <p:cNvGrpSpPr/>
          <p:nvPr/>
        </p:nvGrpSpPr>
        <p:grpSpPr>
          <a:xfrm>
            <a:off x="2664518" y="-915527"/>
            <a:ext cx="489800" cy="1650512"/>
            <a:chOff x="0" y="-47625"/>
            <a:chExt cx="129000" cy="434700"/>
          </a:xfrm>
        </p:grpSpPr>
        <p:sp>
          <p:nvSpPr>
            <p:cNvPr id="267" name="Google Shape;267;g39fbb9a373c_0_45"/>
            <p:cNvSpPr/>
            <p:nvPr/>
          </p:nvSpPr>
          <p:spPr>
            <a:xfrm>
              <a:off x="0" y="0"/>
              <a:ext cx="128975" cy="387002"/>
            </a:xfrm>
            <a:custGeom>
              <a:rect b="b" l="l" r="r" t="t"/>
              <a:pathLst>
                <a:path extrusionOk="0" h="387002" w="128975">
                  <a:moveTo>
                    <a:pt x="0" y="0"/>
                  </a:moveTo>
                  <a:lnTo>
                    <a:pt x="128975" y="0"/>
                  </a:lnTo>
                  <a:lnTo>
                    <a:pt x="128975" y="387002"/>
                  </a:lnTo>
                  <a:lnTo>
                    <a:pt x="0" y="387002"/>
                  </a:lnTo>
                  <a:close/>
                </a:path>
              </a:pathLst>
            </a:custGeom>
            <a:solidFill>
              <a:srgbClr val="00BF63"/>
            </a:solidFill>
            <a:ln>
              <a:noFill/>
            </a:ln>
          </p:spPr>
        </p:sp>
        <p:sp>
          <p:nvSpPr>
            <p:cNvPr id="268" name="Google Shape;268;g39fbb9a373c_0_45"/>
            <p:cNvSpPr txBox="1"/>
            <p:nvPr/>
          </p:nvSpPr>
          <p:spPr>
            <a:xfrm>
              <a:off x="0" y="-47625"/>
              <a:ext cx="129000" cy="434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69" name="Google Shape;269;g39fbb9a373c_0_45"/>
          <p:cNvSpPr txBox="1"/>
          <p:nvPr/>
        </p:nvSpPr>
        <p:spPr>
          <a:xfrm>
            <a:off x="6305100" y="235200"/>
            <a:ext cx="6123600" cy="793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5004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156"/>
              <a:buFont typeface="Arial"/>
              <a:buNone/>
            </a:pPr>
            <a:r>
              <a:rPr b="1" lang="en-US" sz="5156">
                <a:solidFill>
                  <a:srgbClr val="7ED957"/>
                </a:solidFill>
                <a:latin typeface="Proxima Nova"/>
                <a:ea typeface="Proxima Nova"/>
                <a:cs typeface="Proxima Nova"/>
                <a:sym typeface="Proxima Nova"/>
              </a:rPr>
              <a:t>MOBILE</a:t>
            </a:r>
            <a:r>
              <a:rPr b="1" i="0" lang="en-US" sz="5156" u="none" cap="none" strike="noStrike">
                <a:solidFill>
                  <a:srgbClr val="7ED957"/>
                </a:solidFill>
                <a:latin typeface="Proxima Nova"/>
                <a:ea typeface="Proxima Nova"/>
                <a:cs typeface="Proxima Nova"/>
                <a:sym typeface="Proxima Nova"/>
              </a:rPr>
              <a:t> - Estrutura</a:t>
            </a:r>
            <a:endParaRPr b="0" i="0" sz="2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0" name="Google Shape;270;g39fbb9a373c_0_45"/>
          <p:cNvSpPr txBox="1"/>
          <p:nvPr/>
        </p:nvSpPr>
        <p:spPr>
          <a:xfrm>
            <a:off x="919198" y="1206047"/>
            <a:ext cx="6123600" cy="9036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5008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i="0" lang="en-US" sz="2000" u="none" cap="none" strike="noStrike">
                <a:solidFill>
                  <a:srgbClr val="00BF63"/>
                </a:solidFill>
                <a:latin typeface="Raleway"/>
                <a:ea typeface="Raleway"/>
                <a:cs typeface="Raleway"/>
                <a:sym typeface="Raleway"/>
              </a:rPr>
              <a:t>DSM-G06-PI4-2025-2/</a:t>
            </a:r>
            <a:endParaRPr b="1" i="0" sz="2000" u="none" cap="none" strike="noStrike">
              <a:solidFill>
                <a:srgbClr val="00BF63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0" lvl="0" marL="0" marR="0" rtl="0" algn="l">
              <a:lnSpc>
                <a:spcPct val="105008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i="0" lang="en-US" sz="2000" u="none" cap="none" strike="noStrike">
                <a:solidFill>
                  <a:srgbClr val="00BF63"/>
                </a:solidFill>
                <a:latin typeface="Raleway"/>
                <a:ea typeface="Raleway"/>
                <a:cs typeface="Raleway"/>
                <a:sym typeface="Raleway"/>
              </a:rPr>
              <a:t>├── API/</a:t>
            </a:r>
            <a:endParaRPr b="1" i="0" sz="2000" u="none" cap="none" strike="noStrike">
              <a:solidFill>
                <a:srgbClr val="00BF63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0" lvl="0" marL="0" marR="0" rtl="0" algn="l">
              <a:lnSpc>
                <a:spcPct val="105008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i="0" lang="en-US" sz="2000" u="none" cap="none" strike="noStrike">
                <a:solidFill>
                  <a:srgbClr val="00BF63"/>
                </a:solidFill>
                <a:latin typeface="Raleway"/>
                <a:ea typeface="Raleway"/>
                <a:cs typeface="Raleway"/>
                <a:sym typeface="Raleway"/>
              </a:rPr>
              <a:t>│   ├── </a:t>
            </a:r>
            <a:r>
              <a:rPr b="1" lang="en-US" sz="2000">
                <a:solidFill>
                  <a:srgbClr val="00BF63"/>
                </a:solidFill>
                <a:latin typeface="Raleway"/>
                <a:ea typeface="Raleway"/>
                <a:cs typeface="Raleway"/>
                <a:sym typeface="Raleway"/>
              </a:rPr>
              <a:t>.expo</a:t>
            </a:r>
            <a:r>
              <a:rPr b="1" i="0" lang="en-US" sz="2000" u="none" cap="none" strike="noStrike">
                <a:solidFill>
                  <a:srgbClr val="00BF63"/>
                </a:solidFill>
                <a:latin typeface="Raleway"/>
                <a:ea typeface="Raleway"/>
                <a:cs typeface="Raleway"/>
                <a:sym typeface="Raleway"/>
              </a:rPr>
              <a:t>/</a:t>
            </a:r>
            <a:endParaRPr b="1" i="0" sz="2000" u="none" cap="none" strike="noStrike">
              <a:solidFill>
                <a:srgbClr val="00BF63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0" lvl="0" marL="0" rtl="0" algn="l">
              <a:lnSpc>
                <a:spcPct val="105008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2000">
                <a:solidFill>
                  <a:srgbClr val="00BF63"/>
                </a:solidFill>
                <a:latin typeface="Raleway"/>
                <a:ea typeface="Raleway"/>
                <a:cs typeface="Raleway"/>
                <a:sym typeface="Raleway"/>
              </a:rPr>
              <a:t>│   ├── assets/</a:t>
            </a:r>
            <a:endParaRPr b="1" sz="2000">
              <a:solidFill>
                <a:srgbClr val="00BF63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0" lvl="0" marL="0" rtl="0" algn="l">
              <a:lnSpc>
                <a:spcPct val="105008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2000">
                <a:solidFill>
                  <a:srgbClr val="00BF63"/>
                </a:solidFill>
                <a:latin typeface="Raleway"/>
                <a:ea typeface="Raleway"/>
                <a:cs typeface="Raleway"/>
                <a:sym typeface="Raleway"/>
              </a:rPr>
              <a:t>│   ├── node_modules/</a:t>
            </a:r>
            <a:endParaRPr b="1" sz="2000">
              <a:solidFill>
                <a:srgbClr val="00BF63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0" lvl="0" marL="0" marR="0" rtl="0" algn="l">
              <a:lnSpc>
                <a:spcPct val="105008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i="0" lang="en-US" sz="2000" u="none" cap="none" strike="noStrike">
                <a:solidFill>
                  <a:srgbClr val="00BF63"/>
                </a:solidFill>
                <a:latin typeface="Raleway"/>
                <a:ea typeface="Raleway"/>
                <a:cs typeface="Raleway"/>
                <a:sym typeface="Raleway"/>
              </a:rPr>
              <a:t>│   └── src/</a:t>
            </a:r>
            <a:endParaRPr b="1" i="0" sz="2000" u="none" cap="none" strike="noStrike">
              <a:solidFill>
                <a:srgbClr val="00BF63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0" lvl="0" marL="0" rtl="0" algn="l">
              <a:lnSpc>
                <a:spcPct val="105008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2000">
                <a:solidFill>
                  <a:srgbClr val="00BF63"/>
                </a:solidFill>
                <a:latin typeface="Raleway"/>
                <a:ea typeface="Raleway"/>
                <a:cs typeface="Raleway"/>
                <a:sym typeface="Raleway"/>
              </a:rPr>
              <a:t>│       ├── assets/</a:t>
            </a:r>
            <a:endParaRPr b="1" sz="2000">
              <a:solidFill>
                <a:srgbClr val="00BF63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0" lvl="0" marL="0" rtl="0" algn="l">
              <a:lnSpc>
                <a:spcPct val="105008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2000">
                <a:solidFill>
                  <a:srgbClr val="00BF63"/>
                </a:solidFill>
                <a:latin typeface="Raleway"/>
                <a:ea typeface="Raleway"/>
                <a:cs typeface="Raleway"/>
                <a:sym typeface="Raleway"/>
              </a:rPr>
              <a:t>│       ├── components/</a:t>
            </a:r>
            <a:endParaRPr b="1" sz="2000">
              <a:solidFill>
                <a:srgbClr val="00BF63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0" lvl="0" marL="0" rtl="0" algn="l">
              <a:lnSpc>
                <a:spcPct val="105008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2000">
                <a:solidFill>
                  <a:srgbClr val="00BF63"/>
                </a:solidFill>
                <a:latin typeface="Raleway"/>
                <a:ea typeface="Raleway"/>
                <a:cs typeface="Raleway"/>
                <a:sym typeface="Raleway"/>
              </a:rPr>
              <a:t>│       │   ├── BottomNav.js</a:t>
            </a:r>
            <a:endParaRPr b="1" sz="2000">
              <a:solidFill>
                <a:srgbClr val="00BF63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0" lvl="0" marL="0" rtl="0" algn="l">
              <a:lnSpc>
                <a:spcPct val="105008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2000">
                <a:solidFill>
                  <a:srgbClr val="00BF63"/>
                </a:solidFill>
                <a:latin typeface="Raleway"/>
                <a:ea typeface="Raleway"/>
                <a:cs typeface="Raleway"/>
                <a:sym typeface="Raleway"/>
              </a:rPr>
              <a:t>│       │   └── SettingsModal.js</a:t>
            </a:r>
            <a:endParaRPr b="1" sz="2000">
              <a:solidFill>
                <a:srgbClr val="00BF63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0" lvl="0" marL="0" marR="0" rtl="0" algn="l">
              <a:lnSpc>
                <a:spcPct val="105008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i="0" lang="en-US" sz="2000" u="none" cap="none" strike="noStrike">
                <a:solidFill>
                  <a:srgbClr val="00BF63"/>
                </a:solidFill>
                <a:latin typeface="Raleway"/>
                <a:ea typeface="Raleway"/>
                <a:cs typeface="Raleway"/>
                <a:sym typeface="Raleway"/>
              </a:rPr>
              <a:t>│       ├── </a:t>
            </a:r>
            <a:r>
              <a:rPr b="1" lang="en-US" sz="2000">
                <a:solidFill>
                  <a:srgbClr val="00BF63"/>
                </a:solidFill>
                <a:latin typeface="Raleway"/>
                <a:ea typeface="Raleway"/>
                <a:cs typeface="Raleway"/>
                <a:sym typeface="Raleway"/>
              </a:rPr>
              <a:t>pages</a:t>
            </a:r>
            <a:r>
              <a:rPr b="1" i="0" lang="en-US" sz="2000" u="none" cap="none" strike="noStrike">
                <a:solidFill>
                  <a:srgbClr val="00BF63"/>
                </a:solidFill>
                <a:latin typeface="Raleway"/>
                <a:ea typeface="Raleway"/>
                <a:cs typeface="Raleway"/>
                <a:sym typeface="Raleway"/>
              </a:rPr>
              <a:t>/</a:t>
            </a:r>
            <a:endParaRPr b="1" i="0" sz="2000" u="none" cap="none" strike="noStrike">
              <a:solidFill>
                <a:srgbClr val="00BF63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0" lvl="0" marL="0" marR="0" rtl="0" algn="l">
              <a:lnSpc>
                <a:spcPct val="105008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i="0" lang="en-US" sz="2000" u="none" cap="none" strike="noStrike">
                <a:solidFill>
                  <a:srgbClr val="00BF63"/>
                </a:solidFill>
                <a:latin typeface="Raleway"/>
                <a:ea typeface="Raleway"/>
                <a:cs typeface="Raleway"/>
                <a:sym typeface="Raleway"/>
              </a:rPr>
              <a:t>│       │   ├── </a:t>
            </a:r>
            <a:r>
              <a:rPr b="1" lang="en-US" sz="2000">
                <a:solidFill>
                  <a:srgbClr val="00BF63"/>
                </a:solidFill>
                <a:latin typeface="Raleway"/>
                <a:ea typeface="Raleway"/>
                <a:cs typeface="Raleway"/>
                <a:sym typeface="Raleway"/>
              </a:rPr>
              <a:t>annualReport</a:t>
            </a:r>
            <a:r>
              <a:rPr b="1" i="0" lang="en-US" sz="2000" u="none" cap="none" strike="noStrike">
                <a:solidFill>
                  <a:srgbClr val="00BF63"/>
                </a:solidFill>
                <a:latin typeface="Raleway"/>
                <a:ea typeface="Raleway"/>
                <a:cs typeface="Raleway"/>
                <a:sym typeface="Raleway"/>
              </a:rPr>
              <a:t>.js</a:t>
            </a:r>
            <a:endParaRPr b="1" i="0" sz="2000" u="none" cap="none" strike="noStrike">
              <a:solidFill>
                <a:srgbClr val="00BF63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0" lvl="0" marL="0" marR="0" rtl="0" algn="l">
              <a:lnSpc>
                <a:spcPct val="105008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i="0" lang="en-US" sz="2000" u="none" cap="none" strike="noStrike">
                <a:solidFill>
                  <a:srgbClr val="00BF63"/>
                </a:solidFill>
                <a:latin typeface="Raleway"/>
                <a:ea typeface="Raleway"/>
                <a:cs typeface="Raleway"/>
                <a:sym typeface="Raleway"/>
              </a:rPr>
              <a:t>│       │   ├── </a:t>
            </a:r>
            <a:r>
              <a:rPr b="1" lang="en-US" sz="2000">
                <a:solidFill>
                  <a:srgbClr val="00BF63"/>
                </a:solidFill>
                <a:latin typeface="Raleway"/>
                <a:ea typeface="Raleway"/>
                <a:cs typeface="Raleway"/>
                <a:sym typeface="Raleway"/>
              </a:rPr>
              <a:t>backpack</a:t>
            </a:r>
            <a:r>
              <a:rPr b="1" i="0" lang="en-US" sz="2000" u="none" cap="none" strike="noStrike">
                <a:solidFill>
                  <a:srgbClr val="00BF63"/>
                </a:solidFill>
                <a:latin typeface="Raleway"/>
                <a:ea typeface="Raleway"/>
                <a:cs typeface="Raleway"/>
                <a:sym typeface="Raleway"/>
              </a:rPr>
              <a:t>.js</a:t>
            </a:r>
            <a:endParaRPr b="1" i="0" sz="2000" u="none" cap="none" strike="noStrike">
              <a:solidFill>
                <a:srgbClr val="00BF63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0" lvl="0" marL="0" marR="0" rtl="0" algn="l">
              <a:lnSpc>
                <a:spcPct val="105008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i="0" lang="en-US" sz="2000" u="none" cap="none" strike="noStrike">
                <a:solidFill>
                  <a:srgbClr val="00BF63"/>
                </a:solidFill>
                <a:latin typeface="Raleway"/>
                <a:ea typeface="Raleway"/>
                <a:cs typeface="Raleway"/>
                <a:sym typeface="Raleway"/>
              </a:rPr>
              <a:t>│       │   ├── </a:t>
            </a:r>
            <a:r>
              <a:rPr b="1" lang="en-US" sz="2000">
                <a:solidFill>
                  <a:srgbClr val="00BF63"/>
                </a:solidFill>
                <a:latin typeface="Raleway"/>
                <a:ea typeface="Raleway"/>
                <a:cs typeface="Raleway"/>
                <a:sym typeface="Raleway"/>
              </a:rPr>
              <a:t>dailyReport</a:t>
            </a:r>
            <a:r>
              <a:rPr b="1" i="0" lang="en-US" sz="2000" u="none" cap="none" strike="noStrike">
                <a:solidFill>
                  <a:srgbClr val="00BF63"/>
                </a:solidFill>
                <a:latin typeface="Raleway"/>
                <a:ea typeface="Raleway"/>
                <a:cs typeface="Raleway"/>
                <a:sym typeface="Raleway"/>
              </a:rPr>
              <a:t>.js</a:t>
            </a:r>
            <a:endParaRPr b="1" i="0" sz="2000" u="none" cap="none" strike="noStrike">
              <a:solidFill>
                <a:srgbClr val="00BF63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0" lvl="0" marL="0" marR="0" rtl="0" algn="l">
              <a:lnSpc>
                <a:spcPct val="105008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i="0" lang="en-US" sz="2000" u="none" cap="none" strike="noStrike">
                <a:solidFill>
                  <a:srgbClr val="00BF63"/>
                </a:solidFill>
                <a:latin typeface="Raleway"/>
                <a:ea typeface="Raleway"/>
                <a:cs typeface="Raleway"/>
                <a:sym typeface="Raleway"/>
              </a:rPr>
              <a:t>│       │   ├── </a:t>
            </a:r>
            <a:r>
              <a:rPr b="1" lang="en-US" sz="2000">
                <a:solidFill>
                  <a:srgbClr val="00BF63"/>
                </a:solidFill>
                <a:latin typeface="Raleway"/>
                <a:ea typeface="Raleway"/>
                <a:cs typeface="Raleway"/>
                <a:sym typeface="Raleway"/>
              </a:rPr>
              <a:t>deleteAccount</a:t>
            </a:r>
            <a:r>
              <a:rPr b="1" i="0" lang="en-US" sz="2000" u="none" cap="none" strike="noStrike">
                <a:solidFill>
                  <a:srgbClr val="00BF63"/>
                </a:solidFill>
                <a:latin typeface="Raleway"/>
                <a:ea typeface="Raleway"/>
                <a:cs typeface="Raleway"/>
                <a:sym typeface="Raleway"/>
              </a:rPr>
              <a:t>.js</a:t>
            </a:r>
            <a:endParaRPr b="1" i="0" sz="2000" u="none" cap="none" strike="noStrike">
              <a:solidFill>
                <a:srgbClr val="00BF63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0" lvl="0" marL="0" marR="0" rtl="0" algn="l">
              <a:lnSpc>
                <a:spcPct val="105008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i="0" lang="en-US" sz="2000" u="none" cap="none" strike="noStrike">
                <a:solidFill>
                  <a:srgbClr val="00BF63"/>
                </a:solidFill>
                <a:latin typeface="Raleway"/>
                <a:ea typeface="Raleway"/>
                <a:cs typeface="Raleway"/>
                <a:sym typeface="Raleway"/>
              </a:rPr>
              <a:t>│       │   ├── </a:t>
            </a:r>
            <a:r>
              <a:rPr b="1" lang="en-US" sz="2000">
                <a:solidFill>
                  <a:srgbClr val="00BF63"/>
                </a:solidFill>
                <a:latin typeface="Raleway"/>
                <a:ea typeface="Raleway"/>
                <a:cs typeface="Raleway"/>
                <a:sym typeface="Raleway"/>
              </a:rPr>
              <a:t>futurePrediction</a:t>
            </a:r>
            <a:r>
              <a:rPr b="1" i="0" lang="en-US" sz="2000" u="none" cap="none" strike="noStrike">
                <a:solidFill>
                  <a:srgbClr val="00BF63"/>
                </a:solidFill>
                <a:latin typeface="Raleway"/>
                <a:ea typeface="Raleway"/>
                <a:cs typeface="Raleway"/>
                <a:sym typeface="Raleway"/>
              </a:rPr>
              <a:t>.js</a:t>
            </a:r>
            <a:endParaRPr b="1" i="0" sz="2000" u="none" cap="none" strike="noStrike">
              <a:solidFill>
                <a:srgbClr val="00BF63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0" lvl="0" marL="0" marR="0" rtl="0" algn="l">
              <a:lnSpc>
                <a:spcPct val="105008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i="0" lang="en-US" sz="2000" u="none" cap="none" strike="noStrike">
                <a:solidFill>
                  <a:srgbClr val="00BF63"/>
                </a:solidFill>
                <a:latin typeface="Raleway"/>
                <a:ea typeface="Raleway"/>
                <a:cs typeface="Raleway"/>
                <a:sym typeface="Raleway"/>
              </a:rPr>
              <a:t>│       │   </a:t>
            </a:r>
            <a:r>
              <a:rPr b="1" lang="en-US" sz="2000">
                <a:solidFill>
                  <a:srgbClr val="00BF63"/>
                </a:solidFill>
                <a:latin typeface="Raleway"/>
                <a:ea typeface="Raleway"/>
                <a:cs typeface="Raleway"/>
                <a:sym typeface="Raleway"/>
              </a:rPr>
              <a:t>├</a:t>
            </a:r>
            <a:r>
              <a:rPr b="1" i="0" lang="en-US" sz="2000" u="none" cap="none" strike="noStrike">
                <a:solidFill>
                  <a:srgbClr val="00BF63"/>
                </a:solidFill>
                <a:latin typeface="Raleway"/>
                <a:ea typeface="Raleway"/>
                <a:cs typeface="Raleway"/>
                <a:sym typeface="Raleway"/>
              </a:rPr>
              <a:t>── </a:t>
            </a:r>
            <a:r>
              <a:rPr b="1" lang="en-US" sz="2000">
                <a:solidFill>
                  <a:srgbClr val="00BF63"/>
                </a:solidFill>
                <a:latin typeface="Raleway"/>
                <a:ea typeface="Raleway"/>
                <a:cs typeface="Raleway"/>
                <a:sym typeface="Raleway"/>
              </a:rPr>
              <a:t>home</a:t>
            </a:r>
            <a:r>
              <a:rPr b="1" i="0" lang="en-US" sz="2000" cap="none" strike="noStrike">
                <a:solidFill>
                  <a:srgbClr val="00BF63"/>
                </a:solidFill>
                <a:latin typeface="Raleway"/>
                <a:ea typeface="Raleway"/>
                <a:cs typeface="Raleway"/>
                <a:sym typeface="Raleway"/>
              </a:rPr>
              <a:t>.js</a:t>
            </a:r>
            <a:endParaRPr b="1" i="0" sz="2000" u="none" cap="none" strike="noStrike">
              <a:solidFill>
                <a:srgbClr val="00BF63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0" lvl="0" marL="0" rtl="0" algn="l">
              <a:lnSpc>
                <a:spcPct val="105008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2000">
                <a:solidFill>
                  <a:srgbClr val="00BF63"/>
                </a:solidFill>
                <a:latin typeface="Raleway"/>
                <a:ea typeface="Raleway"/>
                <a:cs typeface="Raleway"/>
                <a:sym typeface="Raleway"/>
              </a:rPr>
              <a:t>│       │   ├── main.js</a:t>
            </a:r>
            <a:endParaRPr b="1" sz="2000">
              <a:solidFill>
                <a:srgbClr val="00BF63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0" lvl="0" marL="0" rtl="0" algn="l">
              <a:lnSpc>
                <a:spcPct val="105008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2000">
                <a:solidFill>
                  <a:srgbClr val="00BF63"/>
                </a:solidFill>
                <a:latin typeface="Raleway"/>
                <a:ea typeface="Raleway"/>
                <a:cs typeface="Raleway"/>
                <a:sym typeface="Raleway"/>
              </a:rPr>
              <a:t>│       │   ├── monthlyReport.js</a:t>
            </a:r>
            <a:endParaRPr b="1" sz="2000">
              <a:solidFill>
                <a:srgbClr val="00BF63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0" lvl="0" marL="0" rtl="0" algn="l">
              <a:lnSpc>
                <a:spcPct val="105008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2000">
                <a:solidFill>
                  <a:srgbClr val="00BF63"/>
                </a:solidFill>
                <a:latin typeface="Raleway"/>
                <a:ea typeface="Raleway"/>
                <a:cs typeface="Raleway"/>
                <a:sym typeface="Raleway"/>
              </a:rPr>
              <a:t>│       │   ├── profile.js</a:t>
            </a:r>
            <a:endParaRPr b="1" sz="2000">
              <a:solidFill>
                <a:srgbClr val="00BF63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0" lvl="0" marL="0" rtl="0" algn="l">
              <a:lnSpc>
                <a:spcPct val="105008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2000">
                <a:solidFill>
                  <a:srgbClr val="00BF63"/>
                </a:solidFill>
                <a:latin typeface="Raleway"/>
                <a:ea typeface="Raleway"/>
                <a:cs typeface="Raleway"/>
                <a:sym typeface="Raleway"/>
              </a:rPr>
              <a:t>│       │   ├── reportingOptions.js</a:t>
            </a:r>
            <a:endParaRPr b="1" sz="2000">
              <a:solidFill>
                <a:srgbClr val="00BF63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0" lvl="0" marL="0" rtl="0" algn="l">
              <a:lnSpc>
                <a:spcPct val="105008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2000">
                <a:solidFill>
                  <a:srgbClr val="00BF63"/>
                </a:solidFill>
                <a:latin typeface="Raleway"/>
                <a:ea typeface="Raleway"/>
                <a:cs typeface="Raleway"/>
                <a:sym typeface="Raleway"/>
              </a:rPr>
              <a:t>│       │   ├── reports.js</a:t>
            </a:r>
            <a:endParaRPr b="1" sz="2000">
              <a:solidFill>
                <a:srgbClr val="00BF63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0" lvl="0" marL="0" rtl="0" algn="l">
              <a:lnSpc>
                <a:spcPct val="105008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2000">
                <a:solidFill>
                  <a:srgbClr val="00BF63"/>
                </a:solidFill>
                <a:latin typeface="Raleway"/>
                <a:ea typeface="Raleway"/>
                <a:cs typeface="Raleway"/>
                <a:sym typeface="Raleway"/>
              </a:rPr>
              <a:t>│       │   └── weeklyReport.js</a:t>
            </a:r>
            <a:endParaRPr b="1" sz="2000">
              <a:solidFill>
                <a:srgbClr val="00BF63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0" lvl="0" marL="0" marR="0" rtl="0" algn="l">
              <a:lnSpc>
                <a:spcPct val="105008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i="0" lang="en-US" sz="2000" u="none" cap="none" strike="noStrike">
                <a:solidFill>
                  <a:srgbClr val="00BF63"/>
                </a:solidFill>
                <a:latin typeface="Raleway"/>
                <a:ea typeface="Raleway"/>
                <a:cs typeface="Raleway"/>
                <a:sym typeface="Raleway"/>
              </a:rPr>
              <a:t>│       ├── </a:t>
            </a:r>
            <a:r>
              <a:rPr b="1" lang="en-US" sz="2000">
                <a:solidFill>
                  <a:srgbClr val="00BF63"/>
                </a:solidFill>
                <a:latin typeface="Raleway"/>
                <a:ea typeface="Raleway"/>
                <a:cs typeface="Raleway"/>
                <a:sym typeface="Raleway"/>
              </a:rPr>
              <a:t>tasks</a:t>
            </a:r>
            <a:r>
              <a:rPr b="1" i="0" lang="en-US" sz="2000" u="none" cap="none" strike="noStrike">
                <a:solidFill>
                  <a:srgbClr val="00BF63"/>
                </a:solidFill>
                <a:latin typeface="Raleway"/>
                <a:ea typeface="Raleway"/>
                <a:cs typeface="Raleway"/>
                <a:sym typeface="Raleway"/>
              </a:rPr>
              <a:t>/</a:t>
            </a:r>
            <a:endParaRPr b="1" i="0" sz="2000" u="none" cap="none" strike="noStrike">
              <a:solidFill>
                <a:srgbClr val="00BF63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0" lvl="0" marL="0" rtl="0" algn="l">
              <a:lnSpc>
                <a:spcPct val="105008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2000">
                <a:solidFill>
                  <a:srgbClr val="00BF63"/>
                </a:solidFill>
                <a:latin typeface="Raleway"/>
                <a:ea typeface="Raleway"/>
                <a:cs typeface="Raleway"/>
                <a:sym typeface="Raleway"/>
              </a:rPr>
              <a:t>│       ├── utils/</a:t>
            </a:r>
            <a:endParaRPr b="1" sz="2000">
              <a:solidFill>
                <a:srgbClr val="00BF63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0" lvl="0" marL="0" rtl="0" algn="l">
              <a:lnSpc>
                <a:spcPct val="105008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2000">
                <a:solidFill>
                  <a:srgbClr val="00BF63"/>
                </a:solidFill>
                <a:latin typeface="Raleway"/>
                <a:ea typeface="Raleway"/>
                <a:cs typeface="Raleway"/>
                <a:sym typeface="Raleway"/>
              </a:rPr>
              <a:t>│       │   ├── backgroundTask.js</a:t>
            </a:r>
            <a:endParaRPr b="1" sz="2000">
              <a:solidFill>
                <a:srgbClr val="00BF63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0" lvl="0" marL="0" rtl="0" algn="l">
              <a:lnSpc>
                <a:spcPct val="105008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2000">
                <a:solidFill>
                  <a:srgbClr val="00BF63"/>
                </a:solidFill>
                <a:latin typeface="Raleway"/>
                <a:ea typeface="Raleway"/>
                <a:cs typeface="Raleway"/>
                <a:sym typeface="Raleway"/>
              </a:rPr>
              <a:t>│       ├── routes.js</a:t>
            </a:r>
            <a:endParaRPr b="1" sz="2000">
              <a:solidFill>
                <a:srgbClr val="00BF63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0" lvl="0" marL="0" marR="0" rtl="0" algn="l">
              <a:lnSpc>
                <a:spcPct val="105008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i="0" lang="en-US" sz="2000" u="none" cap="none" strike="noStrike">
                <a:solidFill>
                  <a:srgbClr val="00BF63"/>
                </a:solidFill>
                <a:latin typeface="Raleway"/>
                <a:ea typeface="Raleway"/>
                <a:cs typeface="Raleway"/>
                <a:sym typeface="Raleway"/>
              </a:rPr>
              <a:t>│       └── </a:t>
            </a:r>
            <a:r>
              <a:rPr b="1" lang="en-US" sz="2000">
                <a:solidFill>
                  <a:srgbClr val="00BF63"/>
                </a:solidFill>
                <a:latin typeface="Raleway"/>
                <a:ea typeface="Raleway"/>
                <a:cs typeface="Raleway"/>
                <a:sym typeface="Raleway"/>
              </a:rPr>
              <a:t>styles.js</a:t>
            </a:r>
            <a:endParaRPr b="1" sz="2000">
              <a:solidFill>
                <a:srgbClr val="00BF63"/>
              </a:solidFill>
              <a:latin typeface="Raleway"/>
              <a:ea typeface="Raleway"/>
              <a:cs typeface="Raleway"/>
              <a:sym typeface="Raleway"/>
            </a:endParaRPr>
          </a:p>
        </p:txBody>
      </p:sp>
      <p:pic>
        <p:nvPicPr>
          <p:cNvPr id="271" name="Google Shape;271;g39fbb9a373c_0_45"/>
          <p:cNvPicPr preferRelativeResize="0"/>
          <p:nvPr/>
        </p:nvPicPr>
        <p:blipFill rotWithShape="1">
          <a:blip r:embed="rId4">
            <a:alphaModFix/>
          </a:blip>
          <a:srcRect b="11260" l="19519" r="19501" t="9775"/>
          <a:stretch/>
        </p:blipFill>
        <p:spPr>
          <a:xfrm>
            <a:off x="16461200" y="198575"/>
            <a:ext cx="1532649" cy="19846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72" name="Google Shape;272;g39fbb9a373c_0_45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882736" y="1211184"/>
            <a:ext cx="4485800" cy="88065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6" name="Shape 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Google Shape;277;p20"/>
          <p:cNvSpPr/>
          <p:nvPr/>
        </p:nvSpPr>
        <p:spPr>
          <a:xfrm>
            <a:off x="14268725" y="7309176"/>
            <a:ext cx="8163089" cy="4223758"/>
          </a:xfrm>
          <a:custGeom>
            <a:rect b="b" l="l" r="r" t="t"/>
            <a:pathLst>
              <a:path extrusionOk="0" h="7858154" w="11873584">
                <a:moveTo>
                  <a:pt x="0" y="0"/>
                </a:moveTo>
                <a:lnTo>
                  <a:pt x="11873584" y="0"/>
                </a:lnTo>
                <a:lnTo>
                  <a:pt x="11873584" y="7858154"/>
                </a:lnTo>
                <a:lnTo>
                  <a:pt x="0" y="785815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grpSp>
        <p:nvGrpSpPr>
          <p:cNvPr id="278" name="Google Shape;278;p20"/>
          <p:cNvGrpSpPr/>
          <p:nvPr/>
        </p:nvGrpSpPr>
        <p:grpSpPr>
          <a:xfrm>
            <a:off x="919199" y="-915527"/>
            <a:ext cx="1660787" cy="1650512"/>
            <a:chOff x="0" y="-47625"/>
            <a:chExt cx="437406" cy="434700"/>
          </a:xfrm>
        </p:grpSpPr>
        <p:sp>
          <p:nvSpPr>
            <p:cNvPr id="279" name="Google Shape;279;p20"/>
            <p:cNvSpPr/>
            <p:nvPr/>
          </p:nvSpPr>
          <p:spPr>
            <a:xfrm>
              <a:off x="0" y="0"/>
              <a:ext cx="437406" cy="387002"/>
            </a:xfrm>
            <a:custGeom>
              <a:rect b="b" l="l" r="r" t="t"/>
              <a:pathLst>
                <a:path extrusionOk="0" h="387002" w="437406">
                  <a:moveTo>
                    <a:pt x="0" y="0"/>
                  </a:moveTo>
                  <a:lnTo>
                    <a:pt x="437406" y="0"/>
                  </a:lnTo>
                  <a:lnTo>
                    <a:pt x="437406" y="387002"/>
                  </a:lnTo>
                  <a:lnTo>
                    <a:pt x="0" y="387002"/>
                  </a:lnTo>
                  <a:close/>
                </a:path>
              </a:pathLst>
            </a:custGeom>
            <a:solidFill>
              <a:srgbClr val="7ED957"/>
            </a:solidFill>
            <a:ln>
              <a:noFill/>
            </a:ln>
          </p:spPr>
        </p:sp>
        <p:sp>
          <p:nvSpPr>
            <p:cNvPr id="280" name="Google Shape;280;p20"/>
            <p:cNvSpPr txBox="1"/>
            <p:nvPr/>
          </p:nvSpPr>
          <p:spPr>
            <a:xfrm>
              <a:off x="0" y="-47625"/>
              <a:ext cx="437400" cy="434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81" name="Google Shape;281;p20"/>
          <p:cNvGrpSpPr/>
          <p:nvPr/>
        </p:nvGrpSpPr>
        <p:grpSpPr>
          <a:xfrm>
            <a:off x="2664518" y="-915527"/>
            <a:ext cx="489800" cy="1650512"/>
            <a:chOff x="0" y="-47625"/>
            <a:chExt cx="129000" cy="434700"/>
          </a:xfrm>
        </p:grpSpPr>
        <p:sp>
          <p:nvSpPr>
            <p:cNvPr id="282" name="Google Shape;282;p20"/>
            <p:cNvSpPr/>
            <p:nvPr/>
          </p:nvSpPr>
          <p:spPr>
            <a:xfrm>
              <a:off x="0" y="0"/>
              <a:ext cx="128975" cy="387002"/>
            </a:xfrm>
            <a:custGeom>
              <a:rect b="b" l="l" r="r" t="t"/>
              <a:pathLst>
                <a:path extrusionOk="0" h="387002" w="128975">
                  <a:moveTo>
                    <a:pt x="0" y="0"/>
                  </a:moveTo>
                  <a:lnTo>
                    <a:pt x="128975" y="0"/>
                  </a:lnTo>
                  <a:lnTo>
                    <a:pt x="128975" y="387002"/>
                  </a:lnTo>
                  <a:lnTo>
                    <a:pt x="0" y="387002"/>
                  </a:lnTo>
                  <a:close/>
                </a:path>
              </a:pathLst>
            </a:custGeom>
            <a:solidFill>
              <a:srgbClr val="00BF63"/>
            </a:solidFill>
            <a:ln>
              <a:noFill/>
            </a:ln>
          </p:spPr>
        </p:sp>
        <p:sp>
          <p:nvSpPr>
            <p:cNvPr id="283" name="Google Shape;283;p20"/>
            <p:cNvSpPr txBox="1"/>
            <p:nvPr/>
          </p:nvSpPr>
          <p:spPr>
            <a:xfrm>
              <a:off x="0" y="-47625"/>
              <a:ext cx="129000" cy="434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84" name="Google Shape;284;p20"/>
          <p:cNvSpPr txBox="1"/>
          <p:nvPr/>
        </p:nvSpPr>
        <p:spPr>
          <a:xfrm>
            <a:off x="3602927" y="468575"/>
            <a:ext cx="118353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5004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300"/>
              <a:buFont typeface="Arial"/>
              <a:buNone/>
            </a:pPr>
            <a:r>
              <a:rPr b="1" i="0" lang="en-US" sz="4000" u="none" cap="none" strike="noStrike">
                <a:solidFill>
                  <a:srgbClr val="7ED957"/>
                </a:solidFill>
                <a:latin typeface="Proxima Nova"/>
                <a:ea typeface="Proxima Nova"/>
                <a:cs typeface="Proxima Nova"/>
                <a:sym typeface="Proxima Nova"/>
              </a:rPr>
              <a:t>MOBILE -  Telas (</a:t>
            </a:r>
            <a:r>
              <a:rPr b="1" lang="en-US" sz="4000">
                <a:solidFill>
                  <a:srgbClr val="7ED957"/>
                </a:solidFill>
                <a:latin typeface="Proxima Nova"/>
                <a:ea typeface="Proxima Nova"/>
                <a:cs typeface="Proxima Nova"/>
                <a:sym typeface="Proxima Nova"/>
              </a:rPr>
              <a:t>não aparecerão na apresentação)</a:t>
            </a:r>
            <a:endParaRPr b="0" i="0" sz="4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85" name="Google Shape;285;p20"/>
          <p:cNvPicPr preferRelativeResize="0"/>
          <p:nvPr/>
        </p:nvPicPr>
        <p:blipFill rotWithShape="1">
          <a:blip r:embed="rId4">
            <a:alphaModFix/>
          </a:blip>
          <a:srcRect b="11260" l="19519" r="19501" t="9775"/>
          <a:stretch/>
        </p:blipFill>
        <p:spPr>
          <a:xfrm>
            <a:off x="16461200" y="198575"/>
            <a:ext cx="1532649" cy="19846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9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p17"/>
          <p:cNvSpPr/>
          <p:nvPr/>
        </p:nvSpPr>
        <p:spPr>
          <a:xfrm>
            <a:off x="13508198" y="5974749"/>
            <a:ext cx="9528551" cy="5657871"/>
          </a:xfrm>
          <a:custGeom>
            <a:rect b="b" l="l" r="r" t="t"/>
            <a:pathLst>
              <a:path extrusionOk="0" h="7858154" w="11873584">
                <a:moveTo>
                  <a:pt x="0" y="0"/>
                </a:moveTo>
                <a:lnTo>
                  <a:pt x="11873584" y="0"/>
                </a:lnTo>
                <a:lnTo>
                  <a:pt x="11873584" y="7858154"/>
                </a:lnTo>
                <a:lnTo>
                  <a:pt x="0" y="785815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291" name="Google Shape;291;p17"/>
          <p:cNvSpPr txBox="1"/>
          <p:nvPr/>
        </p:nvSpPr>
        <p:spPr>
          <a:xfrm>
            <a:off x="919200" y="1259600"/>
            <a:ext cx="16947300" cy="10995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5008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t/>
            </a:r>
            <a:endParaRPr b="0" i="0" sz="1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5008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500"/>
              <a:buFont typeface="Arial"/>
              <a:buNone/>
            </a:pPr>
            <a:r>
              <a:rPr b="1" i="0" lang="en-US" sz="3500" u="none" cap="none" strike="noStrike">
                <a:solidFill>
                  <a:srgbClr val="00BF63"/>
                </a:solidFill>
                <a:latin typeface="Raleway"/>
                <a:ea typeface="Raleway"/>
                <a:cs typeface="Raleway"/>
                <a:sym typeface="Raleway"/>
              </a:rPr>
              <a:t>Componentes:</a:t>
            </a:r>
            <a:endParaRPr b="1" i="0" sz="3500" u="none" cap="none" strike="noStrike">
              <a:solidFill>
                <a:srgbClr val="00BF63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0" lvl="0" marL="0" marR="0" rtl="0" algn="l">
              <a:lnSpc>
                <a:spcPct val="105008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500"/>
              <a:buFont typeface="Arial"/>
              <a:buNone/>
            </a:pPr>
            <a:r>
              <a:t/>
            </a:r>
            <a:endParaRPr b="1" i="0" sz="3500" u="none" cap="none" strike="noStrike">
              <a:solidFill>
                <a:srgbClr val="00BF63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-438150" lvl="0" marL="457200" marR="0" rtl="0" algn="l">
              <a:lnSpc>
                <a:spcPct val="105008"/>
              </a:lnSpc>
              <a:spcBef>
                <a:spcPts val="0"/>
              </a:spcBef>
              <a:spcAft>
                <a:spcPts val="0"/>
              </a:spcAft>
              <a:buClr>
                <a:srgbClr val="00BF63"/>
              </a:buClr>
              <a:buSzPts val="3300"/>
              <a:buFont typeface="Raleway"/>
              <a:buChar char="-"/>
            </a:pPr>
            <a:r>
              <a:rPr b="1" i="0" lang="en-US" sz="3300" u="none" cap="none" strike="noStrike">
                <a:solidFill>
                  <a:srgbClr val="00BF63"/>
                </a:solidFill>
                <a:latin typeface="Raleway"/>
                <a:ea typeface="Raleway"/>
                <a:cs typeface="Raleway"/>
                <a:sym typeface="Raleway"/>
              </a:rPr>
              <a:t>Power bank</a:t>
            </a:r>
            <a:endParaRPr b="1" i="0" sz="3300" u="none" cap="none" strike="noStrike">
              <a:solidFill>
                <a:srgbClr val="00BF63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0" lvl="0" marL="0" marR="0" rtl="0" algn="l">
              <a:lnSpc>
                <a:spcPct val="105008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300"/>
              <a:buFont typeface="Arial"/>
              <a:buNone/>
            </a:pPr>
            <a:r>
              <a:t/>
            </a:r>
            <a:endParaRPr b="1" i="0" sz="3300" u="none" cap="none" strike="noStrike">
              <a:solidFill>
                <a:srgbClr val="00BF63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-438150" lvl="0" marL="457200" marR="0" rtl="0" algn="l">
              <a:lnSpc>
                <a:spcPct val="105008"/>
              </a:lnSpc>
              <a:spcBef>
                <a:spcPts val="0"/>
              </a:spcBef>
              <a:spcAft>
                <a:spcPts val="0"/>
              </a:spcAft>
              <a:buClr>
                <a:srgbClr val="00BF63"/>
              </a:buClr>
              <a:buSzPts val="3300"/>
              <a:buFont typeface="Raleway"/>
              <a:buChar char="-"/>
            </a:pPr>
            <a:r>
              <a:rPr b="1" i="0" lang="en-US" sz="3300" u="none" cap="none" strike="noStrike">
                <a:solidFill>
                  <a:srgbClr val="00BF63"/>
                </a:solidFill>
                <a:latin typeface="Raleway"/>
                <a:ea typeface="Raleway"/>
                <a:cs typeface="Raleway"/>
                <a:sym typeface="Raleway"/>
              </a:rPr>
              <a:t>2 Células de Carga (medição do peso da mochila, uma para cada alça  da mochila)</a:t>
            </a:r>
            <a:endParaRPr b="1" i="0" sz="3300" u="none" cap="none" strike="noStrike">
              <a:solidFill>
                <a:srgbClr val="00BF63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0" lvl="0" marL="0" marR="0" rtl="0" algn="l">
              <a:lnSpc>
                <a:spcPct val="105008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b="1" i="0" sz="3300" u="none" cap="none" strike="noStrike">
              <a:solidFill>
                <a:srgbClr val="00BF63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-438150" lvl="0" marL="457200" marR="0" rtl="0" algn="l">
              <a:lnSpc>
                <a:spcPct val="105008"/>
              </a:lnSpc>
              <a:spcBef>
                <a:spcPts val="0"/>
              </a:spcBef>
              <a:spcAft>
                <a:spcPts val="0"/>
              </a:spcAft>
              <a:buClr>
                <a:srgbClr val="00BF63"/>
              </a:buClr>
              <a:buSzPts val="3300"/>
              <a:buFont typeface="Raleway"/>
              <a:buChar char="-"/>
            </a:pPr>
            <a:r>
              <a:rPr b="1" i="0" lang="en-US" sz="3300" u="none" cap="none" strike="noStrike">
                <a:solidFill>
                  <a:srgbClr val="00BF63"/>
                </a:solidFill>
                <a:latin typeface="Raleway"/>
                <a:ea typeface="Raleway"/>
                <a:cs typeface="Raleway"/>
                <a:sym typeface="Raleway"/>
              </a:rPr>
              <a:t>2 Módulos HX711 (conversão do  sinal das células de carga para digital, comunicando com o ESP32)</a:t>
            </a:r>
            <a:endParaRPr b="1" i="0" sz="3300" u="none" cap="none" strike="noStrike">
              <a:solidFill>
                <a:srgbClr val="00BF63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0" lvl="0" marL="0" marR="0" rtl="0" algn="l">
              <a:lnSpc>
                <a:spcPct val="105008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b="1" i="0" sz="3300" u="none" cap="none" strike="noStrike">
              <a:solidFill>
                <a:srgbClr val="00BF63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-438150" lvl="0" marL="457200" marR="0" rtl="0" algn="l">
              <a:lnSpc>
                <a:spcPct val="105008"/>
              </a:lnSpc>
              <a:spcBef>
                <a:spcPts val="0"/>
              </a:spcBef>
              <a:spcAft>
                <a:spcPts val="0"/>
              </a:spcAft>
              <a:buClr>
                <a:srgbClr val="00BF63"/>
              </a:buClr>
              <a:buSzPts val="3300"/>
              <a:buFont typeface="Raleway"/>
              <a:buChar char="-"/>
            </a:pPr>
            <a:r>
              <a:rPr b="1" i="0" lang="en-US" sz="3300" u="none" cap="none" strike="noStrike">
                <a:solidFill>
                  <a:srgbClr val="00BF63"/>
                </a:solidFill>
                <a:latin typeface="Raleway"/>
                <a:ea typeface="Raleway"/>
                <a:cs typeface="Raleway"/>
                <a:sym typeface="Raleway"/>
              </a:rPr>
              <a:t>1 ESP32-C3 (realizará comunicação com a API, conectado com o Wifi, enviando os medições captadas pelas células de carga, somente envia não recebe)</a:t>
            </a:r>
            <a:endParaRPr b="1" i="0" sz="3300" u="none" cap="none" strike="noStrike">
              <a:solidFill>
                <a:srgbClr val="00BF63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0" lvl="0" marL="0" marR="0" rtl="0" algn="l">
              <a:lnSpc>
                <a:spcPct val="105008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b="1" i="0" sz="3300" u="none" cap="none" strike="noStrike">
              <a:solidFill>
                <a:srgbClr val="00BF63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-438150" lvl="0" marL="457200" marR="0" rtl="0" algn="l">
              <a:lnSpc>
                <a:spcPct val="105008"/>
              </a:lnSpc>
              <a:spcBef>
                <a:spcPts val="0"/>
              </a:spcBef>
              <a:spcAft>
                <a:spcPts val="0"/>
              </a:spcAft>
              <a:buClr>
                <a:srgbClr val="00BF63"/>
              </a:buClr>
              <a:buSzPts val="3300"/>
              <a:buFont typeface="Raleway"/>
              <a:buChar char="-"/>
            </a:pPr>
            <a:r>
              <a:rPr b="1" i="0" lang="en-US" sz="3300" u="none" cap="none" strike="noStrike">
                <a:solidFill>
                  <a:srgbClr val="00BF63"/>
                </a:solidFill>
                <a:latin typeface="Raleway"/>
                <a:ea typeface="Raleway"/>
                <a:cs typeface="Raleway"/>
                <a:sym typeface="Raleway"/>
              </a:rPr>
              <a:t>Linguagem de programação para o ESP32-C3 (C++)</a:t>
            </a:r>
            <a:endParaRPr b="1" i="0" sz="3300" u="none" cap="none" strike="noStrike">
              <a:solidFill>
                <a:srgbClr val="00BF63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0" lvl="0" marL="0" marR="0" rtl="0" algn="l">
              <a:lnSpc>
                <a:spcPct val="105008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1" i="0" sz="3300" u="none" cap="none" strike="noStrike">
              <a:solidFill>
                <a:srgbClr val="00BF63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-438150" lvl="0" marL="457200" marR="0" rtl="0" algn="l">
              <a:lnSpc>
                <a:spcPct val="105008"/>
              </a:lnSpc>
              <a:spcBef>
                <a:spcPts val="0"/>
              </a:spcBef>
              <a:spcAft>
                <a:spcPts val="0"/>
              </a:spcAft>
              <a:buClr>
                <a:srgbClr val="00BF63"/>
              </a:buClr>
              <a:buSzPts val="3300"/>
              <a:buFont typeface="Raleway"/>
              <a:buChar char="-"/>
            </a:pPr>
            <a:r>
              <a:rPr b="1" i="0" lang="en-US" sz="3300" u="none" cap="none" strike="noStrike">
                <a:solidFill>
                  <a:srgbClr val="00BF63"/>
                </a:solidFill>
                <a:latin typeface="Raleway"/>
                <a:ea typeface="Raleway"/>
                <a:cs typeface="Raleway"/>
                <a:sym typeface="Raleway"/>
              </a:rPr>
              <a:t>Mochila Simples</a:t>
            </a:r>
            <a:endParaRPr b="1" i="0" sz="3300" u="none" cap="none" strike="noStrike">
              <a:solidFill>
                <a:srgbClr val="00BF63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0" lvl="0" marL="0" marR="0" rtl="0" algn="l">
              <a:lnSpc>
                <a:spcPct val="105008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300"/>
              <a:buFont typeface="Arial"/>
              <a:buNone/>
            </a:pPr>
            <a:r>
              <a:t/>
            </a:r>
            <a:endParaRPr b="1" i="0" sz="3300" u="none" cap="none" strike="noStrike">
              <a:solidFill>
                <a:srgbClr val="00BF63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0" lvl="0" marL="0" marR="0" rtl="0" algn="l">
              <a:lnSpc>
                <a:spcPct val="105008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300"/>
              <a:buFont typeface="Arial"/>
              <a:buNone/>
            </a:pPr>
            <a:r>
              <a:t/>
            </a:r>
            <a:endParaRPr b="1" i="0" sz="3300" u="none" cap="none" strike="noStrike">
              <a:solidFill>
                <a:srgbClr val="00BF63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0" lvl="0" marL="0" marR="0" rtl="0" algn="l">
              <a:lnSpc>
                <a:spcPct val="105008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300"/>
              <a:buFont typeface="Arial"/>
              <a:buNone/>
            </a:pPr>
            <a:r>
              <a:t/>
            </a:r>
            <a:endParaRPr b="1" i="0" sz="3300" u="none" cap="none" strike="noStrike">
              <a:solidFill>
                <a:srgbClr val="00BF63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0" lvl="0" marL="0" marR="0" rtl="0" algn="l">
              <a:lnSpc>
                <a:spcPct val="105008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1" i="0" sz="3600" u="none" cap="none" strike="noStrike">
              <a:solidFill>
                <a:srgbClr val="00BF63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0" lvl="0" marL="0" marR="0" rtl="0" algn="l">
              <a:lnSpc>
                <a:spcPct val="105008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t/>
            </a:r>
            <a:endParaRPr b="1" i="0" sz="3600" u="none" cap="none" strike="noStrike">
              <a:solidFill>
                <a:srgbClr val="00BF63"/>
              </a:solidFill>
              <a:latin typeface="Raleway"/>
              <a:ea typeface="Raleway"/>
              <a:cs typeface="Raleway"/>
              <a:sym typeface="Raleway"/>
            </a:endParaRPr>
          </a:p>
        </p:txBody>
      </p:sp>
      <p:grpSp>
        <p:nvGrpSpPr>
          <p:cNvPr id="292" name="Google Shape;292;p17"/>
          <p:cNvGrpSpPr/>
          <p:nvPr/>
        </p:nvGrpSpPr>
        <p:grpSpPr>
          <a:xfrm>
            <a:off x="919199" y="-915527"/>
            <a:ext cx="1660787" cy="1650512"/>
            <a:chOff x="0" y="-47625"/>
            <a:chExt cx="437406" cy="434700"/>
          </a:xfrm>
        </p:grpSpPr>
        <p:sp>
          <p:nvSpPr>
            <p:cNvPr id="293" name="Google Shape;293;p17"/>
            <p:cNvSpPr/>
            <p:nvPr/>
          </p:nvSpPr>
          <p:spPr>
            <a:xfrm>
              <a:off x="0" y="0"/>
              <a:ext cx="437406" cy="387002"/>
            </a:xfrm>
            <a:custGeom>
              <a:rect b="b" l="l" r="r" t="t"/>
              <a:pathLst>
                <a:path extrusionOk="0" h="387002" w="437406">
                  <a:moveTo>
                    <a:pt x="0" y="0"/>
                  </a:moveTo>
                  <a:lnTo>
                    <a:pt x="437406" y="0"/>
                  </a:lnTo>
                  <a:lnTo>
                    <a:pt x="437406" y="387002"/>
                  </a:lnTo>
                  <a:lnTo>
                    <a:pt x="0" y="387002"/>
                  </a:lnTo>
                  <a:close/>
                </a:path>
              </a:pathLst>
            </a:custGeom>
            <a:solidFill>
              <a:srgbClr val="7ED957"/>
            </a:solidFill>
            <a:ln>
              <a:noFill/>
            </a:ln>
          </p:spPr>
        </p:sp>
        <p:sp>
          <p:nvSpPr>
            <p:cNvPr id="294" name="Google Shape;294;p17"/>
            <p:cNvSpPr txBox="1"/>
            <p:nvPr/>
          </p:nvSpPr>
          <p:spPr>
            <a:xfrm>
              <a:off x="0" y="-47625"/>
              <a:ext cx="437400" cy="434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95" name="Google Shape;295;p17"/>
          <p:cNvGrpSpPr/>
          <p:nvPr/>
        </p:nvGrpSpPr>
        <p:grpSpPr>
          <a:xfrm>
            <a:off x="2664518" y="-915527"/>
            <a:ext cx="489800" cy="1650512"/>
            <a:chOff x="0" y="-47625"/>
            <a:chExt cx="129000" cy="434700"/>
          </a:xfrm>
        </p:grpSpPr>
        <p:sp>
          <p:nvSpPr>
            <p:cNvPr id="296" name="Google Shape;296;p17"/>
            <p:cNvSpPr/>
            <p:nvPr/>
          </p:nvSpPr>
          <p:spPr>
            <a:xfrm>
              <a:off x="0" y="0"/>
              <a:ext cx="128975" cy="387002"/>
            </a:xfrm>
            <a:custGeom>
              <a:rect b="b" l="l" r="r" t="t"/>
              <a:pathLst>
                <a:path extrusionOk="0" h="387002" w="128975">
                  <a:moveTo>
                    <a:pt x="0" y="0"/>
                  </a:moveTo>
                  <a:lnTo>
                    <a:pt x="128975" y="0"/>
                  </a:lnTo>
                  <a:lnTo>
                    <a:pt x="128975" y="387002"/>
                  </a:lnTo>
                  <a:lnTo>
                    <a:pt x="0" y="387002"/>
                  </a:lnTo>
                  <a:close/>
                </a:path>
              </a:pathLst>
            </a:custGeom>
            <a:solidFill>
              <a:srgbClr val="00BF63"/>
            </a:solidFill>
            <a:ln>
              <a:noFill/>
            </a:ln>
          </p:spPr>
        </p:sp>
        <p:sp>
          <p:nvSpPr>
            <p:cNvPr id="297" name="Google Shape;297;p17"/>
            <p:cNvSpPr txBox="1"/>
            <p:nvPr/>
          </p:nvSpPr>
          <p:spPr>
            <a:xfrm>
              <a:off x="0" y="-47625"/>
              <a:ext cx="129000" cy="434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98" name="Google Shape;298;p17"/>
          <p:cNvSpPr txBox="1"/>
          <p:nvPr/>
        </p:nvSpPr>
        <p:spPr>
          <a:xfrm>
            <a:off x="5604025" y="235200"/>
            <a:ext cx="7456500" cy="793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5004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156"/>
              <a:buFont typeface="Arial"/>
              <a:buNone/>
            </a:pPr>
            <a:r>
              <a:rPr b="1" i="0" lang="en-US" sz="5156" u="none" cap="none" strike="noStrike">
                <a:solidFill>
                  <a:srgbClr val="7ED957"/>
                </a:solidFill>
                <a:latin typeface="Proxima Nova"/>
                <a:ea typeface="Proxima Nova"/>
                <a:cs typeface="Proxima Nova"/>
                <a:sym typeface="Proxima Nova"/>
              </a:rPr>
              <a:t>IoT - Internet das Coisas</a:t>
            </a:r>
            <a:endParaRPr b="0" i="0" sz="2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99" name="Google Shape;299;p17"/>
          <p:cNvPicPr preferRelativeResize="0"/>
          <p:nvPr/>
        </p:nvPicPr>
        <p:blipFill rotWithShape="1">
          <a:blip r:embed="rId4">
            <a:alphaModFix/>
          </a:blip>
          <a:srcRect b="11260" l="19519" r="19501" t="9775"/>
          <a:stretch/>
        </p:blipFill>
        <p:spPr>
          <a:xfrm>
            <a:off x="16461200" y="198575"/>
            <a:ext cx="1532649" cy="19846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18"/>
          <p:cNvSpPr/>
          <p:nvPr/>
        </p:nvSpPr>
        <p:spPr>
          <a:xfrm>
            <a:off x="11322508" y="2936219"/>
            <a:ext cx="11873584" cy="7858154"/>
          </a:xfrm>
          <a:custGeom>
            <a:rect b="b" l="l" r="r" t="t"/>
            <a:pathLst>
              <a:path extrusionOk="0" h="7858154" w="11873584">
                <a:moveTo>
                  <a:pt x="0" y="0"/>
                </a:moveTo>
                <a:lnTo>
                  <a:pt x="11873584" y="0"/>
                </a:lnTo>
                <a:lnTo>
                  <a:pt x="11873584" y="7858154"/>
                </a:lnTo>
                <a:lnTo>
                  <a:pt x="0" y="785815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grpSp>
        <p:nvGrpSpPr>
          <p:cNvPr id="305" name="Google Shape;305;p18"/>
          <p:cNvGrpSpPr/>
          <p:nvPr/>
        </p:nvGrpSpPr>
        <p:grpSpPr>
          <a:xfrm>
            <a:off x="1092381" y="-800073"/>
            <a:ext cx="1660787" cy="1650235"/>
            <a:chOff x="0" y="-47625"/>
            <a:chExt cx="437406" cy="434627"/>
          </a:xfrm>
        </p:grpSpPr>
        <p:sp>
          <p:nvSpPr>
            <p:cNvPr id="306" name="Google Shape;306;p18"/>
            <p:cNvSpPr/>
            <p:nvPr/>
          </p:nvSpPr>
          <p:spPr>
            <a:xfrm>
              <a:off x="0" y="0"/>
              <a:ext cx="437406" cy="387002"/>
            </a:xfrm>
            <a:custGeom>
              <a:rect b="b" l="l" r="r" t="t"/>
              <a:pathLst>
                <a:path extrusionOk="0" h="387002" w="437406">
                  <a:moveTo>
                    <a:pt x="0" y="0"/>
                  </a:moveTo>
                  <a:lnTo>
                    <a:pt x="437406" y="0"/>
                  </a:lnTo>
                  <a:lnTo>
                    <a:pt x="437406" y="387002"/>
                  </a:lnTo>
                  <a:lnTo>
                    <a:pt x="0" y="387002"/>
                  </a:lnTo>
                  <a:close/>
                </a:path>
              </a:pathLst>
            </a:custGeom>
            <a:solidFill>
              <a:srgbClr val="7ED957"/>
            </a:solidFill>
            <a:ln>
              <a:noFill/>
            </a:ln>
          </p:spPr>
        </p:sp>
        <p:sp>
          <p:nvSpPr>
            <p:cNvPr id="307" name="Google Shape;307;p18"/>
            <p:cNvSpPr txBox="1"/>
            <p:nvPr/>
          </p:nvSpPr>
          <p:spPr>
            <a:xfrm>
              <a:off x="0" y="-47625"/>
              <a:ext cx="437406" cy="434627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08" name="Google Shape;308;p18"/>
          <p:cNvGrpSpPr/>
          <p:nvPr/>
        </p:nvGrpSpPr>
        <p:grpSpPr>
          <a:xfrm>
            <a:off x="2837700" y="-800073"/>
            <a:ext cx="489705" cy="1650235"/>
            <a:chOff x="0" y="-47625"/>
            <a:chExt cx="128975" cy="434627"/>
          </a:xfrm>
        </p:grpSpPr>
        <p:sp>
          <p:nvSpPr>
            <p:cNvPr id="309" name="Google Shape;309;p18"/>
            <p:cNvSpPr/>
            <p:nvPr/>
          </p:nvSpPr>
          <p:spPr>
            <a:xfrm>
              <a:off x="0" y="0"/>
              <a:ext cx="128975" cy="387002"/>
            </a:xfrm>
            <a:custGeom>
              <a:rect b="b" l="l" r="r" t="t"/>
              <a:pathLst>
                <a:path extrusionOk="0" h="387002" w="128975">
                  <a:moveTo>
                    <a:pt x="0" y="0"/>
                  </a:moveTo>
                  <a:lnTo>
                    <a:pt x="128975" y="0"/>
                  </a:lnTo>
                  <a:lnTo>
                    <a:pt x="128975" y="387002"/>
                  </a:lnTo>
                  <a:lnTo>
                    <a:pt x="0" y="387002"/>
                  </a:lnTo>
                  <a:close/>
                </a:path>
              </a:pathLst>
            </a:custGeom>
            <a:solidFill>
              <a:srgbClr val="00BF63"/>
            </a:solidFill>
            <a:ln>
              <a:noFill/>
            </a:ln>
          </p:spPr>
        </p:sp>
        <p:sp>
          <p:nvSpPr>
            <p:cNvPr id="310" name="Google Shape;310;p18"/>
            <p:cNvSpPr txBox="1"/>
            <p:nvPr/>
          </p:nvSpPr>
          <p:spPr>
            <a:xfrm>
              <a:off x="0" y="-47625"/>
              <a:ext cx="128975" cy="434627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pic>
        <p:nvPicPr>
          <p:cNvPr id="311" name="Google Shape;311;p1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149175" y="6376775"/>
            <a:ext cx="4271800" cy="2931940"/>
          </a:xfrm>
          <a:prstGeom prst="rect">
            <a:avLst/>
          </a:prstGeom>
          <a:noFill/>
          <a:ln>
            <a:noFill/>
          </a:ln>
        </p:spPr>
      </p:pic>
      <p:pic>
        <p:nvPicPr>
          <p:cNvPr id="312" name="Google Shape;312;p1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091798" y="1173838"/>
            <a:ext cx="3981525" cy="3981525"/>
          </a:xfrm>
          <a:prstGeom prst="rect">
            <a:avLst/>
          </a:prstGeom>
          <a:noFill/>
          <a:ln>
            <a:noFill/>
          </a:ln>
        </p:spPr>
      </p:pic>
      <p:pic>
        <p:nvPicPr>
          <p:cNvPr id="313" name="Google Shape;313;p18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870987" y="1173851"/>
            <a:ext cx="4271800" cy="4271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14" name="Google Shape;314;p18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12190725" y="2093045"/>
            <a:ext cx="3337700" cy="3352600"/>
          </a:xfrm>
          <a:prstGeom prst="rect">
            <a:avLst/>
          </a:prstGeom>
          <a:noFill/>
          <a:ln>
            <a:noFill/>
          </a:ln>
        </p:spPr>
      </p:pic>
      <p:sp>
        <p:nvSpPr>
          <p:cNvPr id="315" name="Google Shape;315;p18"/>
          <p:cNvSpPr txBox="1"/>
          <p:nvPr/>
        </p:nvSpPr>
        <p:spPr>
          <a:xfrm>
            <a:off x="1096163" y="5155375"/>
            <a:ext cx="3337800" cy="793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5004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156"/>
              <a:buFont typeface="Arial"/>
              <a:buNone/>
            </a:pPr>
            <a:r>
              <a:rPr b="1" i="0" lang="en-US" sz="5156" u="none" cap="none" strike="noStrike">
                <a:solidFill>
                  <a:srgbClr val="7ED957"/>
                </a:solidFill>
                <a:latin typeface="Proxima Nova"/>
                <a:ea typeface="Proxima Nova"/>
                <a:cs typeface="Proxima Nova"/>
                <a:sym typeface="Proxima Nova"/>
              </a:rPr>
              <a:t>ESP32-C3</a:t>
            </a:r>
            <a:endParaRPr b="0" i="0" sz="2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6" name="Google Shape;316;p18"/>
          <p:cNvSpPr txBox="1"/>
          <p:nvPr/>
        </p:nvSpPr>
        <p:spPr>
          <a:xfrm>
            <a:off x="5688600" y="5155375"/>
            <a:ext cx="5634000" cy="747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5004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56"/>
              <a:buFont typeface="Arial"/>
              <a:buNone/>
            </a:pPr>
            <a:r>
              <a:rPr b="1" i="0" lang="en-US" sz="4856" u="none" cap="none" strike="noStrike">
                <a:solidFill>
                  <a:srgbClr val="7ED957"/>
                </a:solidFill>
                <a:latin typeface="Proxima Nova"/>
                <a:ea typeface="Proxima Nova"/>
                <a:cs typeface="Proxima Nova"/>
                <a:sym typeface="Proxima Nova"/>
              </a:rPr>
              <a:t>CÉLULA DE CARGA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7" name="Google Shape;317;p18"/>
          <p:cNvSpPr txBox="1"/>
          <p:nvPr/>
        </p:nvSpPr>
        <p:spPr>
          <a:xfrm>
            <a:off x="12739080" y="5155375"/>
            <a:ext cx="2125800" cy="793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5004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156"/>
              <a:buFont typeface="Arial"/>
              <a:buNone/>
            </a:pPr>
            <a:r>
              <a:rPr b="1" i="0" lang="en-US" sz="5156" u="none" cap="none" strike="noStrike">
                <a:solidFill>
                  <a:srgbClr val="7ED957"/>
                </a:solidFill>
                <a:latin typeface="Proxima Nova"/>
                <a:ea typeface="Proxima Nova"/>
                <a:cs typeface="Proxima Nova"/>
                <a:sym typeface="Proxima Nova"/>
              </a:rPr>
              <a:t>HX711</a:t>
            </a:r>
            <a:endParaRPr b="0" i="0" sz="2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8" name="Google Shape;318;p18"/>
          <p:cNvSpPr txBox="1"/>
          <p:nvPr/>
        </p:nvSpPr>
        <p:spPr>
          <a:xfrm>
            <a:off x="3914450" y="9089400"/>
            <a:ext cx="4506600" cy="793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5004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156"/>
              <a:buFont typeface="Arial"/>
              <a:buNone/>
            </a:pPr>
            <a:r>
              <a:rPr b="1" i="0" lang="en-US" sz="5156" u="none" cap="none" strike="noStrike">
                <a:solidFill>
                  <a:srgbClr val="7ED957"/>
                </a:solidFill>
                <a:latin typeface="Proxima Nova"/>
                <a:ea typeface="Proxima Nova"/>
                <a:cs typeface="Proxima Nova"/>
                <a:sym typeface="Proxima Nova"/>
              </a:rPr>
              <a:t>P</a:t>
            </a:r>
            <a:r>
              <a:rPr b="1" lang="en-US" sz="5156">
                <a:solidFill>
                  <a:srgbClr val="7ED957"/>
                </a:solidFill>
                <a:latin typeface="Proxima Nova"/>
                <a:ea typeface="Proxima Nova"/>
                <a:cs typeface="Proxima Nova"/>
                <a:sym typeface="Proxima Nova"/>
              </a:rPr>
              <a:t>OWER</a:t>
            </a:r>
            <a:r>
              <a:rPr b="1" i="0" lang="en-US" sz="5156" u="none" cap="none" strike="noStrike">
                <a:solidFill>
                  <a:srgbClr val="7ED957"/>
                </a:solidFill>
                <a:latin typeface="Proxima Nova"/>
                <a:ea typeface="Proxima Nova"/>
                <a:cs typeface="Proxima Nova"/>
                <a:sym typeface="Proxima Nova"/>
              </a:rPr>
              <a:t> B</a:t>
            </a:r>
            <a:r>
              <a:rPr b="1" lang="en-US" sz="5156">
                <a:solidFill>
                  <a:srgbClr val="7ED957"/>
                </a:solidFill>
                <a:latin typeface="Proxima Nova"/>
                <a:ea typeface="Proxima Nova"/>
                <a:cs typeface="Proxima Nova"/>
                <a:sym typeface="Proxima Nova"/>
              </a:rPr>
              <a:t>ANK</a:t>
            </a:r>
            <a:endParaRPr b="0" i="0" sz="2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9" name="Google Shape;319;p18"/>
          <p:cNvSpPr txBox="1"/>
          <p:nvPr/>
        </p:nvSpPr>
        <p:spPr>
          <a:xfrm>
            <a:off x="6809137" y="380350"/>
            <a:ext cx="5755200" cy="793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5004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156"/>
              <a:buFont typeface="Arial"/>
              <a:buNone/>
            </a:pPr>
            <a:r>
              <a:rPr b="1" i="0" lang="en-US" sz="5156" u="none" cap="none" strike="noStrike">
                <a:solidFill>
                  <a:srgbClr val="7ED957"/>
                </a:solidFill>
                <a:latin typeface="Proxima Nova"/>
                <a:ea typeface="Proxima Nova"/>
                <a:cs typeface="Proxima Nova"/>
                <a:sym typeface="Proxima Nova"/>
              </a:rPr>
              <a:t>COMPONENTES</a:t>
            </a:r>
            <a:endParaRPr b="0" i="0" sz="2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20" name="Google Shape;320;p18"/>
          <p:cNvPicPr preferRelativeResize="0"/>
          <p:nvPr/>
        </p:nvPicPr>
        <p:blipFill rotWithShape="1">
          <a:blip r:embed="rId8">
            <a:alphaModFix/>
          </a:blip>
          <a:srcRect b="11260" l="19519" r="19501" t="9775"/>
          <a:stretch/>
        </p:blipFill>
        <p:spPr>
          <a:xfrm>
            <a:off x="16613600" y="350975"/>
            <a:ext cx="1532649" cy="19846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39fbb9a373c_0_24"/>
          <p:cNvSpPr/>
          <p:nvPr/>
        </p:nvSpPr>
        <p:spPr>
          <a:xfrm>
            <a:off x="11322508" y="2936219"/>
            <a:ext cx="11873584" cy="7858154"/>
          </a:xfrm>
          <a:custGeom>
            <a:rect b="b" l="l" r="r" t="t"/>
            <a:pathLst>
              <a:path extrusionOk="0" h="7858154" w="11873584">
                <a:moveTo>
                  <a:pt x="0" y="0"/>
                </a:moveTo>
                <a:lnTo>
                  <a:pt x="11873584" y="0"/>
                </a:lnTo>
                <a:lnTo>
                  <a:pt x="11873584" y="7858154"/>
                </a:lnTo>
                <a:lnTo>
                  <a:pt x="0" y="785815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grpSp>
        <p:nvGrpSpPr>
          <p:cNvPr id="326" name="Google Shape;326;g39fbb9a373c_0_24"/>
          <p:cNvGrpSpPr/>
          <p:nvPr/>
        </p:nvGrpSpPr>
        <p:grpSpPr>
          <a:xfrm>
            <a:off x="1092381" y="-800073"/>
            <a:ext cx="1660787" cy="1650512"/>
            <a:chOff x="0" y="-47625"/>
            <a:chExt cx="437406" cy="434700"/>
          </a:xfrm>
        </p:grpSpPr>
        <p:sp>
          <p:nvSpPr>
            <p:cNvPr id="327" name="Google Shape;327;g39fbb9a373c_0_24"/>
            <p:cNvSpPr/>
            <p:nvPr/>
          </p:nvSpPr>
          <p:spPr>
            <a:xfrm>
              <a:off x="0" y="0"/>
              <a:ext cx="437406" cy="387002"/>
            </a:xfrm>
            <a:custGeom>
              <a:rect b="b" l="l" r="r" t="t"/>
              <a:pathLst>
                <a:path extrusionOk="0" h="387002" w="437406">
                  <a:moveTo>
                    <a:pt x="0" y="0"/>
                  </a:moveTo>
                  <a:lnTo>
                    <a:pt x="437406" y="0"/>
                  </a:lnTo>
                  <a:lnTo>
                    <a:pt x="437406" y="387002"/>
                  </a:lnTo>
                  <a:lnTo>
                    <a:pt x="0" y="387002"/>
                  </a:lnTo>
                  <a:close/>
                </a:path>
              </a:pathLst>
            </a:custGeom>
            <a:solidFill>
              <a:srgbClr val="7ED957"/>
            </a:solidFill>
            <a:ln>
              <a:noFill/>
            </a:ln>
          </p:spPr>
        </p:sp>
        <p:sp>
          <p:nvSpPr>
            <p:cNvPr id="328" name="Google Shape;328;g39fbb9a373c_0_24"/>
            <p:cNvSpPr txBox="1"/>
            <p:nvPr/>
          </p:nvSpPr>
          <p:spPr>
            <a:xfrm>
              <a:off x="0" y="-47625"/>
              <a:ext cx="437400" cy="434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29" name="Google Shape;329;g39fbb9a373c_0_24"/>
          <p:cNvGrpSpPr/>
          <p:nvPr/>
        </p:nvGrpSpPr>
        <p:grpSpPr>
          <a:xfrm>
            <a:off x="2837700" y="-800073"/>
            <a:ext cx="489800" cy="1650512"/>
            <a:chOff x="0" y="-47625"/>
            <a:chExt cx="129000" cy="434700"/>
          </a:xfrm>
        </p:grpSpPr>
        <p:sp>
          <p:nvSpPr>
            <p:cNvPr id="330" name="Google Shape;330;g39fbb9a373c_0_24"/>
            <p:cNvSpPr/>
            <p:nvPr/>
          </p:nvSpPr>
          <p:spPr>
            <a:xfrm>
              <a:off x="0" y="0"/>
              <a:ext cx="128975" cy="387002"/>
            </a:xfrm>
            <a:custGeom>
              <a:rect b="b" l="l" r="r" t="t"/>
              <a:pathLst>
                <a:path extrusionOk="0" h="387002" w="128975">
                  <a:moveTo>
                    <a:pt x="0" y="0"/>
                  </a:moveTo>
                  <a:lnTo>
                    <a:pt x="128975" y="0"/>
                  </a:lnTo>
                  <a:lnTo>
                    <a:pt x="128975" y="387002"/>
                  </a:lnTo>
                  <a:lnTo>
                    <a:pt x="0" y="387002"/>
                  </a:lnTo>
                  <a:close/>
                </a:path>
              </a:pathLst>
            </a:custGeom>
            <a:solidFill>
              <a:srgbClr val="00BF63"/>
            </a:solidFill>
            <a:ln>
              <a:noFill/>
            </a:ln>
          </p:spPr>
        </p:sp>
        <p:sp>
          <p:nvSpPr>
            <p:cNvPr id="331" name="Google Shape;331;g39fbb9a373c_0_24"/>
            <p:cNvSpPr txBox="1"/>
            <p:nvPr/>
          </p:nvSpPr>
          <p:spPr>
            <a:xfrm>
              <a:off x="0" y="-47625"/>
              <a:ext cx="129000" cy="434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32" name="Google Shape;332;g39fbb9a373c_0_24"/>
          <p:cNvSpPr txBox="1"/>
          <p:nvPr/>
        </p:nvSpPr>
        <p:spPr>
          <a:xfrm>
            <a:off x="1096175" y="5155375"/>
            <a:ext cx="5712900" cy="793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5004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156"/>
              <a:buFont typeface="Arial"/>
              <a:buNone/>
            </a:pPr>
            <a:r>
              <a:rPr b="1" lang="en-US" sz="5156">
                <a:solidFill>
                  <a:srgbClr val="7ED957"/>
                </a:solidFill>
                <a:latin typeface="Proxima Nova"/>
                <a:ea typeface="Proxima Nova"/>
                <a:cs typeface="Proxima Nova"/>
                <a:sym typeface="Proxima Nova"/>
              </a:rPr>
              <a:t>AAAAAAAAAAAA</a:t>
            </a:r>
            <a:endParaRPr b="0" i="0" sz="2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3" name="Google Shape;333;g39fbb9a373c_0_24"/>
          <p:cNvSpPr txBox="1"/>
          <p:nvPr/>
        </p:nvSpPr>
        <p:spPr>
          <a:xfrm>
            <a:off x="5795850" y="350975"/>
            <a:ext cx="6696300" cy="793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5004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156"/>
              <a:buFont typeface="Arial"/>
              <a:buNone/>
            </a:pPr>
            <a:r>
              <a:rPr b="1" lang="en-US" sz="5156">
                <a:solidFill>
                  <a:srgbClr val="7ED957"/>
                </a:solidFill>
                <a:latin typeface="Proxima Nova"/>
                <a:ea typeface="Proxima Nova"/>
                <a:cs typeface="Proxima Nova"/>
                <a:sym typeface="Proxima Nova"/>
              </a:rPr>
              <a:t>CIRCUITO MONTADO</a:t>
            </a:r>
            <a:endParaRPr b="0" i="0" sz="2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34" name="Google Shape;334;g39fbb9a373c_0_24"/>
          <p:cNvPicPr preferRelativeResize="0"/>
          <p:nvPr/>
        </p:nvPicPr>
        <p:blipFill rotWithShape="1">
          <a:blip r:embed="rId4">
            <a:alphaModFix/>
          </a:blip>
          <a:srcRect b="11260" l="19519" r="19501" t="9775"/>
          <a:stretch/>
        </p:blipFill>
        <p:spPr>
          <a:xfrm>
            <a:off x="16613600" y="350975"/>
            <a:ext cx="1532649" cy="19846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8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p25"/>
          <p:cNvSpPr/>
          <p:nvPr/>
        </p:nvSpPr>
        <p:spPr>
          <a:xfrm>
            <a:off x="13017500" y="5859324"/>
            <a:ext cx="9202028" cy="5500708"/>
          </a:xfrm>
          <a:custGeom>
            <a:rect b="b" l="l" r="r" t="t"/>
            <a:pathLst>
              <a:path extrusionOk="0" h="7858154" w="11873584">
                <a:moveTo>
                  <a:pt x="0" y="0"/>
                </a:moveTo>
                <a:lnTo>
                  <a:pt x="11873584" y="0"/>
                </a:lnTo>
                <a:lnTo>
                  <a:pt x="11873584" y="7858154"/>
                </a:lnTo>
                <a:lnTo>
                  <a:pt x="0" y="785815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grpSp>
        <p:nvGrpSpPr>
          <p:cNvPr id="340" name="Google Shape;340;p25"/>
          <p:cNvGrpSpPr/>
          <p:nvPr/>
        </p:nvGrpSpPr>
        <p:grpSpPr>
          <a:xfrm>
            <a:off x="1234634" y="-915527"/>
            <a:ext cx="1660787" cy="1650512"/>
            <a:chOff x="0" y="-47625"/>
            <a:chExt cx="437406" cy="434700"/>
          </a:xfrm>
        </p:grpSpPr>
        <p:sp>
          <p:nvSpPr>
            <p:cNvPr id="341" name="Google Shape;341;p25"/>
            <p:cNvSpPr/>
            <p:nvPr/>
          </p:nvSpPr>
          <p:spPr>
            <a:xfrm>
              <a:off x="0" y="0"/>
              <a:ext cx="437406" cy="387002"/>
            </a:xfrm>
            <a:custGeom>
              <a:rect b="b" l="l" r="r" t="t"/>
              <a:pathLst>
                <a:path extrusionOk="0" h="387002" w="437406">
                  <a:moveTo>
                    <a:pt x="0" y="0"/>
                  </a:moveTo>
                  <a:lnTo>
                    <a:pt x="437406" y="0"/>
                  </a:lnTo>
                  <a:lnTo>
                    <a:pt x="437406" y="387002"/>
                  </a:lnTo>
                  <a:lnTo>
                    <a:pt x="0" y="387002"/>
                  </a:lnTo>
                  <a:close/>
                </a:path>
              </a:pathLst>
            </a:custGeom>
            <a:solidFill>
              <a:srgbClr val="7ED957"/>
            </a:solidFill>
            <a:ln>
              <a:noFill/>
            </a:ln>
          </p:spPr>
        </p:sp>
        <p:sp>
          <p:nvSpPr>
            <p:cNvPr id="342" name="Google Shape;342;p25"/>
            <p:cNvSpPr txBox="1"/>
            <p:nvPr/>
          </p:nvSpPr>
          <p:spPr>
            <a:xfrm>
              <a:off x="0" y="-47625"/>
              <a:ext cx="437400" cy="434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43" name="Google Shape;343;p25"/>
          <p:cNvGrpSpPr/>
          <p:nvPr/>
        </p:nvGrpSpPr>
        <p:grpSpPr>
          <a:xfrm>
            <a:off x="2895428" y="-915527"/>
            <a:ext cx="489800" cy="1650512"/>
            <a:chOff x="0" y="-47625"/>
            <a:chExt cx="129000" cy="434700"/>
          </a:xfrm>
        </p:grpSpPr>
        <p:sp>
          <p:nvSpPr>
            <p:cNvPr id="344" name="Google Shape;344;p25"/>
            <p:cNvSpPr/>
            <p:nvPr/>
          </p:nvSpPr>
          <p:spPr>
            <a:xfrm>
              <a:off x="0" y="0"/>
              <a:ext cx="128975" cy="387002"/>
            </a:xfrm>
            <a:custGeom>
              <a:rect b="b" l="l" r="r" t="t"/>
              <a:pathLst>
                <a:path extrusionOk="0" h="387002" w="128975">
                  <a:moveTo>
                    <a:pt x="0" y="0"/>
                  </a:moveTo>
                  <a:lnTo>
                    <a:pt x="128975" y="0"/>
                  </a:lnTo>
                  <a:lnTo>
                    <a:pt x="128975" y="387002"/>
                  </a:lnTo>
                  <a:lnTo>
                    <a:pt x="0" y="387002"/>
                  </a:lnTo>
                  <a:close/>
                </a:path>
              </a:pathLst>
            </a:custGeom>
            <a:solidFill>
              <a:srgbClr val="00BF63"/>
            </a:solidFill>
            <a:ln>
              <a:noFill/>
            </a:ln>
          </p:spPr>
        </p:sp>
        <p:sp>
          <p:nvSpPr>
            <p:cNvPr id="345" name="Google Shape;345;p25"/>
            <p:cNvSpPr txBox="1"/>
            <p:nvPr/>
          </p:nvSpPr>
          <p:spPr>
            <a:xfrm>
              <a:off x="0" y="-47625"/>
              <a:ext cx="129000" cy="434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46" name="Google Shape;346;p25"/>
          <p:cNvSpPr txBox="1"/>
          <p:nvPr/>
        </p:nvSpPr>
        <p:spPr>
          <a:xfrm>
            <a:off x="4853100" y="257300"/>
            <a:ext cx="8581800" cy="91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5004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956"/>
              <a:buFont typeface="Arial"/>
              <a:buNone/>
            </a:pPr>
            <a:r>
              <a:rPr b="1" i="0" lang="en-US" sz="5956" u="none" cap="none" strike="noStrike">
                <a:solidFill>
                  <a:srgbClr val="7ED957"/>
                </a:solidFill>
                <a:latin typeface="Proxima Nova"/>
                <a:ea typeface="Proxima Nova"/>
                <a:cs typeface="Proxima Nova"/>
                <a:sym typeface="Proxima Nova"/>
              </a:rPr>
              <a:t>PI - 4° Semestre -  DSM</a:t>
            </a:r>
            <a:endParaRPr b="0" i="0" sz="29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7" name="Google Shape;347;p25"/>
          <p:cNvSpPr txBox="1"/>
          <p:nvPr/>
        </p:nvSpPr>
        <p:spPr>
          <a:xfrm>
            <a:off x="5459425" y="1318418"/>
            <a:ext cx="66057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5004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56"/>
              <a:buFont typeface="Arial"/>
              <a:buNone/>
            </a:pPr>
            <a:r>
              <a:rPr b="1" i="0" lang="en-US" sz="4456" u="none" cap="none" strike="noStrike">
                <a:solidFill>
                  <a:srgbClr val="7ED957"/>
                </a:solidFill>
                <a:latin typeface="Proxima Nova"/>
                <a:ea typeface="Proxima Nova"/>
                <a:cs typeface="Proxima Nova"/>
                <a:sym typeface="Proxima Nova"/>
              </a:rPr>
              <a:t>MOCHILA INTELIGENTE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8" name="Google Shape;348;p25"/>
          <p:cNvSpPr txBox="1"/>
          <p:nvPr/>
        </p:nvSpPr>
        <p:spPr>
          <a:xfrm>
            <a:off x="1234625" y="3429000"/>
            <a:ext cx="9523500" cy="418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457200" lvl="0" marL="457200" marR="0" rtl="0" algn="l">
              <a:lnSpc>
                <a:spcPct val="104994"/>
              </a:lnSpc>
              <a:spcBef>
                <a:spcPts val="0"/>
              </a:spcBef>
              <a:spcAft>
                <a:spcPts val="0"/>
              </a:spcAft>
              <a:buClr>
                <a:srgbClr val="00BF63"/>
              </a:buClr>
              <a:buSzPts val="4664"/>
              <a:buFont typeface="Proxima Nova"/>
              <a:buChar char="-"/>
            </a:pPr>
            <a:r>
              <a:rPr b="1" i="0" lang="en-US" sz="4664" u="none" cap="none" strike="noStrike">
                <a:solidFill>
                  <a:srgbClr val="00BF63"/>
                </a:solidFill>
                <a:latin typeface="Proxima Nova"/>
                <a:ea typeface="Proxima Nova"/>
                <a:cs typeface="Proxima Nova"/>
                <a:sym typeface="Proxima Nova"/>
              </a:rPr>
              <a:t>Claudio de Melo Junior</a:t>
            </a:r>
            <a:endParaRPr b="1" i="0" sz="4664" u="none" cap="none" strike="noStrike">
              <a:solidFill>
                <a:srgbClr val="00BF63"/>
              </a:solidFill>
              <a:latin typeface="Proxima Nova"/>
              <a:ea typeface="Proxima Nova"/>
              <a:cs typeface="Proxima Nova"/>
              <a:sym typeface="Proxima Nova"/>
            </a:endParaRPr>
          </a:p>
          <a:p>
            <a:pPr indent="0" lvl="0" marL="0" marR="0" rtl="0" algn="l">
              <a:lnSpc>
                <a:spcPct val="104994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664"/>
              <a:buFont typeface="Arial"/>
              <a:buNone/>
            </a:pPr>
            <a:r>
              <a:t/>
            </a:r>
            <a:endParaRPr b="1" i="0" sz="4664" u="none" cap="none" strike="noStrike">
              <a:solidFill>
                <a:srgbClr val="00BF63"/>
              </a:solidFill>
              <a:latin typeface="Proxima Nova"/>
              <a:ea typeface="Proxima Nova"/>
              <a:cs typeface="Proxima Nova"/>
              <a:sym typeface="Proxima Nova"/>
            </a:endParaRPr>
          </a:p>
          <a:p>
            <a:pPr indent="-457200" lvl="0" marL="457200" marR="0" rtl="0" algn="l">
              <a:lnSpc>
                <a:spcPct val="104994"/>
              </a:lnSpc>
              <a:spcBef>
                <a:spcPts val="0"/>
              </a:spcBef>
              <a:spcAft>
                <a:spcPts val="0"/>
              </a:spcAft>
              <a:buClr>
                <a:srgbClr val="00BF63"/>
              </a:buClr>
              <a:buSzPts val="4664"/>
              <a:buFont typeface="Proxima Nova"/>
              <a:buChar char="-"/>
            </a:pPr>
            <a:r>
              <a:rPr b="1" i="0" lang="en-US" sz="4664" u="none" cap="none" strike="noStrike">
                <a:solidFill>
                  <a:srgbClr val="00BF63"/>
                </a:solidFill>
                <a:latin typeface="Proxima Nova"/>
                <a:ea typeface="Proxima Nova"/>
                <a:cs typeface="Proxima Nova"/>
                <a:sym typeface="Proxima Nova"/>
              </a:rPr>
              <a:t>João Vitor Nicolau dos Santos</a:t>
            </a:r>
            <a:endParaRPr b="1" i="0" sz="4664" u="none" cap="none" strike="noStrike">
              <a:solidFill>
                <a:srgbClr val="00BF63"/>
              </a:solidFill>
              <a:latin typeface="Proxima Nova"/>
              <a:ea typeface="Proxima Nova"/>
              <a:cs typeface="Proxima Nova"/>
              <a:sym typeface="Proxima Nova"/>
            </a:endParaRPr>
          </a:p>
          <a:p>
            <a:pPr indent="0" lvl="0" marL="0" marR="0" rtl="0" algn="l">
              <a:lnSpc>
                <a:spcPct val="104994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664"/>
              <a:buFont typeface="Arial"/>
              <a:buNone/>
            </a:pPr>
            <a:r>
              <a:t/>
            </a:r>
            <a:endParaRPr b="1" i="0" sz="4664" u="none" cap="none" strike="noStrike">
              <a:solidFill>
                <a:srgbClr val="00BF63"/>
              </a:solidFill>
              <a:latin typeface="Proxima Nova"/>
              <a:ea typeface="Proxima Nova"/>
              <a:cs typeface="Proxima Nova"/>
              <a:sym typeface="Proxima Nova"/>
            </a:endParaRPr>
          </a:p>
          <a:p>
            <a:pPr indent="-457200" lvl="0" marL="457200" marR="0" rtl="0" algn="l">
              <a:lnSpc>
                <a:spcPct val="104994"/>
              </a:lnSpc>
              <a:spcBef>
                <a:spcPts val="0"/>
              </a:spcBef>
              <a:spcAft>
                <a:spcPts val="0"/>
              </a:spcAft>
              <a:buClr>
                <a:srgbClr val="00BF63"/>
              </a:buClr>
              <a:buSzPts val="4664"/>
              <a:buFont typeface="Proxima Nova"/>
              <a:buChar char="-"/>
            </a:pPr>
            <a:r>
              <a:rPr b="1" i="0" lang="en-US" sz="4664" u="none" cap="none" strike="noStrike">
                <a:solidFill>
                  <a:srgbClr val="00BF63"/>
                </a:solidFill>
                <a:latin typeface="Proxima Nova"/>
                <a:ea typeface="Proxima Nova"/>
                <a:cs typeface="Proxima Nova"/>
                <a:sym typeface="Proxima Nova"/>
              </a:rPr>
              <a:t>Luís Pedro Dutra Carrocini</a:t>
            </a:r>
            <a:endParaRPr b="0" i="0" sz="2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4994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t/>
            </a:r>
            <a:endParaRPr b="0" i="0" sz="2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49" name="Google Shape;349;p25"/>
          <p:cNvPicPr preferRelativeResize="0"/>
          <p:nvPr/>
        </p:nvPicPr>
        <p:blipFill rotWithShape="1">
          <a:blip r:embed="rId4">
            <a:alphaModFix/>
          </a:blip>
          <a:srcRect b="11260" l="19519" r="19501" t="9775"/>
          <a:stretch/>
        </p:blipFill>
        <p:spPr>
          <a:xfrm>
            <a:off x="11588875" y="2864000"/>
            <a:ext cx="4327649" cy="560387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