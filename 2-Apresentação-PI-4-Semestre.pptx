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y="10287000" cx="18288000"/>
  <p:notesSz cx="6858000" cy="9144000"/>
  <p:embeddedFontLst>
    <p:embeddedFont>
      <p:font typeface="Raleway"/>
      <p:regular r:id="rId25"/>
      <p:bold r:id="rId26"/>
      <p:italic r:id="rId27"/>
      <p:boldItalic r:id="rId28"/>
    </p:embeddedFont>
    <p:embeddedFont>
      <p:font typeface="Proxima Nova"/>
      <p:regular r:id="rId29"/>
      <p:bold r:id="rId30"/>
      <p:italic r:id="rId31"/>
      <p:boldItalic r:id="rId32"/>
    </p:embeddedFont>
    <p:embeddedFont>
      <p:font typeface="Proxima Nova Extrabold"/>
      <p:bold r:id="rId33"/>
    </p:embeddedFont>
    <p:embeddedFont>
      <p:font typeface="Bree Serif"/>
      <p:regular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5" roundtripDataSignature="AMtx7mgYPWjld0eNuaH/eJ9j0WPySXboM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Raleway-bold.fntdata"/><Relationship Id="rId25" Type="http://schemas.openxmlformats.org/officeDocument/2006/relationships/font" Target="fonts/Raleway-regular.fntdata"/><Relationship Id="rId28" Type="http://schemas.openxmlformats.org/officeDocument/2006/relationships/font" Target="fonts/Raleway-boldItalic.fntdata"/><Relationship Id="rId27" Type="http://schemas.openxmlformats.org/officeDocument/2006/relationships/font" Target="fonts/Raleway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ProximaNova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ProximaNova-italic.fntdata"/><Relationship Id="rId30" Type="http://schemas.openxmlformats.org/officeDocument/2006/relationships/font" Target="fonts/ProximaNova-bold.fntdata"/><Relationship Id="rId11" Type="http://schemas.openxmlformats.org/officeDocument/2006/relationships/slide" Target="slides/slide6.xml"/><Relationship Id="rId33" Type="http://schemas.openxmlformats.org/officeDocument/2006/relationships/font" Target="fonts/ProximaNovaExtrabold-bold.fntdata"/><Relationship Id="rId10" Type="http://schemas.openxmlformats.org/officeDocument/2006/relationships/slide" Target="slides/slide5.xml"/><Relationship Id="rId32" Type="http://schemas.openxmlformats.org/officeDocument/2006/relationships/font" Target="fonts/ProximaNova-boldItalic.fntdata"/><Relationship Id="rId13" Type="http://schemas.openxmlformats.org/officeDocument/2006/relationships/slide" Target="slides/slide8.xml"/><Relationship Id="rId35" Type="http://customschemas.google.com/relationships/presentationmetadata" Target="metadata"/><Relationship Id="rId12" Type="http://schemas.openxmlformats.org/officeDocument/2006/relationships/slide" Target="slides/slide7.xml"/><Relationship Id="rId34" Type="http://schemas.openxmlformats.org/officeDocument/2006/relationships/font" Target="fonts/BreeSerif-regular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4" name="Google Shape;11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9" name="Google Shape;12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7" name="Google Shape;14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2" name="Google Shape;16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6" name="Google Shape;176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0" name="Google Shape;190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3" name="Google Shape;20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7" name="Google Shape;217;p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2" name="Google Shape;232;p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9fbb9a373c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5" name="Google Shape;245;g39fbb9a373c_0_6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9fbb9a373c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0" name="Google Shape;260;g39fbb9a373c_0_4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5" name="Google Shape;275;p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1" name="Google Shape;291;p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5" name="Google Shape;305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9fbb9a373c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6" name="Google Shape;326;g39fbb9a373c_0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a1da4534f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0" name="Google Shape;340;g3a1da4534f6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4" name="Google Shape;354;p2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3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0.jpg"/><Relationship Id="rId6" Type="http://schemas.openxmlformats.org/officeDocument/2006/relationships/image" Target="../media/image18.jpg"/><Relationship Id="rId7" Type="http://schemas.openxmlformats.org/officeDocument/2006/relationships/image" Target="../media/image1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Relationship Id="rId6" Type="http://schemas.openxmlformats.org/officeDocument/2006/relationships/image" Target="../media/image20.png"/><Relationship Id="rId7" Type="http://schemas.openxmlformats.org/officeDocument/2006/relationships/image" Target="../media/image14.png"/><Relationship Id="rId8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11322508" y="2936219"/>
            <a:ext cx="11873584" cy="7858154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85" name="Google Shape;85;p1"/>
          <p:cNvGrpSpPr/>
          <p:nvPr/>
        </p:nvGrpSpPr>
        <p:grpSpPr>
          <a:xfrm>
            <a:off x="1234634" y="-915527"/>
            <a:ext cx="1660787" cy="1650235"/>
            <a:chOff x="0" y="-47625"/>
            <a:chExt cx="437406" cy="434627"/>
          </a:xfrm>
        </p:grpSpPr>
        <p:sp>
          <p:nvSpPr>
            <p:cNvPr id="86" name="Google Shape;86;p1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87" name="Google Shape;87;p1"/>
            <p:cNvSpPr txBox="1"/>
            <p:nvPr/>
          </p:nvSpPr>
          <p:spPr>
            <a:xfrm>
              <a:off x="0" y="-47625"/>
              <a:ext cx="437406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8" name="Google Shape;88;p1"/>
          <p:cNvGrpSpPr/>
          <p:nvPr/>
        </p:nvGrpSpPr>
        <p:grpSpPr>
          <a:xfrm>
            <a:off x="2895428" y="-915527"/>
            <a:ext cx="489705" cy="1650235"/>
            <a:chOff x="0" y="-47625"/>
            <a:chExt cx="128975" cy="434627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128975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1" name="Google Shape;91;p1"/>
          <p:cNvSpPr txBox="1"/>
          <p:nvPr/>
        </p:nvSpPr>
        <p:spPr>
          <a:xfrm>
            <a:off x="6853052" y="2469023"/>
            <a:ext cx="7437900" cy="139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199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61"/>
              <a:buFont typeface="Arial"/>
              <a:buNone/>
            </a:pPr>
            <a:r>
              <a:rPr b="1" i="0" lang="en-US" sz="9061" u="none" cap="none" strike="noStrike">
                <a:solidFill>
                  <a:srgbClr val="7ED957"/>
                </a:solidFill>
                <a:latin typeface="Proxima Nova Extrabold"/>
                <a:ea typeface="Proxima Nova Extrabold"/>
                <a:cs typeface="Proxima Nova Extrabold"/>
                <a:sym typeface="Proxima Nova Extrabold"/>
              </a:rPr>
              <a:t>INTELIGENTE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5072978" y="608696"/>
            <a:ext cx="8630100" cy="214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967"/>
              <a:buFont typeface="Arial"/>
              <a:buNone/>
            </a:pPr>
            <a:r>
              <a:rPr b="1" i="0" lang="en-US" sz="13967" u="none" cap="none" strike="noStrike">
                <a:solidFill>
                  <a:srgbClr val="7ED957"/>
                </a:solidFill>
                <a:latin typeface="Proxima Nova Extrabold"/>
                <a:ea typeface="Proxima Nova Extrabold"/>
                <a:cs typeface="Proxima Nova Extrabold"/>
                <a:sym typeface="Proxima Nova Extrabold"/>
              </a:rPr>
              <a:t>MOCHILA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4453257" y="372774"/>
            <a:ext cx="531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56"/>
              <a:buFont typeface="Arial"/>
              <a:buNone/>
            </a:pPr>
            <a:r>
              <a:rPr b="1" i="0" lang="en-US" sz="44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APRESENTANDO 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5099150" y="372775"/>
            <a:ext cx="2969400" cy="18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64"/>
              <a:buFont typeface="Arial"/>
              <a:buNone/>
            </a:pPr>
            <a:r>
              <a:rPr b="1" i="0" lang="en-US" sz="3364" u="none" cap="none" strike="noStrike">
                <a:solidFill>
                  <a:srgbClr val="00BF63"/>
                </a:solidFill>
                <a:latin typeface="Proxima Nova"/>
                <a:ea typeface="Proxima Nova"/>
                <a:cs typeface="Proxima Nova"/>
                <a:sym typeface="Proxima Nova"/>
              </a:rPr>
              <a:t>Claudio Junior</a:t>
            </a:r>
            <a:endParaRPr b="1" i="0" sz="3364" u="none" cap="none" strike="noStrike">
              <a:solidFill>
                <a:srgbClr val="00BF6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4"/>
              <a:buFont typeface="Arial"/>
              <a:buNone/>
            </a:pPr>
            <a:r>
              <a:rPr b="1" i="0" lang="en-US" sz="3364" u="none" cap="none" strike="noStrike">
                <a:solidFill>
                  <a:srgbClr val="00BF63"/>
                </a:solidFill>
                <a:latin typeface="Proxima Nova"/>
                <a:ea typeface="Proxima Nova"/>
                <a:cs typeface="Proxima Nova"/>
                <a:sym typeface="Proxima Nova"/>
              </a:rPr>
              <a:t>João Vitor</a:t>
            </a:r>
            <a:endParaRPr b="1" i="0" sz="3364" u="none" cap="none" strike="noStrike">
              <a:solidFill>
                <a:srgbClr val="00BF6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64"/>
              <a:buFont typeface="Arial"/>
              <a:buNone/>
            </a:pPr>
            <a:r>
              <a:rPr b="1" i="0" lang="en-US" sz="3364" u="none" cap="none" strike="noStrike">
                <a:solidFill>
                  <a:srgbClr val="00BF63"/>
                </a:solidFill>
                <a:latin typeface="Proxima Nova"/>
                <a:ea typeface="Proxima Nova"/>
                <a:cs typeface="Proxima Nova"/>
                <a:sym typeface="Proxima Nova"/>
              </a:rPr>
              <a:t>Luís Pedro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808200" y="8697175"/>
            <a:ext cx="9467400" cy="13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61"/>
              <a:buFont typeface="Arial"/>
              <a:buNone/>
            </a:pPr>
            <a:r>
              <a:rPr b="0" i="0" lang="en-US" sz="4061" u="none" cap="none" strike="noStrike">
                <a:solidFill>
                  <a:srgbClr val="7ED957"/>
                </a:solidFill>
                <a:latin typeface="Bree Serif"/>
                <a:ea typeface="Bree Serif"/>
                <a:cs typeface="Bree Serif"/>
                <a:sym typeface="Bree Serif"/>
              </a:rPr>
              <a:t>MONITORAMENTO DE PESO PARA MAIS SAÚDE E CONFORTO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1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234625" y="2683121"/>
            <a:ext cx="4052224" cy="52472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/>
          <p:nvPr/>
        </p:nvSpPr>
        <p:spPr>
          <a:xfrm>
            <a:off x="11322508" y="2936219"/>
            <a:ext cx="11873584" cy="7858154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02" name="Google Shape;102;p2"/>
          <p:cNvGrpSpPr/>
          <p:nvPr/>
        </p:nvGrpSpPr>
        <p:grpSpPr>
          <a:xfrm>
            <a:off x="1034654" y="-915527"/>
            <a:ext cx="1660787" cy="1650512"/>
            <a:chOff x="0" y="-47625"/>
            <a:chExt cx="437406" cy="434700"/>
          </a:xfrm>
        </p:grpSpPr>
        <p:sp>
          <p:nvSpPr>
            <p:cNvPr id="103" name="Google Shape;103;p2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104" name="Google Shape;104;p2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5" name="Google Shape;105;p2"/>
          <p:cNvGrpSpPr/>
          <p:nvPr/>
        </p:nvGrpSpPr>
        <p:grpSpPr>
          <a:xfrm>
            <a:off x="2779973" y="-915527"/>
            <a:ext cx="489800" cy="1650512"/>
            <a:chOff x="0" y="-47625"/>
            <a:chExt cx="129000" cy="434700"/>
          </a:xfrm>
        </p:grpSpPr>
        <p:sp>
          <p:nvSpPr>
            <p:cNvPr id="106" name="Google Shape;106;p2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107" name="Google Shape;107;p2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8" name="Google Shape;108;p2"/>
          <p:cNvSpPr txBox="1"/>
          <p:nvPr/>
        </p:nvSpPr>
        <p:spPr>
          <a:xfrm>
            <a:off x="0" y="1337825"/>
            <a:ext cx="15795600" cy="520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24939" lvl="1" marL="1030472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50"/>
              <a:buFont typeface="Arial"/>
              <a:buChar char="•"/>
            </a:pPr>
            <a:r>
              <a:rPr b="1" i="0" lang="en-US" sz="335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Muitos de nós carregam mochilas pesadas todos os dias, seja na escola, faculdade ou no trabalho. Quase sem perceber, adicionamos livros, cadernos, notebooks e outros itens que, juntos, se tornam uma carga excessiva.</a:t>
            </a:r>
            <a:endParaRPr b="1" i="0" sz="335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</a:pPr>
            <a:r>
              <a:t/>
            </a:r>
            <a:endParaRPr b="1" i="0" sz="335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24939" lvl="1" marL="1030472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50"/>
              <a:buFont typeface="Arial"/>
              <a:buChar char="•"/>
            </a:pPr>
            <a:r>
              <a:rPr b="1" i="0" lang="en-US" sz="335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Essa rotina silenciosa pode ter consequências sérias. O excesso de peso não só causa desconforto imediato, mas também pode levar a dores crônicas, má postura e problemas de saúde a longo prazo.</a:t>
            </a:r>
            <a:endParaRPr b="0" i="0" sz="3350" u="none" cap="none" strike="noStrike">
              <a:solidFill>
                <a:srgbClr val="00BF6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72"/>
              <a:buFont typeface="Arial"/>
              <a:buNone/>
            </a:pPr>
            <a:r>
              <a:t/>
            </a:r>
            <a:endParaRPr b="1" i="0" sz="5672" u="none" cap="none" strike="noStrike">
              <a:solidFill>
                <a:srgbClr val="7ED957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5071116" y="198584"/>
            <a:ext cx="9014400" cy="8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56"/>
              <a:buFont typeface="Arial"/>
              <a:buNone/>
            </a:pPr>
            <a:r>
              <a:rPr b="1" i="0" lang="en-US" sz="56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PROBLEMA ENFRENTADO</a:t>
            </a:r>
            <a:endParaRPr b="0" i="0" sz="2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p2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5875" y="6015800"/>
            <a:ext cx="6743775" cy="4027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"/>
          <p:cNvSpPr/>
          <p:nvPr/>
        </p:nvSpPr>
        <p:spPr>
          <a:xfrm>
            <a:off x="11322508" y="2936219"/>
            <a:ext cx="11873584" cy="7858154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17" name="Google Shape;117;p3"/>
          <p:cNvGrpSpPr/>
          <p:nvPr/>
        </p:nvGrpSpPr>
        <p:grpSpPr>
          <a:xfrm>
            <a:off x="1005790" y="-915527"/>
            <a:ext cx="1660787" cy="1650235"/>
            <a:chOff x="0" y="-47625"/>
            <a:chExt cx="437406" cy="434627"/>
          </a:xfrm>
        </p:grpSpPr>
        <p:sp>
          <p:nvSpPr>
            <p:cNvPr id="118" name="Google Shape;118;p3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119" name="Google Shape;119;p3"/>
            <p:cNvSpPr txBox="1"/>
            <p:nvPr/>
          </p:nvSpPr>
          <p:spPr>
            <a:xfrm>
              <a:off x="0" y="-47625"/>
              <a:ext cx="437406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0" name="Google Shape;120;p3"/>
          <p:cNvGrpSpPr/>
          <p:nvPr/>
        </p:nvGrpSpPr>
        <p:grpSpPr>
          <a:xfrm>
            <a:off x="2751109" y="-915527"/>
            <a:ext cx="489705" cy="1650235"/>
            <a:chOff x="0" y="-47625"/>
            <a:chExt cx="128975" cy="434627"/>
          </a:xfrm>
        </p:grpSpPr>
        <p:sp>
          <p:nvSpPr>
            <p:cNvPr id="121" name="Google Shape;121;p3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122" name="Google Shape;122;p3"/>
            <p:cNvSpPr txBox="1"/>
            <p:nvPr/>
          </p:nvSpPr>
          <p:spPr>
            <a:xfrm>
              <a:off x="0" y="-47625"/>
              <a:ext cx="128975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3" name="Google Shape;123;p3"/>
          <p:cNvSpPr txBox="1"/>
          <p:nvPr/>
        </p:nvSpPr>
        <p:spPr>
          <a:xfrm>
            <a:off x="0" y="1337825"/>
            <a:ext cx="15795600" cy="57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24939" lvl="1" marL="1030472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50"/>
              <a:buFont typeface="Arial"/>
              <a:buChar char="•"/>
            </a:pPr>
            <a:r>
              <a:rPr b="1" i="0" lang="en-US" sz="335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A mochila oferece um monitoramento de peso em tempo real, fornecendo informações essenciais para que você possa cuidar da sua saúde e conforto, evitando os riscos associados ao transporte de peso excessivo.</a:t>
            </a:r>
            <a:endParaRPr b="1" i="0" sz="335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</a:pPr>
            <a:r>
              <a:t/>
            </a:r>
            <a:endParaRPr b="1" i="0" sz="335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24939" lvl="1" marL="1030472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50"/>
              <a:buFont typeface="Arial"/>
              <a:buChar char="•"/>
            </a:pPr>
            <a:r>
              <a:rPr b="1" i="0" lang="en-US" sz="335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Com a nossa Mochila Inteligente, você não precisa mais adivinhar se está carregando peso demais. A tecnologia faz o trabalho por você, lhe apresentando o peso transportado e gerando alertas quando esse limite é ultrapassado.</a:t>
            </a:r>
            <a:endParaRPr b="0" i="0" sz="3350" u="none" cap="none" strike="noStrike">
              <a:solidFill>
                <a:srgbClr val="00BF6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72"/>
              <a:buFont typeface="Arial"/>
              <a:buNone/>
            </a:pPr>
            <a:r>
              <a:t/>
            </a:r>
            <a:endParaRPr b="1" i="0" sz="5672" u="none" cap="none" strike="noStrike">
              <a:solidFill>
                <a:srgbClr val="7ED957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1005800" y="6500100"/>
            <a:ext cx="6880401" cy="3634929"/>
          </a:xfrm>
          <a:custGeom>
            <a:rect b="b" l="l" r="r" t="t"/>
            <a:pathLst>
              <a:path extrusionOk="0" h="4945481" w="7418222">
                <a:moveTo>
                  <a:pt x="0" y="0"/>
                </a:moveTo>
                <a:lnTo>
                  <a:pt x="7418222" y="0"/>
                </a:lnTo>
                <a:lnTo>
                  <a:pt x="7418222" y="4945481"/>
                </a:lnTo>
                <a:lnTo>
                  <a:pt x="0" y="494548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5" name="Google Shape;125;p3"/>
          <p:cNvSpPr txBox="1"/>
          <p:nvPr/>
        </p:nvSpPr>
        <p:spPr>
          <a:xfrm>
            <a:off x="3572769" y="189000"/>
            <a:ext cx="12097500" cy="8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56"/>
              <a:buFont typeface="Arial"/>
              <a:buNone/>
            </a:pPr>
            <a:r>
              <a:rPr b="1" i="0" lang="en-US" sz="54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SOLUÇÃO: A MOCHILA INTELIGENTE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p3"/>
          <p:cNvPicPr preferRelativeResize="0"/>
          <p:nvPr/>
        </p:nvPicPr>
        <p:blipFill rotWithShape="1">
          <a:blip r:embed="rId5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"/>
          <p:cNvSpPr/>
          <p:nvPr/>
        </p:nvSpPr>
        <p:spPr>
          <a:xfrm>
            <a:off x="12146976" y="2898143"/>
            <a:ext cx="11873584" cy="7858154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3" y="0"/>
                </a:lnTo>
                <a:lnTo>
                  <a:pt x="11873583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32" name="Google Shape;132;p4"/>
          <p:cNvGrpSpPr/>
          <p:nvPr/>
        </p:nvGrpSpPr>
        <p:grpSpPr>
          <a:xfrm>
            <a:off x="1005790" y="-915527"/>
            <a:ext cx="1660787" cy="1650235"/>
            <a:chOff x="0" y="-47625"/>
            <a:chExt cx="437406" cy="434627"/>
          </a:xfrm>
        </p:grpSpPr>
        <p:sp>
          <p:nvSpPr>
            <p:cNvPr id="133" name="Google Shape;133;p4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134" name="Google Shape;134;p4"/>
            <p:cNvSpPr txBox="1"/>
            <p:nvPr/>
          </p:nvSpPr>
          <p:spPr>
            <a:xfrm>
              <a:off x="0" y="-47625"/>
              <a:ext cx="437406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5" name="Google Shape;135;p4"/>
          <p:cNvGrpSpPr/>
          <p:nvPr/>
        </p:nvGrpSpPr>
        <p:grpSpPr>
          <a:xfrm>
            <a:off x="2751109" y="-915527"/>
            <a:ext cx="489705" cy="1650235"/>
            <a:chOff x="0" y="-47625"/>
            <a:chExt cx="128975" cy="434627"/>
          </a:xfrm>
        </p:grpSpPr>
        <p:sp>
          <p:nvSpPr>
            <p:cNvPr id="136" name="Google Shape;136;p4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137" name="Google Shape;137;p4"/>
            <p:cNvSpPr txBox="1"/>
            <p:nvPr/>
          </p:nvSpPr>
          <p:spPr>
            <a:xfrm>
              <a:off x="0" y="-47625"/>
              <a:ext cx="128975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8" name="Google Shape;138;p4"/>
          <p:cNvSpPr/>
          <p:nvPr/>
        </p:nvSpPr>
        <p:spPr>
          <a:xfrm>
            <a:off x="1595597" y="5012670"/>
            <a:ext cx="7466764" cy="4977842"/>
          </a:xfrm>
          <a:custGeom>
            <a:rect b="b" l="l" r="r" t="t"/>
            <a:pathLst>
              <a:path extrusionOk="0" h="4977842" w="7466764">
                <a:moveTo>
                  <a:pt x="0" y="0"/>
                </a:moveTo>
                <a:lnTo>
                  <a:pt x="7466763" y="0"/>
                </a:lnTo>
                <a:lnTo>
                  <a:pt x="7466763" y="4977842"/>
                </a:lnTo>
                <a:lnTo>
                  <a:pt x="0" y="49778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9" name="Google Shape;139;p4"/>
          <p:cNvSpPr txBox="1"/>
          <p:nvPr/>
        </p:nvSpPr>
        <p:spPr>
          <a:xfrm>
            <a:off x="2791766" y="3406660"/>
            <a:ext cx="12852300" cy="5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1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49"/>
              <a:buFont typeface="Arial"/>
              <a:buNone/>
            </a:pPr>
            <a:r>
              <a:rPr b="1" i="0" lang="en-US" sz="3349" u="none" cap="none" strike="noStrike">
                <a:solidFill>
                  <a:srgbClr val="7ED957"/>
                </a:solidFill>
                <a:latin typeface="Raleway"/>
                <a:ea typeface="Raleway"/>
                <a:cs typeface="Raleway"/>
                <a:sym typeface="Raleway"/>
              </a:rPr>
              <a:t>SENSORES DE PESO → MICROCONTROLADOR IOT → API → BD</a:t>
            </a:r>
            <a:endParaRPr b="0" i="0" sz="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4"/>
          <p:cNvSpPr txBox="1"/>
          <p:nvPr/>
        </p:nvSpPr>
        <p:spPr>
          <a:xfrm>
            <a:off x="3618156" y="-127000"/>
            <a:ext cx="5907000" cy="182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867"/>
              <a:buFont typeface="Arial"/>
              <a:buNone/>
            </a:pPr>
            <a:r>
              <a:rPr b="1" i="0" lang="en-US" sz="11867" u="none" cap="none" strike="noStrike">
                <a:solidFill>
                  <a:srgbClr val="7ED957"/>
                </a:solidFill>
                <a:latin typeface="Proxima Nova Extrabold"/>
                <a:ea typeface="Proxima Nova Extrabold"/>
                <a:cs typeface="Proxima Nova Extrabold"/>
                <a:sym typeface="Proxima Nova Extrabold"/>
              </a:rPr>
              <a:t>COMO </a:t>
            </a:r>
            <a:endParaRPr b="0" i="0" sz="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4"/>
          <p:cNvSpPr txBox="1"/>
          <p:nvPr/>
        </p:nvSpPr>
        <p:spPr>
          <a:xfrm>
            <a:off x="5935312" y="1333905"/>
            <a:ext cx="10876800" cy="18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67"/>
              <a:buFont typeface="Arial"/>
              <a:buNone/>
            </a:pPr>
            <a:r>
              <a:rPr b="1" i="0" lang="en-US" sz="12067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FUNCIONA?</a:t>
            </a:r>
            <a:endParaRPr b="0" i="0" sz="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3618150" y="4137500"/>
            <a:ext cx="4395300" cy="5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1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49"/>
              <a:buFont typeface="Arial"/>
              <a:buNone/>
            </a:pPr>
            <a:r>
              <a:rPr b="1" i="0" lang="en-US" sz="3349" u="none" cap="none" strike="noStrike">
                <a:solidFill>
                  <a:srgbClr val="7ED957"/>
                </a:solidFill>
                <a:latin typeface="Raleway"/>
                <a:ea typeface="Raleway"/>
                <a:cs typeface="Raleway"/>
                <a:sym typeface="Raleway"/>
              </a:rPr>
              <a:t>BD → API → MOBILE</a:t>
            </a:r>
            <a:endParaRPr b="0" i="0" sz="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4"/>
          <p:cNvSpPr txBox="1"/>
          <p:nvPr/>
        </p:nvSpPr>
        <p:spPr>
          <a:xfrm>
            <a:off x="9871425" y="4137500"/>
            <a:ext cx="4395300" cy="5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1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49"/>
              <a:buFont typeface="Arial"/>
              <a:buNone/>
            </a:pPr>
            <a:r>
              <a:rPr b="1" i="0" lang="en-US" sz="3349" u="none" cap="none" strike="noStrike">
                <a:solidFill>
                  <a:srgbClr val="7ED957"/>
                </a:solidFill>
                <a:latin typeface="Raleway"/>
                <a:ea typeface="Raleway"/>
                <a:cs typeface="Raleway"/>
                <a:sym typeface="Raleway"/>
              </a:rPr>
              <a:t>BD → API → SITE</a:t>
            </a:r>
            <a:endParaRPr b="0" i="0" sz="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4" name="Google Shape;144;p4"/>
          <p:cNvPicPr preferRelativeResize="0"/>
          <p:nvPr/>
        </p:nvPicPr>
        <p:blipFill rotWithShape="1">
          <a:blip r:embed="rId5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oogle Shape;149;p5"/>
          <p:cNvGrpSpPr/>
          <p:nvPr/>
        </p:nvGrpSpPr>
        <p:grpSpPr>
          <a:xfrm>
            <a:off x="1669654" y="-915526"/>
            <a:ext cx="1660777" cy="1650226"/>
            <a:chOff x="0" y="-47625"/>
            <a:chExt cx="437406" cy="434627"/>
          </a:xfrm>
        </p:grpSpPr>
        <p:sp>
          <p:nvSpPr>
            <p:cNvPr id="150" name="Google Shape;150;p5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151" name="Google Shape;151;p5"/>
            <p:cNvSpPr txBox="1"/>
            <p:nvPr/>
          </p:nvSpPr>
          <p:spPr>
            <a:xfrm>
              <a:off x="0" y="-47625"/>
              <a:ext cx="437406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2" name="Google Shape;152;p5"/>
          <p:cNvGrpSpPr/>
          <p:nvPr/>
        </p:nvGrpSpPr>
        <p:grpSpPr>
          <a:xfrm>
            <a:off x="3414973" y="-915526"/>
            <a:ext cx="489701" cy="1650226"/>
            <a:chOff x="0" y="-47625"/>
            <a:chExt cx="128975" cy="434627"/>
          </a:xfrm>
        </p:grpSpPr>
        <p:sp>
          <p:nvSpPr>
            <p:cNvPr id="153" name="Google Shape;153;p5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154" name="Google Shape;154;p5"/>
            <p:cNvSpPr txBox="1"/>
            <p:nvPr/>
          </p:nvSpPr>
          <p:spPr>
            <a:xfrm>
              <a:off x="0" y="-47625"/>
              <a:ext cx="128975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5" name="Google Shape;155;p5"/>
          <p:cNvSpPr txBox="1"/>
          <p:nvPr/>
        </p:nvSpPr>
        <p:spPr>
          <a:xfrm>
            <a:off x="375200" y="1730375"/>
            <a:ext cx="15627000" cy="61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63736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ANÁLISE DE PESO TRANSPORTADO EM TEMPO REAL</a:t>
            </a:r>
            <a:endParaRPr b="1" sz="3841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841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63736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PERSONALIZAÇÃO DO LIMITE DO USUÁRIO (10%)</a:t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1"/>
              <a:buFont typeface="Arial"/>
              <a:buNone/>
            </a:pPr>
            <a:r>
              <a:t/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63737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ALERTAS QUANDO O LIMITE É ULTRAPASSADO (MOCHILA OU USUÁRIO)</a:t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1"/>
              <a:buFont typeface="Arial"/>
              <a:buNone/>
            </a:pPr>
            <a:r>
              <a:t/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63736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REALATÓRIOS  DE USO (DIÁRIO, SEMANAL, MENSAL E ANUAL)</a:t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841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63736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lang="en-US" sz="3841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GERAR ESTATÍSTICA DE PREVISÃO DIÁRIA</a:t>
            </a:r>
            <a:endParaRPr b="1" i="0" sz="4442" u="none" cap="none" strike="noStrike">
              <a:solidFill>
                <a:srgbClr val="7ED957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56" name="Google Shape;156;p5"/>
          <p:cNvSpPr txBox="1"/>
          <p:nvPr/>
        </p:nvSpPr>
        <p:spPr>
          <a:xfrm>
            <a:off x="6198173" y="360145"/>
            <a:ext cx="6936300" cy="8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56"/>
              <a:buFont typeface="Arial"/>
              <a:buNone/>
            </a:pPr>
            <a:r>
              <a:rPr b="1" i="0" lang="en-US" sz="56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FUNCIONALIDADES</a:t>
            </a:r>
            <a:endParaRPr b="0" i="0" sz="2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7" name="Google Shape;157;p5"/>
          <p:cNvPicPr preferRelativeResize="0"/>
          <p:nvPr/>
        </p:nvPicPr>
        <p:blipFill rotWithShape="1">
          <a:blip r:embed="rId3">
            <a:alphaModFix/>
          </a:blip>
          <a:srcRect b="10792" l="9642" r="5473" t="18525"/>
          <a:stretch/>
        </p:blipFill>
        <p:spPr>
          <a:xfrm>
            <a:off x="13363633" y="7162675"/>
            <a:ext cx="4720150" cy="312432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5"/>
          <p:cNvSpPr/>
          <p:nvPr/>
        </p:nvSpPr>
        <p:spPr>
          <a:xfrm rot="3968610">
            <a:off x="-1830977" y="8238733"/>
            <a:ext cx="8146719" cy="5040640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3" y="0"/>
                </a:lnTo>
                <a:lnTo>
                  <a:pt x="11873583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pic>
        <p:nvPicPr>
          <p:cNvPr id="159" name="Google Shape;159;p5"/>
          <p:cNvPicPr preferRelativeResize="0"/>
          <p:nvPr/>
        </p:nvPicPr>
        <p:blipFill rotWithShape="1">
          <a:blip r:embed="rId5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"/>
          <p:cNvSpPr/>
          <p:nvPr/>
        </p:nvSpPr>
        <p:spPr>
          <a:xfrm>
            <a:off x="11322508" y="2936219"/>
            <a:ext cx="11873584" cy="7858154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65" name="Google Shape;165;p6"/>
          <p:cNvGrpSpPr/>
          <p:nvPr/>
        </p:nvGrpSpPr>
        <p:grpSpPr>
          <a:xfrm>
            <a:off x="1669654" y="-915526"/>
            <a:ext cx="1660777" cy="1650226"/>
            <a:chOff x="0" y="-47625"/>
            <a:chExt cx="437406" cy="434627"/>
          </a:xfrm>
        </p:grpSpPr>
        <p:sp>
          <p:nvSpPr>
            <p:cNvPr id="166" name="Google Shape;166;p6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167" name="Google Shape;167;p6"/>
            <p:cNvSpPr txBox="1"/>
            <p:nvPr/>
          </p:nvSpPr>
          <p:spPr>
            <a:xfrm>
              <a:off x="0" y="-47625"/>
              <a:ext cx="437406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8" name="Google Shape;168;p6"/>
          <p:cNvGrpSpPr/>
          <p:nvPr/>
        </p:nvGrpSpPr>
        <p:grpSpPr>
          <a:xfrm>
            <a:off x="3414973" y="-915526"/>
            <a:ext cx="489701" cy="1650226"/>
            <a:chOff x="0" y="-47625"/>
            <a:chExt cx="128975" cy="434627"/>
          </a:xfrm>
        </p:grpSpPr>
        <p:sp>
          <p:nvSpPr>
            <p:cNvPr id="169" name="Google Shape;169;p6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170" name="Google Shape;170;p6"/>
            <p:cNvSpPr txBox="1"/>
            <p:nvPr/>
          </p:nvSpPr>
          <p:spPr>
            <a:xfrm>
              <a:off x="0" y="-47625"/>
              <a:ext cx="128975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1" name="Google Shape;171;p6"/>
          <p:cNvSpPr txBox="1"/>
          <p:nvPr/>
        </p:nvSpPr>
        <p:spPr>
          <a:xfrm>
            <a:off x="346375" y="3124325"/>
            <a:ext cx="15850200" cy="19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67"/>
              <a:buFont typeface="Arial"/>
              <a:buNone/>
            </a:pPr>
            <a:r>
              <a:rPr b="1" i="0" lang="en-US" sz="12667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DESENVOLVIMENTO</a:t>
            </a:r>
            <a:endParaRPr b="0" i="0" sz="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6"/>
          <p:cNvSpPr txBox="1"/>
          <p:nvPr/>
        </p:nvSpPr>
        <p:spPr>
          <a:xfrm>
            <a:off x="1022000" y="5074025"/>
            <a:ext cx="14980200" cy="13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67"/>
              <a:buFont typeface="Arial"/>
              <a:buNone/>
            </a:pPr>
            <a:r>
              <a:rPr b="1" i="0" lang="en-US" sz="8567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(TECNOLOGIAS UTILIZADAS)</a:t>
            </a:r>
            <a:endParaRPr b="0" i="0" sz="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6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7"/>
          <p:cNvSpPr/>
          <p:nvPr/>
        </p:nvSpPr>
        <p:spPr>
          <a:xfrm>
            <a:off x="12560200" y="5323950"/>
            <a:ext cx="10537806" cy="5991842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79" name="Google Shape;179;p7"/>
          <p:cNvGrpSpPr/>
          <p:nvPr/>
        </p:nvGrpSpPr>
        <p:grpSpPr>
          <a:xfrm>
            <a:off x="1669654" y="-915527"/>
            <a:ext cx="1660787" cy="1650512"/>
            <a:chOff x="0" y="-47625"/>
            <a:chExt cx="437406" cy="434700"/>
          </a:xfrm>
        </p:grpSpPr>
        <p:sp>
          <p:nvSpPr>
            <p:cNvPr id="180" name="Google Shape;180;p7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181" name="Google Shape;181;p7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2" name="Google Shape;182;p7"/>
          <p:cNvGrpSpPr/>
          <p:nvPr/>
        </p:nvGrpSpPr>
        <p:grpSpPr>
          <a:xfrm>
            <a:off x="3414973" y="-915527"/>
            <a:ext cx="489800" cy="1650512"/>
            <a:chOff x="0" y="-47625"/>
            <a:chExt cx="129000" cy="434700"/>
          </a:xfrm>
        </p:grpSpPr>
        <p:sp>
          <p:nvSpPr>
            <p:cNvPr id="183" name="Google Shape;183;p7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184" name="Google Shape;184;p7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5" name="Google Shape;185;p7"/>
          <p:cNvSpPr txBox="1"/>
          <p:nvPr/>
        </p:nvSpPr>
        <p:spPr>
          <a:xfrm>
            <a:off x="6497275" y="165975"/>
            <a:ext cx="6338100" cy="114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467"/>
              <a:buFont typeface="Arial"/>
              <a:buNone/>
            </a:pPr>
            <a:r>
              <a:rPr b="1" i="0" lang="en-US" sz="7467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VISÃO GERAL</a:t>
            </a:r>
            <a:endParaRPr b="0" i="0" sz="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7"/>
          <p:cNvSpPr txBox="1"/>
          <p:nvPr/>
        </p:nvSpPr>
        <p:spPr>
          <a:xfrm>
            <a:off x="993300" y="2192200"/>
            <a:ext cx="15627000" cy="689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63737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BD</a:t>
            </a:r>
            <a:r>
              <a:rPr b="1" lang="en-US" sz="3841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R</a:t>
            </a: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: POSTGRES</a:t>
            </a:r>
            <a:r>
              <a:rPr b="1" lang="en-US" sz="3841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QL</a:t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1"/>
              <a:buFont typeface="Arial"/>
              <a:buNone/>
            </a:pPr>
            <a:r>
              <a:t/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63737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API: NODE.JS</a:t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1"/>
              <a:buFont typeface="Arial"/>
              <a:buNone/>
            </a:pPr>
            <a:r>
              <a:t/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63736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MOBILE: REACT</a:t>
            </a:r>
            <a:r>
              <a:rPr b="1" lang="en-US" sz="3841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-</a:t>
            </a: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NATIVE</a:t>
            </a:r>
            <a:endParaRPr b="1" sz="3841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841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63736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WEB: </a:t>
            </a:r>
            <a:r>
              <a:rPr b="1" i="0" lang="en-US" sz="3841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NEXT.JS</a:t>
            </a:r>
            <a:endParaRPr b="1" sz="3841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841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63736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IOT: ESP32-C3 (</a:t>
            </a:r>
            <a:r>
              <a:rPr b="1" lang="en-US" sz="3841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C</a:t>
            </a: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++)</a:t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1"/>
              <a:buFont typeface="Arial"/>
              <a:buNone/>
            </a:pPr>
            <a:r>
              <a:t/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42"/>
              <a:buFont typeface="Arial"/>
              <a:buNone/>
            </a:pPr>
            <a:r>
              <a:t/>
            </a:r>
            <a:endParaRPr b="1" i="0" sz="4442" u="none" cap="none" strike="noStrike">
              <a:solidFill>
                <a:srgbClr val="7ED957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187" name="Google Shape;187;p7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Google Shape;192;p10"/>
          <p:cNvGrpSpPr/>
          <p:nvPr/>
        </p:nvGrpSpPr>
        <p:grpSpPr>
          <a:xfrm>
            <a:off x="919199" y="-915527"/>
            <a:ext cx="1660787" cy="1650512"/>
            <a:chOff x="0" y="-47625"/>
            <a:chExt cx="437406" cy="434700"/>
          </a:xfrm>
        </p:grpSpPr>
        <p:sp>
          <p:nvSpPr>
            <p:cNvPr id="193" name="Google Shape;193;p10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194" name="Google Shape;194;p10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5" name="Google Shape;195;p10"/>
          <p:cNvGrpSpPr/>
          <p:nvPr/>
        </p:nvGrpSpPr>
        <p:grpSpPr>
          <a:xfrm>
            <a:off x="2664518" y="-915527"/>
            <a:ext cx="489800" cy="1650512"/>
            <a:chOff x="0" y="-47625"/>
            <a:chExt cx="129000" cy="434700"/>
          </a:xfrm>
        </p:grpSpPr>
        <p:sp>
          <p:nvSpPr>
            <p:cNvPr id="196" name="Google Shape;196;p10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197" name="Google Shape;197;p10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8" name="Google Shape;198;p10"/>
          <p:cNvSpPr txBox="1"/>
          <p:nvPr/>
        </p:nvSpPr>
        <p:spPr>
          <a:xfrm>
            <a:off x="7391810" y="235200"/>
            <a:ext cx="44982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BD - Estrutura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9" name="Google Shape;199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94008" y="1028700"/>
            <a:ext cx="15069841" cy="9258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10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3"/>
          <p:cNvSpPr/>
          <p:nvPr/>
        </p:nvSpPr>
        <p:spPr>
          <a:xfrm>
            <a:off x="13248423" y="6490324"/>
            <a:ext cx="9023924" cy="4754183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06" name="Google Shape;206;p13"/>
          <p:cNvGrpSpPr/>
          <p:nvPr/>
        </p:nvGrpSpPr>
        <p:grpSpPr>
          <a:xfrm>
            <a:off x="919199" y="-915527"/>
            <a:ext cx="1660787" cy="1650512"/>
            <a:chOff x="0" y="-47625"/>
            <a:chExt cx="437406" cy="434700"/>
          </a:xfrm>
        </p:grpSpPr>
        <p:sp>
          <p:nvSpPr>
            <p:cNvPr id="207" name="Google Shape;207;p13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208" name="Google Shape;208;p13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9" name="Google Shape;209;p13"/>
          <p:cNvGrpSpPr/>
          <p:nvPr/>
        </p:nvGrpSpPr>
        <p:grpSpPr>
          <a:xfrm>
            <a:off x="2664518" y="-915527"/>
            <a:ext cx="489800" cy="1650512"/>
            <a:chOff x="0" y="-47625"/>
            <a:chExt cx="129000" cy="434700"/>
          </a:xfrm>
        </p:grpSpPr>
        <p:sp>
          <p:nvSpPr>
            <p:cNvPr id="210" name="Google Shape;210;p13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211" name="Google Shape;211;p13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2" name="Google Shape;212;p13"/>
          <p:cNvSpPr txBox="1"/>
          <p:nvPr/>
        </p:nvSpPr>
        <p:spPr>
          <a:xfrm>
            <a:off x="3731593" y="198575"/>
            <a:ext cx="120975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API - Funcionalidades Implementadas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3"/>
          <p:cNvSpPr txBox="1"/>
          <p:nvPr/>
        </p:nvSpPr>
        <p:spPr>
          <a:xfrm>
            <a:off x="919196" y="1643157"/>
            <a:ext cx="14911200" cy="99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5720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00"/>
              <a:buFont typeface="Raleway"/>
              <a:buChar char="-"/>
            </a:pPr>
            <a:r>
              <a:rPr b="1" i="0" lang="en-US" sz="38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Login / Cadastro de Usuários</a:t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t/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5720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00"/>
              <a:buFont typeface="Raleway"/>
              <a:buChar char="-"/>
            </a:pPr>
            <a:r>
              <a:rPr b="1" i="0" lang="en-US" sz="38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Gerenciamento de mochilas pelos administradores do sistema</a:t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t/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5720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00"/>
              <a:buFont typeface="Raleway"/>
              <a:buChar char="-"/>
            </a:pPr>
            <a:r>
              <a:rPr b="1" i="0" lang="en-US" sz="38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Vínculo da mochila com o usuário</a:t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t/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5720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00"/>
              <a:buFont typeface="Raleway"/>
              <a:buChar char="-"/>
            </a:pPr>
            <a:r>
              <a:rPr b="1" i="0" lang="en-US" sz="38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Recebimento de medições capturados pela IoT</a:t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t/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5720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00"/>
              <a:buFont typeface="Raleway"/>
              <a:buChar char="-"/>
            </a:pPr>
            <a:r>
              <a:rPr b="1" i="0" lang="en-US" sz="38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Criação e encaminhamento de alertas, caso o limite do peso recomendável para o usuário ou mochila seja ultrapassado</a:t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t/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5720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00"/>
              <a:buFont typeface="Raleway"/>
              <a:buChar char="-"/>
            </a:pPr>
            <a:r>
              <a:rPr b="1" i="0" lang="en-US" sz="38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Geração de relatórios  (diário, semanal, mensal</a:t>
            </a:r>
            <a:r>
              <a:rPr b="1" lang="en-US" sz="38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 e</a:t>
            </a:r>
            <a:r>
              <a:rPr b="1" i="0" lang="en-US" sz="38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 anual) e previsões diárias</a:t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t/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72"/>
              <a:buFont typeface="Arial"/>
              <a:buNone/>
            </a:pPr>
            <a:r>
              <a:t/>
            </a:r>
            <a:endParaRPr b="1" i="0" sz="4772" u="none" cap="none" strike="noStrike">
              <a:solidFill>
                <a:srgbClr val="7ED957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214" name="Google Shape;214;p13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4"/>
          <p:cNvSpPr/>
          <p:nvPr/>
        </p:nvSpPr>
        <p:spPr>
          <a:xfrm>
            <a:off x="13248423" y="6490324"/>
            <a:ext cx="9023924" cy="4754183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20" name="Google Shape;220;p14"/>
          <p:cNvGrpSpPr/>
          <p:nvPr/>
        </p:nvGrpSpPr>
        <p:grpSpPr>
          <a:xfrm>
            <a:off x="919199" y="-915527"/>
            <a:ext cx="1660787" cy="1650512"/>
            <a:chOff x="0" y="-47625"/>
            <a:chExt cx="437406" cy="434700"/>
          </a:xfrm>
        </p:grpSpPr>
        <p:sp>
          <p:nvSpPr>
            <p:cNvPr id="221" name="Google Shape;221;p14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222" name="Google Shape;222;p14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3" name="Google Shape;223;p14"/>
          <p:cNvGrpSpPr/>
          <p:nvPr/>
        </p:nvGrpSpPr>
        <p:grpSpPr>
          <a:xfrm>
            <a:off x="2664518" y="-915527"/>
            <a:ext cx="489800" cy="1650512"/>
            <a:chOff x="0" y="-47625"/>
            <a:chExt cx="129000" cy="434700"/>
          </a:xfrm>
        </p:grpSpPr>
        <p:sp>
          <p:nvSpPr>
            <p:cNvPr id="224" name="Google Shape;224;p14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225" name="Google Shape;225;p14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6" name="Google Shape;226;p14"/>
          <p:cNvSpPr txBox="1"/>
          <p:nvPr/>
        </p:nvSpPr>
        <p:spPr>
          <a:xfrm>
            <a:off x="6305096" y="235200"/>
            <a:ext cx="45810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API - Estrutura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4"/>
          <p:cNvSpPr txBox="1"/>
          <p:nvPr/>
        </p:nvSpPr>
        <p:spPr>
          <a:xfrm>
            <a:off x="919198" y="1206047"/>
            <a:ext cx="6123600" cy="87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DSM-G06-PI4-2025-2/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├── API/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├── prisma/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│   ├── migrations/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│   └── schema.prisma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└── src/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controllers/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alertas.js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medicoes.js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mochilas.js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tokenJWT.js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usuarios.js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└── usuariosMochilas.js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middlewares/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── public/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└── routes/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    ├── alertas.js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    ├── medicoes.js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    ├── mochilas.js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    ├── tokenJWT.js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    ├── usuarios.js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    └── usuariosMochilas.js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app.js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prisma.js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server.js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utils.js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.env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228" name="Google Shape;228;p14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78051" y="1266205"/>
            <a:ext cx="4581000" cy="8604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4" name="Google Shape;234;p16"/>
          <p:cNvGrpSpPr/>
          <p:nvPr/>
        </p:nvGrpSpPr>
        <p:grpSpPr>
          <a:xfrm>
            <a:off x="919199" y="-915527"/>
            <a:ext cx="1660787" cy="1650512"/>
            <a:chOff x="0" y="-47625"/>
            <a:chExt cx="437406" cy="434700"/>
          </a:xfrm>
        </p:grpSpPr>
        <p:sp>
          <p:nvSpPr>
            <p:cNvPr id="235" name="Google Shape;235;p16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236" name="Google Shape;236;p16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7" name="Google Shape;237;p16"/>
          <p:cNvGrpSpPr/>
          <p:nvPr/>
        </p:nvGrpSpPr>
        <p:grpSpPr>
          <a:xfrm>
            <a:off x="2664518" y="-915527"/>
            <a:ext cx="489800" cy="1650512"/>
            <a:chOff x="0" y="-47625"/>
            <a:chExt cx="129000" cy="434700"/>
          </a:xfrm>
        </p:grpSpPr>
        <p:sp>
          <p:nvSpPr>
            <p:cNvPr id="238" name="Google Shape;238;p16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239" name="Google Shape;239;p16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0" name="Google Shape;240;p16"/>
          <p:cNvSpPr txBox="1"/>
          <p:nvPr/>
        </p:nvSpPr>
        <p:spPr>
          <a:xfrm>
            <a:off x="4248500" y="340975"/>
            <a:ext cx="108816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API - Token JWT (Access / Refresh)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6"/>
          <p:cNvSpPr txBox="1"/>
          <p:nvPr/>
        </p:nvSpPr>
        <p:spPr>
          <a:xfrm>
            <a:off x="377800" y="1431225"/>
            <a:ext cx="15879300" cy="89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5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Para acessar e utilizar nossa API, é necessário um processo de autenticação via token JWT (JSON Web Token).</a:t>
            </a:r>
            <a:endParaRPr b="1" sz="25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25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5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O token JWT é gerado no momento do login com e-mail e senha para os usuários e serve para garantir a segurança de todas as interações. Ele funciona como uma chave de acesso, permitindo que se consuma os endpoints da API de acordo com as suas permissões.</a:t>
            </a:r>
            <a:endParaRPr b="1" sz="25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25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5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A mochila, atuando como um cliente IoT, realiza um "login" inicial utilizando suas próprias credenciais: um código de identificação e uma assinatura (gerada a partir da data-hora atual e uma Chave-Privada).</a:t>
            </a:r>
            <a:endParaRPr b="1" sz="25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25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5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Para aumentar a segurança e a usabilidade, nossa API utiliza um par de tokens: o Token de Acesso (Access Token) e o Token de Atualização (Refresh Token).</a:t>
            </a:r>
            <a:endParaRPr b="1" i="0" sz="25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25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5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O Token de Acesso é a sua chave para interagir com a API. Ele é de curta duração e expira rapidamente (em 15 minutos). Isso é uma medida de segurança, pois, se for interceptado, o risco de uso indevido é limitado.</a:t>
            </a:r>
            <a:endParaRPr b="1" i="0" sz="25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25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5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O Token de Atualização, por outro lado, tem uma vida útil mais longa (Mobile: 60 dias | Web: 1 dia | I</a:t>
            </a:r>
            <a:r>
              <a:rPr b="1" lang="en-US" sz="25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o</a:t>
            </a:r>
            <a:r>
              <a:rPr b="1" i="0" lang="en-US" sz="25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T: </a:t>
            </a:r>
            <a:r>
              <a:rPr b="1" lang="en-US" sz="25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1 dia</a:t>
            </a:r>
            <a:r>
              <a:rPr b="1" i="0" lang="en-US" sz="25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). Ele não é usado para acessar a API diretamente. Sua única função é obter um novo Token de Acesso quando o antigo expirar, sem que o usuário precise fazer o login novamente. Isso garante uma experiência de uso contínua, mantendo a segurança.</a:t>
            </a:r>
            <a:endParaRPr b="1" i="0" sz="25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1" i="0" sz="2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242" name="Google Shape;242;p16"/>
          <p:cNvPicPr preferRelativeResize="0"/>
          <p:nvPr/>
        </p:nvPicPr>
        <p:blipFill rotWithShape="1">
          <a:blip r:embed="rId3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9fbb9a373c_0_60"/>
          <p:cNvSpPr/>
          <p:nvPr/>
        </p:nvSpPr>
        <p:spPr>
          <a:xfrm>
            <a:off x="13248423" y="6490324"/>
            <a:ext cx="9023924" cy="4754183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48" name="Google Shape;248;g39fbb9a373c_0_60"/>
          <p:cNvGrpSpPr/>
          <p:nvPr/>
        </p:nvGrpSpPr>
        <p:grpSpPr>
          <a:xfrm>
            <a:off x="919199" y="-915527"/>
            <a:ext cx="1660787" cy="1650512"/>
            <a:chOff x="0" y="-47625"/>
            <a:chExt cx="437406" cy="434700"/>
          </a:xfrm>
        </p:grpSpPr>
        <p:sp>
          <p:nvSpPr>
            <p:cNvPr id="249" name="Google Shape;249;g39fbb9a373c_0_60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250" name="Google Shape;250;g39fbb9a373c_0_60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1" name="Google Shape;251;g39fbb9a373c_0_60"/>
          <p:cNvGrpSpPr/>
          <p:nvPr/>
        </p:nvGrpSpPr>
        <p:grpSpPr>
          <a:xfrm>
            <a:off x="2664518" y="-915527"/>
            <a:ext cx="489800" cy="1650512"/>
            <a:chOff x="0" y="-47625"/>
            <a:chExt cx="129000" cy="434700"/>
          </a:xfrm>
        </p:grpSpPr>
        <p:sp>
          <p:nvSpPr>
            <p:cNvPr id="252" name="Google Shape;252;g39fbb9a373c_0_60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253" name="Google Shape;253;g39fbb9a373c_0_60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4" name="Google Shape;254;g39fbb9a373c_0_60"/>
          <p:cNvSpPr txBox="1"/>
          <p:nvPr/>
        </p:nvSpPr>
        <p:spPr>
          <a:xfrm>
            <a:off x="6686850" y="198575"/>
            <a:ext cx="49143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lang="en-US" sz="5156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WEB</a:t>
            </a: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 - Estrutura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g39fbb9a373c_0_60"/>
          <p:cNvSpPr txBox="1"/>
          <p:nvPr/>
        </p:nvSpPr>
        <p:spPr>
          <a:xfrm>
            <a:off x="919198" y="1206047"/>
            <a:ext cx="6123600" cy="838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DSM-G06-PI4-2025-2/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WEB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public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└── src/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app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alerts/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backpack/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home/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     └── page.js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hooks/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login/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profile/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register/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reports/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global.css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layout.js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not-found.js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└──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páge.js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components/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jsconfig.json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next.config.mjs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package-lock.json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package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pnpm-lock.yaml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postcss.config.mjs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└── .env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256" name="Google Shape;256;g39fbb9a373c_0_60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g39fbb9a373c_0_6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11618" y="1206050"/>
            <a:ext cx="4418989" cy="8712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9fbb9a373c_0_45"/>
          <p:cNvSpPr/>
          <p:nvPr/>
        </p:nvSpPr>
        <p:spPr>
          <a:xfrm>
            <a:off x="13248423" y="6490324"/>
            <a:ext cx="9023924" cy="4754183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63" name="Google Shape;263;g39fbb9a373c_0_45"/>
          <p:cNvGrpSpPr/>
          <p:nvPr/>
        </p:nvGrpSpPr>
        <p:grpSpPr>
          <a:xfrm>
            <a:off x="919199" y="-915527"/>
            <a:ext cx="1660787" cy="1650512"/>
            <a:chOff x="0" y="-47625"/>
            <a:chExt cx="437406" cy="434700"/>
          </a:xfrm>
        </p:grpSpPr>
        <p:sp>
          <p:nvSpPr>
            <p:cNvPr id="264" name="Google Shape;264;g39fbb9a373c_0_45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265" name="Google Shape;265;g39fbb9a373c_0_45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6" name="Google Shape;266;g39fbb9a373c_0_45"/>
          <p:cNvGrpSpPr/>
          <p:nvPr/>
        </p:nvGrpSpPr>
        <p:grpSpPr>
          <a:xfrm>
            <a:off x="2664518" y="-915527"/>
            <a:ext cx="489800" cy="1650512"/>
            <a:chOff x="0" y="-47625"/>
            <a:chExt cx="129000" cy="434700"/>
          </a:xfrm>
        </p:grpSpPr>
        <p:sp>
          <p:nvSpPr>
            <p:cNvPr id="267" name="Google Shape;267;g39fbb9a373c_0_45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268" name="Google Shape;268;g39fbb9a373c_0_45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9" name="Google Shape;269;g39fbb9a373c_0_45"/>
          <p:cNvSpPr txBox="1"/>
          <p:nvPr/>
        </p:nvSpPr>
        <p:spPr>
          <a:xfrm>
            <a:off x="6305100" y="235200"/>
            <a:ext cx="61236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lang="en-US" sz="5156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MOBILE</a:t>
            </a: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 - Estrutura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g39fbb9a373c_0_45"/>
          <p:cNvSpPr txBox="1"/>
          <p:nvPr/>
        </p:nvSpPr>
        <p:spPr>
          <a:xfrm>
            <a:off x="919198" y="1206047"/>
            <a:ext cx="6123600" cy="903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DSM-G06-PI4-2025-2/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├── API/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.expo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├── assets/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├── node_modules/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└── src/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assets/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components/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BottomNav.js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└── SettingsModal.js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pages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annualReport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backpack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dailyReport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deleteAccount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futurePrediction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├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home</a:t>
            </a:r>
            <a:r>
              <a:rPr b="1" i="0" lang="en-US" sz="2000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main.js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monthlyReport.js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profile.js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reportingOptions.js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reports.js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└── weeklyReport.js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tasks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utils/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backgroundTask.js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routes.js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└──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styles.js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271" name="Google Shape;271;g39fbb9a373c_0_45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g39fbb9a373c_0_4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2736" y="1211184"/>
            <a:ext cx="4485800" cy="8806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0"/>
          <p:cNvSpPr/>
          <p:nvPr/>
        </p:nvSpPr>
        <p:spPr>
          <a:xfrm>
            <a:off x="14268725" y="7309176"/>
            <a:ext cx="8163089" cy="4223758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78" name="Google Shape;278;p20"/>
          <p:cNvGrpSpPr/>
          <p:nvPr/>
        </p:nvGrpSpPr>
        <p:grpSpPr>
          <a:xfrm>
            <a:off x="919199" y="-915527"/>
            <a:ext cx="1660787" cy="1650512"/>
            <a:chOff x="0" y="-47625"/>
            <a:chExt cx="437406" cy="434700"/>
          </a:xfrm>
        </p:grpSpPr>
        <p:sp>
          <p:nvSpPr>
            <p:cNvPr id="279" name="Google Shape;279;p20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280" name="Google Shape;280;p20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1" name="Google Shape;281;p20"/>
          <p:cNvGrpSpPr/>
          <p:nvPr/>
        </p:nvGrpSpPr>
        <p:grpSpPr>
          <a:xfrm>
            <a:off x="2664518" y="-915527"/>
            <a:ext cx="489800" cy="1650512"/>
            <a:chOff x="0" y="-47625"/>
            <a:chExt cx="129000" cy="434700"/>
          </a:xfrm>
        </p:grpSpPr>
        <p:sp>
          <p:nvSpPr>
            <p:cNvPr id="282" name="Google Shape;282;p20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283" name="Google Shape;283;p20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4" name="Google Shape;284;p20"/>
          <p:cNvSpPr txBox="1"/>
          <p:nvPr/>
        </p:nvSpPr>
        <p:spPr>
          <a:xfrm>
            <a:off x="7297801" y="403625"/>
            <a:ext cx="3692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Arial"/>
              <a:buNone/>
            </a:pPr>
            <a:r>
              <a:rPr b="1" i="0" lang="en-US" sz="4000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MOBILE -  Telas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5" name="Google Shape;285;p20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079723" y="1495490"/>
            <a:ext cx="3909476" cy="8475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783883" y="1495489"/>
            <a:ext cx="3856989" cy="8356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08272" y="1495515"/>
            <a:ext cx="3857000" cy="8356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7"/>
          <p:cNvSpPr/>
          <p:nvPr/>
        </p:nvSpPr>
        <p:spPr>
          <a:xfrm>
            <a:off x="13508198" y="5974749"/>
            <a:ext cx="9528551" cy="5657871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94" name="Google Shape;294;p17"/>
          <p:cNvSpPr txBox="1"/>
          <p:nvPr/>
        </p:nvSpPr>
        <p:spPr>
          <a:xfrm>
            <a:off x="919200" y="1259600"/>
            <a:ext cx="16947300" cy="109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b="1" i="0" lang="en-US" sz="35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Componentes:</a:t>
            </a:r>
            <a:endParaRPr b="1" i="0" sz="35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t/>
            </a:r>
            <a:endParaRPr b="1" i="0" sz="35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3815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00"/>
              <a:buFont typeface="Raleway"/>
              <a:buChar char="-"/>
            </a:pPr>
            <a:r>
              <a:rPr b="1" i="0" lang="en-US" sz="33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Power bank</a:t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t/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3815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00"/>
              <a:buFont typeface="Raleway"/>
              <a:buChar char="-"/>
            </a:pPr>
            <a:r>
              <a:rPr b="1" i="0" lang="en-US" sz="33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2 Células de Carga (medição do peso da mochila, uma para cada alça  da mochila)</a:t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3815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00"/>
              <a:buFont typeface="Raleway"/>
              <a:buChar char="-"/>
            </a:pPr>
            <a:r>
              <a:rPr b="1" i="0" lang="en-US" sz="33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2 Módulos HX711 (conversão do  sinal das células de carga para digital, comunicando com o ESP32)</a:t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3815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00"/>
              <a:buFont typeface="Raleway"/>
              <a:buChar char="-"/>
            </a:pPr>
            <a:r>
              <a:rPr b="1" i="0" lang="en-US" sz="33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1 ESP32-C3 (realizará comunicação com a API, conectado com o Wifi, enviando os medições captadas pelas células de carga, somente envia não recebe)</a:t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3815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00"/>
              <a:buFont typeface="Raleway"/>
              <a:buChar char="-"/>
            </a:pPr>
            <a:r>
              <a:rPr b="1" i="0" lang="en-US" sz="33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Linguagem de programação para o ESP32-C3 (C++)</a:t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3815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00"/>
              <a:buFont typeface="Raleway"/>
              <a:buChar char="-"/>
            </a:pPr>
            <a:r>
              <a:rPr b="1" i="0" lang="en-US" sz="33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Mochila Simples</a:t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t/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t/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t/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i="0" sz="36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t/>
            </a:r>
            <a:endParaRPr b="1" i="0" sz="36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grpSp>
        <p:nvGrpSpPr>
          <p:cNvPr id="295" name="Google Shape;295;p17"/>
          <p:cNvGrpSpPr/>
          <p:nvPr/>
        </p:nvGrpSpPr>
        <p:grpSpPr>
          <a:xfrm>
            <a:off x="919199" y="-915527"/>
            <a:ext cx="1660787" cy="1650512"/>
            <a:chOff x="0" y="-47625"/>
            <a:chExt cx="437406" cy="434700"/>
          </a:xfrm>
        </p:grpSpPr>
        <p:sp>
          <p:nvSpPr>
            <p:cNvPr id="296" name="Google Shape;296;p17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297" name="Google Shape;297;p17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8" name="Google Shape;298;p17"/>
          <p:cNvGrpSpPr/>
          <p:nvPr/>
        </p:nvGrpSpPr>
        <p:grpSpPr>
          <a:xfrm>
            <a:off x="2664518" y="-915527"/>
            <a:ext cx="489800" cy="1650512"/>
            <a:chOff x="0" y="-47625"/>
            <a:chExt cx="129000" cy="434700"/>
          </a:xfrm>
        </p:grpSpPr>
        <p:sp>
          <p:nvSpPr>
            <p:cNvPr id="299" name="Google Shape;299;p17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300" name="Google Shape;300;p17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01" name="Google Shape;301;p17"/>
          <p:cNvSpPr txBox="1"/>
          <p:nvPr/>
        </p:nvSpPr>
        <p:spPr>
          <a:xfrm>
            <a:off x="5604025" y="235200"/>
            <a:ext cx="74565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IoT - Internet das Coisas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2" name="Google Shape;302;p17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8"/>
          <p:cNvSpPr/>
          <p:nvPr/>
        </p:nvSpPr>
        <p:spPr>
          <a:xfrm>
            <a:off x="11322508" y="2936219"/>
            <a:ext cx="11873584" cy="7858154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08" name="Google Shape;308;p18"/>
          <p:cNvGrpSpPr/>
          <p:nvPr/>
        </p:nvGrpSpPr>
        <p:grpSpPr>
          <a:xfrm>
            <a:off x="1092381" y="-800073"/>
            <a:ext cx="1660787" cy="1650235"/>
            <a:chOff x="0" y="-47625"/>
            <a:chExt cx="437406" cy="434627"/>
          </a:xfrm>
        </p:grpSpPr>
        <p:sp>
          <p:nvSpPr>
            <p:cNvPr id="309" name="Google Shape;309;p18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310" name="Google Shape;310;p18"/>
            <p:cNvSpPr txBox="1"/>
            <p:nvPr/>
          </p:nvSpPr>
          <p:spPr>
            <a:xfrm>
              <a:off x="0" y="-47625"/>
              <a:ext cx="437406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1" name="Google Shape;311;p18"/>
          <p:cNvGrpSpPr/>
          <p:nvPr/>
        </p:nvGrpSpPr>
        <p:grpSpPr>
          <a:xfrm>
            <a:off x="2837700" y="-800073"/>
            <a:ext cx="489705" cy="1650235"/>
            <a:chOff x="0" y="-47625"/>
            <a:chExt cx="128975" cy="434627"/>
          </a:xfrm>
        </p:grpSpPr>
        <p:sp>
          <p:nvSpPr>
            <p:cNvPr id="312" name="Google Shape;312;p18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313" name="Google Shape;313;p18"/>
            <p:cNvSpPr txBox="1"/>
            <p:nvPr/>
          </p:nvSpPr>
          <p:spPr>
            <a:xfrm>
              <a:off x="0" y="-47625"/>
              <a:ext cx="128975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14" name="Google Shape;314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49175" y="6376775"/>
            <a:ext cx="4271800" cy="293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" name="Google Shape;315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91798" y="1173838"/>
            <a:ext cx="3981525" cy="3981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70987" y="1173851"/>
            <a:ext cx="4271800" cy="4271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2190725" y="2093045"/>
            <a:ext cx="3337700" cy="33526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18"/>
          <p:cNvSpPr txBox="1"/>
          <p:nvPr/>
        </p:nvSpPr>
        <p:spPr>
          <a:xfrm>
            <a:off x="1096163" y="5155375"/>
            <a:ext cx="33378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ESP32-C3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8"/>
          <p:cNvSpPr txBox="1"/>
          <p:nvPr/>
        </p:nvSpPr>
        <p:spPr>
          <a:xfrm>
            <a:off x="5688600" y="5155375"/>
            <a:ext cx="5634000" cy="7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56"/>
              <a:buFont typeface="Arial"/>
              <a:buNone/>
            </a:pPr>
            <a:r>
              <a:rPr b="1" i="0" lang="en-US" sz="48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CÉLULA DE CARGA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18"/>
          <p:cNvSpPr txBox="1"/>
          <p:nvPr/>
        </p:nvSpPr>
        <p:spPr>
          <a:xfrm>
            <a:off x="12739080" y="5155375"/>
            <a:ext cx="21258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HX711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8"/>
          <p:cNvSpPr txBox="1"/>
          <p:nvPr/>
        </p:nvSpPr>
        <p:spPr>
          <a:xfrm>
            <a:off x="3914450" y="9089400"/>
            <a:ext cx="45066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P</a:t>
            </a:r>
            <a:r>
              <a:rPr b="1" lang="en-US" sz="5156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OWER</a:t>
            </a: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 B</a:t>
            </a:r>
            <a:r>
              <a:rPr b="1" lang="en-US" sz="5156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ANK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8"/>
          <p:cNvSpPr txBox="1"/>
          <p:nvPr/>
        </p:nvSpPr>
        <p:spPr>
          <a:xfrm>
            <a:off x="6809137" y="380350"/>
            <a:ext cx="57552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COMPONENTES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3" name="Google Shape;323;p18"/>
          <p:cNvPicPr preferRelativeResize="0"/>
          <p:nvPr/>
        </p:nvPicPr>
        <p:blipFill rotWithShape="1">
          <a:blip r:embed="rId8">
            <a:alphaModFix/>
          </a:blip>
          <a:srcRect b="11260" l="19519" r="19501" t="9775"/>
          <a:stretch/>
        </p:blipFill>
        <p:spPr>
          <a:xfrm>
            <a:off x="16613600" y="3509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9fbb9a373c_0_24"/>
          <p:cNvSpPr/>
          <p:nvPr/>
        </p:nvSpPr>
        <p:spPr>
          <a:xfrm>
            <a:off x="15881675" y="6617373"/>
            <a:ext cx="7302254" cy="4184467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29" name="Google Shape;329;g39fbb9a373c_0_24"/>
          <p:cNvGrpSpPr/>
          <p:nvPr/>
        </p:nvGrpSpPr>
        <p:grpSpPr>
          <a:xfrm>
            <a:off x="1092381" y="-800073"/>
            <a:ext cx="1660787" cy="1650512"/>
            <a:chOff x="0" y="-47625"/>
            <a:chExt cx="437406" cy="434700"/>
          </a:xfrm>
        </p:grpSpPr>
        <p:sp>
          <p:nvSpPr>
            <p:cNvPr id="330" name="Google Shape;330;g39fbb9a373c_0_24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331" name="Google Shape;331;g39fbb9a373c_0_24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g39fbb9a373c_0_24"/>
          <p:cNvGrpSpPr/>
          <p:nvPr/>
        </p:nvGrpSpPr>
        <p:grpSpPr>
          <a:xfrm>
            <a:off x="2837700" y="-800073"/>
            <a:ext cx="489800" cy="1650512"/>
            <a:chOff x="0" y="-47625"/>
            <a:chExt cx="129000" cy="434700"/>
          </a:xfrm>
        </p:grpSpPr>
        <p:sp>
          <p:nvSpPr>
            <p:cNvPr id="333" name="Google Shape;333;g39fbb9a373c_0_24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334" name="Google Shape;334;g39fbb9a373c_0_24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5" name="Google Shape;335;g39fbb9a373c_0_24"/>
          <p:cNvSpPr txBox="1"/>
          <p:nvPr/>
        </p:nvSpPr>
        <p:spPr>
          <a:xfrm>
            <a:off x="5795850" y="350975"/>
            <a:ext cx="66963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lang="en-US" sz="5156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CIRCUITO MONTADO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6" name="Google Shape;336;g39fbb9a373c_0_24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613600" y="350975"/>
            <a:ext cx="1532649" cy="198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g39fbb9a373c_0_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49963" y="1505703"/>
            <a:ext cx="8188075" cy="8269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a1da4534f6_0_0"/>
          <p:cNvSpPr/>
          <p:nvPr/>
        </p:nvSpPr>
        <p:spPr>
          <a:xfrm>
            <a:off x="12343598" y="7331374"/>
            <a:ext cx="9528551" cy="4557729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43" name="Google Shape;343;g3a1da4534f6_0_0"/>
          <p:cNvGrpSpPr/>
          <p:nvPr/>
        </p:nvGrpSpPr>
        <p:grpSpPr>
          <a:xfrm>
            <a:off x="1092381" y="-800073"/>
            <a:ext cx="1660787" cy="1650512"/>
            <a:chOff x="0" y="-47625"/>
            <a:chExt cx="437406" cy="434700"/>
          </a:xfrm>
        </p:grpSpPr>
        <p:sp>
          <p:nvSpPr>
            <p:cNvPr id="344" name="Google Shape;344;g3a1da4534f6_0_0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345" name="Google Shape;345;g3a1da4534f6_0_0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6" name="Google Shape;346;g3a1da4534f6_0_0"/>
          <p:cNvGrpSpPr/>
          <p:nvPr/>
        </p:nvGrpSpPr>
        <p:grpSpPr>
          <a:xfrm>
            <a:off x="2837700" y="-800073"/>
            <a:ext cx="489800" cy="1650512"/>
            <a:chOff x="0" y="-47625"/>
            <a:chExt cx="129000" cy="434700"/>
          </a:xfrm>
        </p:grpSpPr>
        <p:sp>
          <p:nvSpPr>
            <p:cNvPr id="347" name="Google Shape;347;g3a1da4534f6_0_0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348" name="Google Shape;348;g3a1da4534f6_0_0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9" name="Google Shape;349;g3a1da4534f6_0_0"/>
          <p:cNvSpPr txBox="1"/>
          <p:nvPr/>
        </p:nvSpPr>
        <p:spPr>
          <a:xfrm>
            <a:off x="5795850" y="350975"/>
            <a:ext cx="75291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lang="en-US" sz="5156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EM FUNCIONAMENTO…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0" name="Google Shape;350;g3a1da4534f6_0_0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613600" y="350975"/>
            <a:ext cx="1532649" cy="198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" name="Google Shape;351;g3a1da4534f6_0_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28288" y="2335600"/>
            <a:ext cx="11117825" cy="7304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25"/>
          <p:cNvSpPr/>
          <p:nvPr/>
        </p:nvSpPr>
        <p:spPr>
          <a:xfrm>
            <a:off x="13017500" y="5859324"/>
            <a:ext cx="9202028" cy="5500708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57" name="Google Shape;357;p25"/>
          <p:cNvGrpSpPr/>
          <p:nvPr/>
        </p:nvGrpSpPr>
        <p:grpSpPr>
          <a:xfrm>
            <a:off x="1234634" y="-915527"/>
            <a:ext cx="1660787" cy="1650512"/>
            <a:chOff x="0" y="-47625"/>
            <a:chExt cx="437406" cy="434700"/>
          </a:xfrm>
        </p:grpSpPr>
        <p:sp>
          <p:nvSpPr>
            <p:cNvPr id="358" name="Google Shape;358;p25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359" name="Google Shape;359;p25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0" name="Google Shape;360;p25"/>
          <p:cNvGrpSpPr/>
          <p:nvPr/>
        </p:nvGrpSpPr>
        <p:grpSpPr>
          <a:xfrm>
            <a:off x="2895428" y="-915527"/>
            <a:ext cx="489800" cy="1650512"/>
            <a:chOff x="0" y="-47625"/>
            <a:chExt cx="129000" cy="434700"/>
          </a:xfrm>
        </p:grpSpPr>
        <p:sp>
          <p:nvSpPr>
            <p:cNvPr id="361" name="Google Shape;361;p25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362" name="Google Shape;362;p25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3" name="Google Shape;363;p25"/>
          <p:cNvSpPr txBox="1"/>
          <p:nvPr/>
        </p:nvSpPr>
        <p:spPr>
          <a:xfrm>
            <a:off x="4853100" y="257300"/>
            <a:ext cx="8581800" cy="91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956"/>
              <a:buFont typeface="Arial"/>
              <a:buNone/>
            </a:pPr>
            <a:r>
              <a:rPr b="1" i="0" lang="en-US" sz="59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PI - 4° Semestre -  DSM</a:t>
            </a:r>
            <a:endParaRPr b="0" i="0" sz="2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25"/>
          <p:cNvSpPr txBox="1"/>
          <p:nvPr/>
        </p:nvSpPr>
        <p:spPr>
          <a:xfrm>
            <a:off x="5459425" y="1318418"/>
            <a:ext cx="6605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56"/>
              <a:buFont typeface="Arial"/>
              <a:buNone/>
            </a:pPr>
            <a:r>
              <a:rPr b="1" i="0" lang="en-US" sz="44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MOCHILA INTELIGENTE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25"/>
          <p:cNvSpPr txBox="1"/>
          <p:nvPr/>
        </p:nvSpPr>
        <p:spPr>
          <a:xfrm>
            <a:off x="997525" y="2857500"/>
            <a:ext cx="11067600" cy="575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064">
                <a:solidFill>
                  <a:srgbClr val="00BF63"/>
                </a:solidFill>
                <a:latin typeface="Proxima Nova"/>
                <a:ea typeface="Proxima Nova"/>
                <a:cs typeface="Proxima Nova"/>
                <a:sym typeface="Proxima Nova"/>
              </a:rPr>
              <a:t>Esperamos que tenham gostado….</a:t>
            </a:r>
            <a:endParaRPr b="1" sz="5064">
              <a:solidFill>
                <a:srgbClr val="00BF6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664">
              <a:solidFill>
                <a:srgbClr val="00BF6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457200" lvl="0" marL="45720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4664"/>
              <a:buFont typeface="Proxima Nova"/>
              <a:buChar char="-"/>
            </a:pPr>
            <a:r>
              <a:rPr b="1" i="0" lang="en-US" sz="4664" u="none" cap="none" strike="noStrike">
                <a:solidFill>
                  <a:srgbClr val="00BF63"/>
                </a:solidFill>
                <a:latin typeface="Proxima Nova"/>
                <a:ea typeface="Proxima Nova"/>
                <a:cs typeface="Proxima Nova"/>
                <a:sym typeface="Proxima Nova"/>
              </a:rPr>
              <a:t>Claudio de Melo Junior (Mobile)</a:t>
            </a:r>
            <a:endParaRPr b="1" i="0" sz="4664" u="none" cap="none" strike="noStrike">
              <a:solidFill>
                <a:srgbClr val="00BF6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64"/>
              <a:buFont typeface="Arial"/>
              <a:buNone/>
            </a:pPr>
            <a:r>
              <a:t/>
            </a:r>
            <a:endParaRPr b="1" i="0" sz="4664" u="none" cap="none" strike="noStrike">
              <a:solidFill>
                <a:srgbClr val="00BF6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457200" lvl="0" marL="45720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4664"/>
              <a:buFont typeface="Proxima Nova"/>
              <a:buChar char="-"/>
            </a:pPr>
            <a:r>
              <a:rPr b="1" i="0" lang="en-US" sz="4664" u="none" cap="none" strike="noStrike">
                <a:solidFill>
                  <a:srgbClr val="00BF63"/>
                </a:solidFill>
                <a:latin typeface="Proxima Nova"/>
                <a:ea typeface="Proxima Nova"/>
                <a:cs typeface="Proxima Nova"/>
                <a:sym typeface="Proxima Nova"/>
              </a:rPr>
              <a:t>João Vitor Nicolau dos Santos (Web)</a:t>
            </a:r>
            <a:endParaRPr b="1" i="0" sz="4664" u="none" cap="none" strike="noStrike">
              <a:solidFill>
                <a:srgbClr val="00BF6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64"/>
              <a:buFont typeface="Arial"/>
              <a:buNone/>
            </a:pPr>
            <a:r>
              <a:t/>
            </a:r>
            <a:endParaRPr b="1" i="0" sz="4664" u="none" cap="none" strike="noStrike">
              <a:solidFill>
                <a:srgbClr val="00BF6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457200" lvl="0" marL="45720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4664"/>
              <a:buFont typeface="Proxima Nova"/>
              <a:buChar char="-"/>
            </a:pPr>
            <a:r>
              <a:rPr b="1" i="0" lang="en-US" sz="4664" u="none" cap="none" strike="noStrike">
                <a:solidFill>
                  <a:srgbClr val="00BF63"/>
                </a:solidFill>
                <a:latin typeface="Proxima Nova"/>
                <a:ea typeface="Proxima Nova"/>
                <a:cs typeface="Proxima Nova"/>
                <a:sym typeface="Proxima Nova"/>
              </a:rPr>
              <a:t>Luís Pedro </a:t>
            </a:r>
            <a:r>
              <a:rPr b="1" i="0" lang="en-US" sz="4664" u="none" cap="none" strike="noStrike">
                <a:solidFill>
                  <a:srgbClr val="00BF63"/>
                </a:solidFill>
                <a:latin typeface="Proxima Nova"/>
                <a:ea typeface="Proxima Nova"/>
                <a:cs typeface="Proxima Nova"/>
                <a:sym typeface="Proxima Nova"/>
              </a:rPr>
              <a:t>D</a:t>
            </a:r>
            <a:r>
              <a:rPr b="1" i="0" lang="en-US" sz="4664" u="none" cap="none" strike="noStrike">
                <a:solidFill>
                  <a:srgbClr val="00BF63"/>
                </a:solidFill>
                <a:latin typeface="Proxima Nova"/>
                <a:ea typeface="Proxima Nova"/>
                <a:cs typeface="Proxima Nova"/>
                <a:sym typeface="Proxima Nova"/>
              </a:rPr>
              <a:t>utra Carrocini (IoT)</a:t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6" name="Google Shape;366;p25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2701775" y="2004225"/>
            <a:ext cx="4327649" cy="56038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