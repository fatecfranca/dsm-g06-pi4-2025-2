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Proxima Nova"/>
      <p:regular r:id="rId30"/>
      <p:bold r:id="rId31"/>
      <p:italic r:id="rId32"/>
      <p:boldItalic r:id="rId33"/>
    </p:embeddedFont>
    <p:embeddedFont>
      <p:font typeface="Proxima Nova Extrabold"/>
      <p:bold r:id="rId34"/>
    </p:embeddedFont>
    <p:embeddedFont>
      <p:font typeface="Bree Serif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NUKqkIdL++6tcEczKr899iE3h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35" Type="http://schemas.openxmlformats.org/officeDocument/2006/relationships/font" Target="fonts/BreeSerif-regular.fntdata"/><Relationship Id="rId12" Type="http://schemas.openxmlformats.org/officeDocument/2006/relationships/slide" Target="slides/slide7.xml"/><Relationship Id="rId34" Type="http://schemas.openxmlformats.org/officeDocument/2006/relationships/font" Target="fonts/ProximaNova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fbb9a373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9fbb9a373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322508" y="2936219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234634" y="-915527"/>
            <a:ext cx="1660787" cy="1650235"/>
            <a:chOff x="0" y="-47625"/>
            <a:chExt cx="437406" cy="434627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2895428" y="-915527"/>
            <a:ext cx="489705" cy="1650235"/>
            <a:chOff x="0" y="-47625"/>
            <a:chExt cx="128975" cy="434627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6853052" y="2469023"/>
            <a:ext cx="74379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1"/>
              <a:buFont typeface="Arial"/>
              <a:buNone/>
            </a:pPr>
            <a:r>
              <a:rPr b="1" i="0" lang="en-US" sz="9061" u="none" cap="none" strike="noStrike">
                <a:solidFill>
                  <a:srgbClr val="7ED957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INTELIGENTE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072978" y="608696"/>
            <a:ext cx="8630100" cy="21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67"/>
              <a:buFont typeface="Arial"/>
              <a:buNone/>
            </a:pPr>
            <a:r>
              <a:rPr b="1" i="0" lang="en-US" sz="13967" u="none" cap="none" strike="noStrike">
                <a:solidFill>
                  <a:srgbClr val="7ED957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MOCHILA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453257" y="372774"/>
            <a:ext cx="531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6"/>
              <a:buFont typeface="Arial"/>
              <a:buNone/>
            </a:pPr>
            <a:r>
              <a:rPr b="1" i="0" lang="en-US" sz="44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APRESENTANDO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099150" y="372775"/>
            <a:ext cx="29694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64"/>
              <a:buFont typeface="Arial"/>
              <a:buNone/>
            </a:pPr>
            <a:r>
              <a:rPr b="1" i="0" lang="en-US" sz="3364" u="none" cap="none" strike="noStrike">
                <a:solidFill>
                  <a:srgbClr val="00BF63"/>
                </a:solidFill>
                <a:latin typeface="Proxima Nova"/>
                <a:ea typeface="Proxima Nova"/>
                <a:cs typeface="Proxima Nova"/>
                <a:sym typeface="Proxima Nova"/>
              </a:rPr>
              <a:t>Claudio Junior</a:t>
            </a:r>
            <a:endParaRPr b="1" i="0" sz="3364" u="none" cap="none" strike="noStrike">
              <a:solidFill>
                <a:srgbClr val="00BF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4"/>
              <a:buFont typeface="Arial"/>
              <a:buNone/>
            </a:pPr>
            <a:r>
              <a:rPr b="1" i="0" lang="en-US" sz="3364" u="none" cap="none" strike="noStrike">
                <a:solidFill>
                  <a:srgbClr val="00BF63"/>
                </a:solidFill>
                <a:latin typeface="Proxima Nova"/>
                <a:ea typeface="Proxima Nova"/>
                <a:cs typeface="Proxima Nova"/>
                <a:sym typeface="Proxima Nova"/>
              </a:rPr>
              <a:t>João Vitor</a:t>
            </a:r>
            <a:endParaRPr b="1" i="0" sz="3364" u="none" cap="none" strike="noStrike">
              <a:solidFill>
                <a:srgbClr val="00BF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64"/>
              <a:buFont typeface="Arial"/>
              <a:buNone/>
            </a:pPr>
            <a:r>
              <a:rPr b="1" i="0" lang="en-US" sz="3364" u="none" cap="none" strike="noStrike">
                <a:solidFill>
                  <a:srgbClr val="00BF63"/>
                </a:solidFill>
                <a:latin typeface="Proxima Nova"/>
                <a:ea typeface="Proxima Nova"/>
                <a:cs typeface="Proxima Nova"/>
                <a:sym typeface="Proxima Nova"/>
              </a:rPr>
              <a:t>Luís Pedro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08200" y="8697175"/>
            <a:ext cx="9467400" cy="1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1"/>
              <a:buFont typeface="Arial"/>
              <a:buNone/>
            </a:pPr>
            <a:r>
              <a:rPr b="0" i="0" lang="en-US" sz="4061" u="none" cap="none" strike="noStrike">
                <a:solidFill>
                  <a:srgbClr val="7ED957"/>
                </a:solidFill>
                <a:latin typeface="Bree Serif"/>
                <a:ea typeface="Bree Serif"/>
                <a:cs typeface="Bree Serif"/>
                <a:sym typeface="Bree Serif"/>
              </a:rPr>
              <a:t>MONITORAMENTO DE PESO PARA MAIS SAÚDE E CONFORTO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234625" y="2683121"/>
            <a:ext cx="4052224" cy="524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11322508" y="2936219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" name="Google Shape;102;p2"/>
          <p:cNvGrpSpPr/>
          <p:nvPr/>
        </p:nvGrpSpPr>
        <p:grpSpPr>
          <a:xfrm>
            <a:off x="1034654" y="-915527"/>
            <a:ext cx="1660787" cy="1650512"/>
            <a:chOff x="0" y="-47625"/>
            <a:chExt cx="437406" cy="434700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2779973" y="-915527"/>
            <a:ext cx="489800" cy="1650512"/>
            <a:chOff x="0" y="-47625"/>
            <a:chExt cx="129000" cy="4347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 txBox="1"/>
          <p:nvPr/>
        </p:nvSpPr>
        <p:spPr>
          <a:xfrm>
            <a:off x="0" y="1337825"/>
            <a:ext cx="15795600" cy="52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4939" lvl="1" marL="1030472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Muitos de nós carregam mochilas pesadas todos os dias, seja na escola, faculdade ou no trabalho. Quase sem perceber, adicionamos livros, cadernos, notebooks e outros itens que, juntos, se tornam uma carga excessiva.</a:t>
            </a:r>
            <a:endParaRPr b="1" i="0" sz="335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</a:pPr>
            <a:r>
              <a:t/>
            </a:r>
            <a:endParaRPr b="1" i="0" sz="335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24939" lvl="1" marL="1030472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Essa rotina silenciosa pode ter consequências sérias. O excesso de peso não só causa desconforto imediato, mas também pode levar a dores crônicas, má postura e problemas de saúde a longo prazo.</a:t>
            </a:r>
            <a:endParaRPr b="0" i="0" sz="3350" u="none" cap="none" strike="noStrike">
              <a:solidFill>
                <a:srgbClr val="00B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72"/>
              <a:buFont typeface="Arial"/>
              <a:buNone/>
            </a:pPr>
            <a:r>
              <a:t/>
            </a:r>
            <a:endParaRPr b="1" i="0" sz="5672" u="none" cap="none" strike="noStrike">
              <a:solidFill>
                <a:srgbClr val="7ED95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039105" y="6117825"/>
            <a:ext cx="6959625" cy="4018707"/>
          </a:xfrm>
          <a:custGeom>
            <a:rect b="b" l="l" r="r" t="t"/>
            <a:pathLst>
              <a:path extrusionOk="0" h="4900862" w="7364683">
                <a:moveTo>
                  <a:pt x="0" y="0"/>
                </a:moveTo>
                <a:lnTo>
                  <a:pt x="7364683" y="0"/>
                </a:lnTo>
                <a:lnTo>
                  <a:pt x="7364683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5071116" y="198584"/>
            <a:ext cx="90144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6"/>
              <a:buFont typeface="Arial"/>
              <a:buNone/>
            </a:pPr>
            <a:r>
              <a:rPr b="1" i="0" lang="en-US" sz="56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 ENFRENTADO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5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11322508" y="2936219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7" name="Google Shape;117;p3"/>
          <p:cNvGrpSpPr/>
          <p:nvPr/>
        </p:nvGrpSpPr>
        <p:grpSpPr>
          <a:xfrm>
            <a:off x="1005790" y="-915527"/>
            <a:ext cx="1660787" cy="1650235"/>
            <a:chOff x="0" y="-47625"/>
            <a:chExt cx="437406" cy="434627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19" name="Google Shape;119;p3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3"/>
          <p:cNvGrpSpPr/>
          <p:nvPr/>
        </p:nvGrpSpPr>
        <p:grpSpPr>
          <a:xfrm>
            <a:off x="2751109" y="-915527"/>
            <a:ext cx="489705" cy="1650235"/>
            <a:chOff x="0" y="-47625"/>
            <a:chExt cx="128975" cy="434627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3"/>
          <p:cNvSpPr txBox="1"/>
          <p:nvPr/>
        </p:nvSpPr>
        <p:spPr>
          <a:xfrm>
            <a:off x="0" y="1337825"/>
            <a:ext cx="15795600" cy="57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4939" lvl="1" marL="1030472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A mochila oferece um monitoramento de peso em tempo real, fornecendo informações essenciais para que você possa cuidar da sua saúde e conforto, evitando os riscos associados ao transporte de peso excessivo.</a:t>
            </a:r>
            <a:endParaRPr b="1" i="0" sz="335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Arial"/>
              <a:buNone/>
            </a:pPr>
            <a:r>
              <a:t/>
            </a:r>
            <a:endParaRPr b="1" i="0" sz="335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24939" lvl="1" marL="1030472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50"/>
              <a:buFont typeface="Arial"/>
              <a:buChar char="•"/>
            </a:pPr>
            <a:r>
              <a:rPr b="1" i="0" lang="en-US" sz="335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Com a nossa Mochila Inteligente, você não precisa mais adivinhar se está carregando peso demais. A tecnologia faz o trabalho por você, lhe apresentando o peso transportado e gerando alertas quando esse limite é ultrapassado.</a:t>
            </a:r>
            <a:endParaRPr b="0" i="0" sz="3350" u="none" cap="none" strike="noStrike">
              <a:solidFill>
                <a:srgbClr val="00BF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72"/>
              <a:buFont typeface="Arial"/>
              <a:buNone/>
            </a:pPr>
            <a:r>
              <a:t/>
            </a:r>
            <a:endParaRPr b="1" i="0" sz="5672" u="none" cap="none" strike="noStrike">
              <a:solidFill>
                <a:srgbClr val="7ED95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005800" y="6500100"/>
            <a:ext cx="6880401" cy="3634929"/>
          </a:xfrm>
          <a:custGeom>
            <a:rect b="b" l="l" r="r" t="t"/>
            <a:pathLst>
              <a:path extrusionOk="0" h="4945481" w="7418222">
                <a:moveTo>
                  <a:pt x="0" y="0"/>
                </a:moveTo>
                <a:lnTo>
                  <a:pt x="7418222" y="0"/>
                </a:lnTo>
                <a:lnTo>
                  <a:pt x="7418222" y="4945481"/>
                </a:lnTo>
                <a:lnTo>
                  <a:pt x="0" y="4945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 txBox="1"/>
          <p:nvPr/>
        </p:nvSpPr>
        <p:spPr>
          <a:xfrm>
            <a:off x="3572769" y="189000"/>
            <a:ext cx="120975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56"/>
              <a:buFont typeface="Arial"/>
              <a:buNone/>
            </a:pPr>
            <a:r>
              <a:rPr b="1" i="0" lang="en-US" sz="54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SOLUÇÃO: A MOCHILA INTELIGENTE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5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12146976" y="2898143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3" y="0"/>
                </a:lnTo>
                <a:lnTo>
                  <a:pt x="11873583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2" name="Google Shape;132;p4"/>
          <p:cNvGrpSpPr/>
          <p:nvPr/>
        </p:nvGrpSpPr>
        <p:grpSpPr>
          <a:xfrm>
            <a:off x="1005790" y="-915527"/>
            <a:ext cx="1660787" cy="1650235"/>
            <a:chOff x="0" y="-47625"/>
            <a:chExt cx="437406" cy="434627"/>
          </a:xfrm>
        </p:grpSpPr>
        <p:sp>
          <p:nvSpPr>
            <p:cNvPr id="133" name="Google Shape;133;p4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34" name="Google Shape;134;p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2751109" y="-915527"/>
            <a:ext cx="489705" cy="1650235"/>
            <a:chOff x="0" y="-47625"/>
            <a:chExt cx="128975" cy="434627"/>
          </a:xfrm>
        </p:grpSpPr>
        <p:sp>
          <p:nvSpPr>
            <p:cNvPr id="136" name="Google Shape;136;p4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37" name="Google Shape;137;p4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4"/>
          <p:cNvSpPr/>
          <p:nvPr/>
        </p:nvSpPr>
        <p:spPr>
          <a:xfrm>
            <a:off x="1595597" y="5012670"/>
            <a:ext cx="7466764" cy="4977842"/>
          </a:xfrm>
          <a:custGeom>
            <a:rect b="b" l="l" r="r" t="t"/>
            <a:pathLst>
              <a:path extrusionOk="0" h="4977842" w="7466764">
                <a:moveTo>
                  <a:pt x="0" y="0"/>
                </a:moveTo>
                <a:lnTo>
                  <a:pt x="7466763" y="0"/>
                </a:lnTo>
                <a:lnTo>
                  <a:pt x="7466763" y="4977842"/>
                </a:lnTo>
                <a:lnTo>
                  <a:pt x="0" y="4977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 txBox="1"/>
          <p:nvPr/>
        </p:nvSpPr>
        <p:spPr>
          <a:xfrm>
            <a:off x="2791766" y="3406660"/>
            <a:ext cx="128523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49"/>
              <a:buFont typeface="Arial"/>
              <a:buNone/>
            </a:pPr>
            <a:r>
              <a:rPr b="1" i="0" lang="en-US" sz="3349" u="none" cap="none" strike="noStrike">
                <a:solidFill>
                  <a:srgbClr val="7ED957"/>
                </a:solidFill>
                <a:latin typeface="Raleway"/>
                <a:ea typeface="Raleway"/>
                <a:cs typeface="Raleway"/>
                <a:sym typeface="Raleway"/>
              </a:rPr>
              <a:t>SENSORES DE PESO → MICROCONTROLADOR IOT → API → BD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3618156" y="-127000"/>
            <a:ext cx="5907000" cy="18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67"/>
              <a:buFont typeface="Arial"/>
              <a:buNone/>
            </a:pPr>
            <a:r>
              <a:rPr b="1" i="0" lang="en-US" sz="11867" u="none" cap="none" strike="noStrike">
                <a:solidFill>
                  <a:srgbClr val="7ED957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COMO 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935312" y="1333905"/>
            <a:ext cx="108768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67"/>
              <a:buFont typeface="Arial"/>
              <a:buNone/>
            </a:pPr>
            <a:r>
              <a:rPr b="1" i="0" lang="en-US" sz="12067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FUNCIONA?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618150" y="4137500"/>
            <a:ext cx="43953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49"/>
              <a:buFont typeface="Arial"/>
              <a:buNone/>
            </a:pPr>
            <a:r>
              <a:rPr b="1" i="0" lang="en-US" sz="3349" u="none" cap="none" strike="noStrike">
                <a:solidFill>
                  <a:srgbClr val="7ED957"/>
                </a:solidFill>
                <a:latin typeface="Raleway"/>
                <a:ea typeface="Raleway"/>
                <a:cs typeface="Raleway"/>
                <a:sym typeface="Raleway"/>
              </a:rPr>
              <a:t>BD → API → MOBILE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9871425" y="4137500"/>
            <a:ext cx="43953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49"/>
              <a:buFont typeface="Arial"/>
              <a:buNone/>
            </a:pPr>
            <a:r>
              <a:rPr b="1" i="0" lang="en-US" sz="3349" u="none" cap="none" strike="noStrike">
                <a:solidFill>
                  <a:srgbClr val="7ED957"/>
                </a:solidFill>
                <a:latin typeface="Raleway"/>
                <a:ea typeface="Raleway"/>
                <a:cs typeface="Raleway"/>
                <a:sym typeface="Raleway"/>
              </a:rPr>
              <a:t>BD → API → SITE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5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5"/>
          <p:cNvGrpSpPr/>
          <p:nvPr/>
        </p:nvGrpSpPr>
        <p:grpSpPr>
          <a:xfrm>
            <a:off x="1669654" y="-915526"/>
            <a:ext cx="1660777" cy="1650226"/>
            <a:chOff x="0" y="-47625"/>
            <a:chExt cx="437406" cy="434627"/>
          </a:xfrm>
        </p:grpSpPr>
        <p:sp>
          <p:nvSpPr>
            <p:cNvPr id="150" name="Google Shape;150;p5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51" name="Google Shape;151;p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5"/>
          <p:cNvGrpSpPr/>
          <p:nvPr/>
        </p:nvGrpSpPr>
        <p:grpSpPr>
          <a:xfrm>
            <a:off x="3414973" y="-915526"/>
            <a:ext cx="489701" cy="1650226"/>
            <a:chOff x="0" y="-47625"/>
            <a:chExt cx="128975" cy="434627"/>
          </a:xfrm>
        </p:grpSpPr>
        <p:sp>
          <p:nvSpPr>
            <p:cNvPr id="153" name="Google Shape;153;p5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54" name="Google Shape;154;p5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5"/>
          <p:cNvSpPr txBox="1"/>
          <p:nvPr/>
        </p:nvSpPr>
        <p:spPr>
          <a:xfrm>
            <a:off x="375200" y="1730375"/>
            <a:ext cx="15627000" cy="6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ANÁLISE DE PESO TRANSPORTADO EM TEMPO REAL</a:t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PERSONALIZAÇÃO DO LIMITE DO USUÁRIO (10%)</a:t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1"/>
              <a:buFont typeface="Arial"/>
              <a:buNone/>
            </a:pPr>
            <a:r>
              <a:t/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7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ALERTAS QUANDO O LIMITE É ULTRAPASSADO (MOCHILA OU USUÁRIO)</a:t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1"/>
              <a:buFont typeface="Arial"/>
              <a:buNone/>
            </a:pPr>
            <a:r>
              <a:t/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REALATÓRIOS  DE USO (DIÁRIO, SEMANAL, MENSAL E ANUAL)</a:t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lang="en-US" sz="3841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GERAR ESTATÍSTICA DE PREVISÃO DIÁRIA</a:t>
            </a:r>
            <a:endParaRPr b="1" i="0" sz="4442" u="none" cap="none" strike="noStrike">
              <a:solidFill>
                <a:srgbClr val="7ED95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198173" y="360145"/>
            <a:ext cx="69363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6"/>
              <a:buFont typeface="Arial"/>
              <a:buNone/>
            </a:pPr>
            <a:r>
              <a:rPr b="1" i="0" lang="en-US" sz="56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FUNCIONALIDADES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3">
            <a:alphaModFix/>
          </a:blip>
          <a:srcRect b="10792" l="9642" r="5473" t="18525"/>
          <a:stretch/>
        </p:blipFill>
        <p:spPr>
          <a:xfrm>
            <a:off x="13363633" y="7162675"/>
            <a:ext cx="4720150" cy="3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 rot="3968610">
            <a:off x="-1830977" y="8238733"/>
            <a:ext cx="8146719" cy="5040640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3" y="0"/>
                </a:lnTo>
                <a:lnTo>
                  <a:pt x="11873583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9" name="Google Shape;159;p5"/>
          <p:cNvPicPr preferRelativeResize="0"/>
          <p:nvPr/>
        </p:nvPicPr>
        <p:blipFill rotWithShape="1">
          <a:blip r:embed="rId5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11322508" y="2936219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5" name="Google Shape;165;p6"/>
          <p:cNvGrpSpPr/>
          <p:nvPr/>
        </p:nvGrpSpPr>
        <p:grpSpPr>
          <a:xfrm>
            <a:off x="1669654" y="-915526"/>
            <a:ext cx="1660777" cy="1650226"/>
            <a:chOff x="0" y="-47625"/>
            <a:chExt cx="437406" cy="434627"/>
          </a:xfrm>
        </p:grpSpPr>
        <p:sp>
          <p:nvSpPr>
            <p:cNvPr id="166" name="Google Shape;166;p6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67" name="Google Shape;167;p6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6"/>
          <p:cNvGrpSpPr/>
          <p:nvPr/>
        </p:nvGrpSpPr>
        <p:grpSpPr>
          <a:xfrm>
            <a:off x="3414973" y="-915526"/>
            <a:ext cx="489701" cy="1650226"/>
            <a:chOff x="0" y="-47625"/>
            <a:chExt cx="128975" cy="434627"/>
          </a:xfrm>
        </p:grpSpPr>
        <p:sp>
          <p:nvSpPr>
            <p:cNvPr id="169" name="Google Shape;169;p6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70" name="Google Shape;170;p6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6"/>
          <p:cNvSpPr txBox="1"/>
          <p:nvPr/>
        </p:nvSpPr>
        <p:spPr>
          <a:xfrm>
            <a:off x="346375" y="3124325"/>
            <a:ext cx="15850200" cy="1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67"/>
              <a:buFont typeface="Arial"/>
              <a:buNone/>
            </a:pPr>
            <a:r>
              <a:rPr b="1" i="0" lang="en-US" sz="12667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DESENVOLVIMENTO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022000" y="5074025"/>
            <a:ext cx="149802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67"/>
              <a:buFont typeface="Arial"/>
              <a:buNone/>
            </a:pPr>
            <a:r>
              <a:rPr b="1" i="0" lang="en-US" sz="8567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(TECNOLOGIAS UTILIZADAS)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6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12560200" y="5323950"/>
            <a:ext cx="10537806" cy="5991842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7"/>
          <p:cNvGrpSpPr/>
          <p:nvPr/>
        </p:nvGrpSpPr>
        <p:grpSpPr>
          <a:xfrm>
            <a:off x="1669654" y="-915527"/>
            <a:ext cx="1660787" cy="1650512"/>
            <a:chOff x="0" y="-47625"/>
            <a:chExt cx="437406" cy="434700"/>
          </a:xfrm>
        </p:grpSpPr>
        <p:sp>
          <p:nvSpPr>
            <p:cNvPr id="180" name="Google Shape;180;p7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81" name="Google Shape;181;p7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7"/>
          <p:cNvGrpSpPr/>
          <p:nvPr/>
        </p:nvGrpSpPr>
        <p:grpSpPr>
          <a:xfrm>
            <a:off x="3414973" y="-915527"/>
            <a:ext cx="489800" cy="1650512"/>
            <a:chOff x="0" y="-47625"/>
            <a:chExt cx="129000" cy="434700"/>
          </a:xfrm>
        </p:grpSpPr>
        <p:sp>
          <p:nvSpPr>
            <p:cNvPr id="183" name="Google Shape;183;p7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84" name="Google Shape;184;p7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7"/>
          <p:cNvSpPr txBox="1"/>
          <p:nvPr/>
        </p:nvSpPr>
        <p:spPr>
          <a:xfrm>
            <a:off x="6497275" y="165975"/>
            <a:ext cx="6338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67"/>
              <a:buFont typeface="Arial"/>
              <a:buNone/>
            </a:pPr>
            <a:r>
              <a:rPr b="1" i="0" lang="en-US" sz="7467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VISÃO GERAL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993300" y="2192200"/>
            <a:ext cx="15627000" cy="6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63737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BD</a:t>
            </a:r>
            <a:r>
              <a:rPr b="1" lang="en-US" sz="3841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: POSTGRES</a:t>
            </a:r>
            <a:r>
              <a:rPr b="1" lang="en-US" sz="3841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QL</a:t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1"/>
              <a:buFont typeface="Arial"/>
              <a:buNone/>
            </a:pPr>
            <a:r>
              <a:t/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7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API: NODE.JS</a:t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1"/>
              <a:buFont typeface="Arial"/>
              <a:buNone/>
            </a:pPr>
            <a:r>
              <a:t/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MOBILE: REACT</a:t>
            </a:r>
            <a:r>
              <a:rPr b="1" lang="en-US" sz="3841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NATIVE</a:t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WEB: </a:t>
            </a:r>
            <a:r>
              <a:rPr b="1" i="0" lang="en-US" sz="3841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NEXT.JS</a:t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41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63736" lvl="1" marL="1067176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42"/>
              <a:buFont typeface="Arial"/>
              <a:buChar char="•"/>
            </a:pP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IOT: ESP32-C3 (</a:t>
            </a:r>
            <a:r>
              <a:rPr b="1" lang="en-US" sz="3841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b="1" i="0" lang="en-US" sz="3841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++)</a:t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1"/>
              <a:buFont typeface="Arial"/>
              <a:buNone/>
            </a:pPr>
            <a:r>
              <a:t/>
            </a:r>
            <a:endParaRPr b="1" i="0" sz="3841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42"/>
              <a:buFont typeface="Arial"/>
              <a:buNone/>
            </a:pPr>
            <a:r>
              <a:t/>
            </a:r>
            <a:endParaRPr b="1" i="0" sz="4442" u="none" cap="none" strike="noStrike">
              <a:solidFill>
                <a:srgbClr val="7ED95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0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193" name="Google Shape;193;p10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194" name="Google Shape;194;p10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0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196" name="Google Shape;196;p10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197" name="Google Shape;197;p10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0"/>
          <p:cNvSpPr txBox="1"/>
          <p:nvPr/>
        </p:nvSpPr>
        <p:spPr>
          <a:xfrm>
            <a:off x="7391810" y="235200"/>
            <a:ext cx="4498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BD - Estrutura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008" y="1028700"/>
            <a:ext cx="15069841" cy="925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13248423" y="6490324"/>
            <a:ext cx="9023924" cy="4754183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6" name="Google Shape;206;p13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207" name="Google Shape;207;p13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08" name="Google Shape;208;p13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3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210" name="Google Shape;210;p13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11" name="Google Shape;211;p13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3"/>
          <p:cNvSpPr txBox="1"/>
          <p:nvPr/>
        </p:nvSpPr>
        <p:spPr>
          <a:xfrm>
            <a:off x="3731593" y="198575"/>
            <a:ext cx="120975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API - Funcionalidades Implementadas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919196" y="1643157"/>
            <a:ext cx="14911200" cy="9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00"/>
              <a:buFont typeface="Raleway"/>
              <a:buChar char="-"/>
            </a:pP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Login / Cadastro de Usuários</a:t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00"/>
              <a:buFont typeface="Raleway"/>
              <a:buChar char="-"/>
            </a:pP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Gerenciamento de mochilas pelos administradores do sistema</a:t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00"/>
              <a:buFont typeface="Raleway"/>
              <a:buChar char="-"/>
            </a:pP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Vínculo da mochila com o usuário</a:t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00"/>
              <a:buFont typeface="Raleway"/>
              <a:buChar char="-"/>
            </a:pP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Recebimento de medições capturados pela IoT</a:t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00"/>
              <a:buFont typeface="Raleway"/>
              <a:buChar char="-"/>
            </a:pP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Criação e encaminhamento de alertas, caso o limite do peso recomendável para o usuário ou mochila seja ultrapassado</a:t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5720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800"/>
              <a:buFont typeface="Raleway"/>
              <a:buChar char="-"/>
            </a:pP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Geração de relatórios  (diário, semanal, mensal</a:t>
            </a:r>
            <a:r>
              <a:rPr b="1" lang="en-US" sz="38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 e</a:t>
            </a:r>
            <a:r>
              <a:rPr b="1" i="0" lang="en-US" sz="38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 anual) e previsões diárias</a:t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1" i="0" sz="3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72"/>
              <a:buFont typeface="Arial"/>
              <a:buNone/>
            </a:pPr>
            <a:r>
              <a:t/>
            </a:r>
            <a:endParaRPr b="1" i="0" sz="4772" u="none" cap="none" strike="noStrike">
              <a:solidFill>
                <a:srgbClr val="7ED95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4" name="Google Shape;214;p13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13248423" y="6490324"/>
            <a:ext cx="9023924" cy="4754183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0" name="Google Shape;220;p14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221" name="Google Shape;221;p14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22" name="Google Shape;222;p14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4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224" name="Google Shape;224;p14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25" name="Google Shape;225;p14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4"/>
          <p:cNvSpPr txBox="1"/>
          <p:nvPr/>
        </p:nvSpPr>
        <p:spPr>
          <a:xfrm>
            <a:off x="6305096" y="235200"/>
            <a:ext cx="45810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API - Estrutura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919198" y="1206047"/>
            <a:ext cx="6123600" cy="87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DSM-G06-PI4-2025-2/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├── API/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├── prisma/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│   ├── migrations/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│   └── schema.prisma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└── src/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controllers/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│   ├── alertas.js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│   ├── medicoes.js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│   ├── mochilas.js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│   ├── tokenJWT.js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│   ├── usuarios.js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│   └── usuariosMochilas.js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middlewares/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</a:t>
            </a: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── public/</a:t>
            </a:r>
            <a:endParaRPr b="1" sz="20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└── routes/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    ├── alertas.js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    ├── medicoes.js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    ├── mochilas.js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    ├── tokenJWT.js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    ├── usuarios.js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    └── usuariosMochilas.js</a:t>
            </a:r>
            <a:endParaRPr b="1" i="0" sz="2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app.js</a:t>
            </a:r>
            <a:endParaRPr b="1" sz="20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prisma.js</a:t>
            </a:r>
            <a:endParaRPr b="1" sz="20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server.js</a:t>
            </a:r>
            <a:endParaRPr b="1" sz="20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utils.js</a:t>
            </a:r>
            <a:endParaRPr b="1" sz="20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│       ├── .env</a:t>
            </a:r>
            <a:endParaRPr b="1" sz="20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8" name="Google Shape;228;p14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8051" y="1266205"/>
            <a:ext cx="4581000" cy="8604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6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235" name="Google Shape;235;p16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36" name="Google Shape;236;p16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16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238" name="Google Shape;238;p16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39" name="Google Shape;239;p16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6"/>
          <p:cNvSpPr txBox="1"/>
          <p:nvPr/>
        </p:nvSpPr>
        <p:spPr>
          <a:xfrm>
            <a:off x="4248500" y="340975"/>
            <a:ext cx="10881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API - Token JWT (Access / Refresh)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377800" y="1431225"/>
            <a:ext cx="15879300" cy="89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Para acessar e utilizar nossa API, é necessário um processo de autenticação via token JWT (JSON Web Token).</a:t>
            </a:r>
            <a:endParaRPr b="1" sz="25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O token JWT é gerado no momento do login com e-mail e senha para os usuários e serve para garantir a segurança de todas as interações. Ele funciona como uma chave de acesso, permitindo que se consuma os endpoints da API de acordo com as suas permissões.</a:t>
            </a:r>
            <a:endParaRPr b="1" sz="25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A mochila, atuando como um cliente IoT, realiza um "login" inicial utilizando suas próprias credenciais: um código de identificação e uma assinatura (gerada a partir da data-hora atual e uma Chave-Privada).</a:t>
            </a:r>
            <a:endParaRPr b="1" sz="25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5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Para aumentar a segurança e a usabilidade, nossa API utiliza um par de tokens: o Token de Acesso (Access Token) e o Token de Atualização (Refresh Token).</a:t>
            </a:r>
            <a:endParaRPr b="1" i="0" sz="2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5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O Token de Acesso é a sua chave para interagir com a API. Ele é de curta duração e expira rapidamente (em 15 minutos). Isso é uma medida de segurança, pois, se for interceptado, o risco de uso indevido é limitado.</a:t>
            </a:r>
            <a:endParaRPr b="1" i="0" sz="2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5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O Token de Atualização, por outro lado, tem uma vida útil mais longa (Mobile: 60 dias | Web: 1 dia | I</a:t>
            </a:r>
            <a:r>
              <a:rPr b="1" lang="en-US" sz="25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b="1" i="0" lang="en-US" sz="25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T: </a:t>
            </a:r>
            <a:r>
              <a:rPr b="1" lang="en-US" sz="2500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1 dia</a:t>
            </a:r>
            <a:r>
              <a:rPr b="1" i="0" lang="en-US" sz="25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). Ele não é usado para acessar a API diretamente. Sua única função é obter um novo Token de Acesso quando o antigo expirar, sem que o usuário precise fazer o login novamente. Isso garante uma experiência de uso contínua, mantendo a segurança.</a:t>
            </a:r>
            <a:endParaRPr b="1" i="0" sz="2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2" name="Google Shape;242;p16"/>
          <p:cNvPicPr preferRelativeResize="0"/>
          <p:nvPr/>
        </p:nvPicPr>
        <p:blipFill rotWithShape="1">
          <a:blip r:embed="rId3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/>
          <p:nvPr/>
        </p:nvSpPr>
        <p:spPr>
          <a:xfrm>
            <a:off x="13508198" y="5974749"/>
            <a:ext cx="9528551" cy="5657871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7"/>
          <p:cNvSpPr txBox="1"/>
          <p:nvPr/>
        </p:nvSpPr>
        <p:spPr>
          <a:xfrm>
            <a:off x="919200" y="1259600"/>
            <a:ext cx="16947300" cy="10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Componentes:</a:t>
            </a:r>
            <a:endParaRPr b="1" i="0" sz="3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i="0" sz="35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00"/>
              <a:buFont typeface="Raleway"/>
              <a:buChar char="-"/>
            </a:pPr>
            <a:r>
              <a:rPr b="1" i="0" lang="en-US" sz="33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Power bank</a:t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00"/>
              <a:buFont typeface="Raleway"/>
              <a:buChar char="-"/>
            </a:pPr>
            <a:r>
              <a:rPr b="1" i="0" lang="en-US" sz="33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2 Células de Carga (medição do peso da mochila, uma para cada alça  da mochila)</a:t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00"/>
              <a:buFont typeface="Raleway"/>
              <a:buChar char="-"/>
            </a:pPr>
            <a:r>
              <a:rPr b="1" i="0" lang="en-US" sz="33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2 Módulos HX711 (conversão do  sinal das células de carga para digital, comunicando com o ESP32)</a:t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00"/>
              <a:buFont typeface="Raleway"/>
              <a:buChar char="-"/>
            </a:pPr>
            <a:r>
              <a:rPr b="1" i="0" lang="en-US" sz="33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1 ESP32-C3 (realizará comunicação com a API, conectado com o Wifi, enviando os medições captadas pelas células de carga, somente envia não recebe)</a:t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00"/>
              <a:buFont typeface="Raleway"/>
              <a:buChar char="-"/>
            </a:pPr>
            <a:r>
              <a:rPr b="1" i="0" lang="en-US" sz="33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Linguagem de programação para o ESP32-C3 (C++)</a:t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38150" lvl="0" marL="45720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3300"/>
              <a:buFont typeface="Raleway"/>
              <a:buChar char="-"/>
            </a:pPr>
            <a:r>
              <a:rPr b="1" i="0" lang="en-US" sz="33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Mochila Simples</a:t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49" name="Google Shape;249;p17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250" name="Google Shape;250;p17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51" name="Google Shape;251;p17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7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253" name="Google Shape;253;p17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54" name="Google Shape;254;p17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7"/>
          <p:cNvSpPr txBox="1"/>
          <p:nvPr/>
        </p:nvSpPr>
        <p:spPr>
          <a:xfrm>
            <a:off x="5604025" y="235200"/>
            <a:ext cx="74565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IoT - Internet das Coisas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461200" y="1985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/>
          <p:nvPr/>
        </p:nvSpPr>
        <p:spPr>
          <a:xfrm>
            <a:off x="11322508" y="2936219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18"/>
          <p:cNvGrpSpPr/>
          <p:nvPr/>
        </p:nvGrpSpPr>
        <p:grpSpPr>
          <a:xfrm>
            <a:off x="1092381" y="-800073"/>
            <a:ext cx="1660787" cy="1650235"/>
            <a:chOff x="0" y="-47625"/>
            <a:chExt cx="437406" cy="434627"/>
          </a:xfrm>
        </p:grpSpPr>
        <p:sp>
          <p:nvSpPr>
            <p:cNvPr id="263" name="Google Shape;263;p18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64" name="Google Shape;264;p18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8"/>
          <p:cNvGrpSpPr/>
          <p:nvPr/>
        </p:nvGrpSpPr>
        <p:grpSpPr>
          <a:xfrm>
            <a:off x="2837700" y="-800073"/>
            <a:ext cx="489705" cy="1650235"/>
            <a:chOff x="0" y="-47625"/>
            <a:chExt cx="128975" cy="434627"/>
          </a:xfrm>
        </p:grpSpPr>
        <p:sp>
          <p:nvSpPr>
            <p:cNvPr id="266" name="Google Shape;266;p18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67" name="Google Shape;267;p1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8" name="Google Shape;2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9175" y="6376775"/>
            <a:ext cx="4271800" cy="293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1798" y="1173838"/>
            <a:ext cx="3981525" cy="39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70987" y="1173851"/>
            <a:ext cx="4271800" cy="42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0725" y="2093045"/>
            <a:ext cx="3337700" cy="33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 txBox="1"/>
          <p:nvPr/>
        </p:nvSpPr>
        <p:spPr>
          <a:xfrm>
            <a:off x="1096163" y="5155375"/>
            <a:ext cx="3337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ESP32-C3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5688600" y="5155375"/>
            <a:ext cx="5634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56"/>
              <a:buFont typeface="Arial"/>
              <a:buNone/>
            </a:pPr>
            <a:r>
              <a:rPr b="1" i="0" lang="en-US" sz="48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CÉLULA DE CARGA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12739080" y="5155375"/>
            <a:ext cx="21258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HX711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3914451" y="9089409"/>
            <a:ext cx="3981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Power Bank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6809137" y="380350"/>
            <a:ext cx="5755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COMPONENTES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18"/>
          <p:cNvPicPr preferRelativeResize="0"/>
          <p:nvPr/>
        </p:nvPicPr>
        <p:blipFill rotWithShape="1">
          <a:blip r:embed="rId8">
            <a:alphaModFix/>
          </a:blip>
          <a:srcRect b="11260" l="19519" r="19501" t="9775"/>
          <a:stretch/>
        </p:blipFill>
        <p:spPr>
          <a:xfrm>
            <a:off x="16613600" y="3509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fbb9a373c_0_24"/>
          <p:cNvSpPr/>
          <p:nvPr/>
        </p:nvSpPr>
        <p:spPr>
          <a:xfrm>
            <a:off x="11322508" y="2936219"/>
            <a:ext cx="11873584" cy="7858154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3" name="Google Shape;283;g39fbb9a373c_0_24"/>
          <p:cNvGrpSpPr/>
          <p:nvPr/>
        </p:nvGrpSpPr>
        <p:grpSpPr>
          <a:xfrm>
            <a:off x="1092381" y="-800073"/>
            <a:ext cx="1660787" cy="1650512"/>
            <a:chOff x="0" y="-47625"/>
            <a:chExt cx="437406" cy="434700"/>
          </a:xfrm>
        </p:grpSpPr>
        <p:sp>
          <p:nvSpPr>
            <p:cNvPr id="284" name="Google Shape;284;g39fbb9a373c_0_24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85" name="Google Shape;285;g39fbb9a373c_0_24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g39fbb9a373c_0_24"/>
          <p:cNvGrpSpPr/>
          <p:nvPr/>
        </p:nvGrpSpPr>
        <p:grpSpPr>
          <a:xfrm>
            <a:off x="2837700" y="-800073"/>
            <a:ext cx="489800" cy="1650512"/>
            <a:chOff x="0" y="-47625"/>
            <a:chExt cx="129000" cy="434700"/>
          </a:xfrm>
        </p:grpSpPr>
        <p:sp>
          <p:nvSpPr>
            <p:cNvPr id="287" name="Google Shape;287;g39fbb9a373c_0_24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288" name="Google Shape;288;g39fbb9a373c_0_24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g39fbb9a373c_0_24"/>
          <p:cNvSpPr txBox="1"/>
          <p:nvPr/>
        </p:nvSpPr>
        <p:spPr>
          <a:xfrm>
            <a:off x="1096174" y="5155375"/>
            <a:ext cx="59121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lang="en-US" sz="5156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AAAAAAAAAAAA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9fbb9a373c_0_24"/>
          <p:cNvSpPr txBox="1"/>
          <p:nvPr/>
        </p:nvSpPr>
        <p:spPr>
          <a:xfrm>
            <a:off x="6809125" y="380350"/>
            <a:ext cx="66963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lang="en-US" sz="5156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CIRCUITO MONTADO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39fbb9a373c_0_24"/>
          <p:cNvPicPr preferRelativeResize="0"/>
          <p:nvPr/>
        </p:nvPicPr>
        <p:blipFill rotWithShape="1">
          <a:blip r:embed="rId4">
            <a:alphaModFix/>
          </a:blip>
          <a:srcRect b="11260" l="19519" r="19501" t="9775"/>
          <a:stretch/>
        </p:blipFill>
        <p:spPr>
          <a:xfrm>
            <a:off x="16613600" y="350975"/>
            <a:ext cx="1532649" cy="19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/>
          <p:nvPr/>
        </p:nvSpPr>
        <p:spPr>
          <a:xfrm>
            <a:off x="14268725" y="7309176"/>
            <a:ext cx="8163089" cy="4223758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7" name="Google Shape;297;p20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298" name="Google Shape;298;p20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299" name="Google Shape;299;p20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20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301" name="Google Shape;301;p20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302" name="Google Shape;302;p20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20"/>
          <p:cNvSpPr txBox="1"/>
          <p:nvPr/>
        </p:nvSpPr>
        <p:spPr>
          <a:xfrm>
            <a:off x="6110713" y="167800"/>
            <a:ext cx="5100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MOBILE -  Telas</a:t>
            </a:r>
            <a:endParaRPr b="0" i="0" sz="5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16127512" y="0"/>
            <a:ext cx="1956256" cy="2936219"/>
          </a:xfrm>
          <a:custGeom>
            <a:rect b="b" l="l" r="r" t="t"/>
            <a:pathLst>
              <a:path extrusionOk="0" h="2936219" w="1956256">
                <a:moveTo>
                  <a:pt x="0" y="0"/>
                </a:moveTo>
                <a:lnTo>
                  <a:pt x="1956256" y="0"/>
                </a:lnTo>
                <a:lnTo>
                  <a:pt x="1956256" y="2936219"/>
                </a:lnTo>
                <a:lnTo>
                  <a:pt x="0" y="293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5" name="Google Shape;305;p20"/>
          <p:cNvPicPr preferRelativeResize="0"/>
          <p:nvPr/>
        </p:nvPicPr>
        <p:blipFill rotWithShape="1">
          <a:blip r:embed="rId5">
            <a:alphaModFix/>
          </a:blip>
          <a:srcRect b="0" l="0" r="0" t="2884"/>
          <a:stretch/>
        </p:blipFill>
        <p:spPr>
          <a:xfrm>
            <a:off x="2829875" y="1216213"/>
            <a:ext cx="5100600" cy="8779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0"/>
          <p:cNvPicPr preferRelativeResize="0"/>
          <p:nvPr/>
        </p:nvPicPr>
        <p:blipFill rotWithShape="1">
          <a:blip r:embed="rId6">
            <a:alphaModFix/>
          </a:blip>
          <a:srcRect b="0" l="0" r="0" t="2572"/>
          <a:stretch/>
        </p:blipFill>
        <p:spPr>
          <a:xfrm>
            <a:off x="9168125" y="1232517"/>
            <a:ext cx="5100600" cy="8779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"/>
          <p:cNvSpPr/>
          <p:nvPr/>
        </p:nvSpPr>
        <p:spPr>
          <a:xfrm>
            <a:off x="13421598" y="6778974"/>
            <a:ext cx="9023924" cy="4754183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2" name="Google Shape;312;p21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313" name="Google Shape;313;p21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314" name="Google Shape;314;p21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21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316" name="Google Shape;316;p21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317" name="Google Shape;317;p21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21"/>
          <p:cNvSpPr txBox="1"/>
          <p:nvPr/>
        </p:nvSpPr>
        <p:spPr>
          <a:xfrm>
            <a:off x="8321000" y="340975"/>
            <a:ext cx="17814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WEB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919200" y="1520400"/>
            <a:ext cx="15208200" cy="9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Quando se fala do desenvolvimento web, o framework utilizado é o Next.js (um framework JavaScript), que torna fácil a integração com a API, que é  baseada em Node.js. </a:t>
            </a:r>
            <a:endParaRPr b="1" i="0" sz="3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Ele foi escolhido principalmente pela facilidade em criar rotas, componentes reutilizáveis, ter renderização flexível, fora já ser otimizado para fontes, scripts e imagens, além de tornar todo o software web escalável, em caso de expansão. </a:t>
            </a:r>
            <a:endParaRPr b="1" i="0" sz="3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30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Para alcançar nossos objetivos e melhorar a qualidade do programa web foram usadas algumas bibliotecas e dependências:</a:t>
            </a:r>
            <a:endParaRPr b="1" i="0" sz="3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- Framer-motion (para gerar animações dinâmicas);</a:t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- Tailwind (framework de utilidades CSS);</a:t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- ESLint (usado para encontrar erros no código);</a:t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900" u="none" cap="none" strike="noStrike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- Entre outras;</a:t>
            </a:r>
            <a:endParaRPr b="1" i="0" sz="29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BF6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16127512" y="0"/>
            <a:ext cx="1956256" cy="2936219"/>
          </a:xfrm>
          <a:custGeom>
            <a:rect b="b" l="l" r="r" t="t"/>
            <a:pathLst>
              <a:path extrusionOk="0" h="2936219" w="1956256">
                <a:moveTo>
                  <a:pt x="0" y="0"/>
                </a:moveTo>
                <a:lnTo>
                  <a:pt x="1956256" y="0"/>
                </a:lnTo>
                <a:lnTo>
                  <a:pt x="1956256" y="2936219"/>
                </a:lnTo>
                <a:lnTo>
                  <a:pt x="0" y="293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/>
          <p:nvPr/>
        </p:nvSpPr>
        <p:spPr>
          <a:xfrm>
            <a:off x="13421598" y="6778974"/>
            <a:ext cx="9023924" cy="4754183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22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327" name="Google Shape;327;p22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328" name="Google Shape;328;p22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2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330" name="Google Shape;330;p22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331" name="Google Shape;331;p22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22"/>
          <p:cNvSpPr txBox="1"/>
          <p:nvPr/>
        </p:nvSpPr>
        <p:spPr>
          <a:xfrm>
            <a:off x="7423988" y="254375"/>
            <a:ext cx="38595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WEB - Telas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16127512" y="0"/>
            <a:ext cx="1956256" cy="2936219"/>
          </a:xfrm>
          <a:custGeom>
            <a:rect b="b" l="l" r="r" t="t"/>
            <a:pathLst>
              <a:path extrusionOk="0" h="2936219" w="1956256">
                <a:moveTo>
                  <a:pt x="0" y="0"/>
                </a:moveTo>
                <a:lnTo>
                  <a:pt x="1956256" y="0"/>
                </a:lnTo>
                <a:lnTo>
                  <a:pt x="1956256" y="2936219"/>
                </a:lnTo>
                <a:lnTo>
                  <a:pt x="0" y="293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34" name="Google Shape;3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975" y="1353550"/>
            <a:ext cx="8845951" cy="49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2"/>
          <p:cNvPicPr preferRelativeResize="0"/>
          <p:nvPr/>
        </p:nvPicPr>
        <p:blipFill rotWithShape="1">
          <a:blip r:embed="rId6">
            <a:alphaModFix/>
          </a:blip>
          <a:srcRect b="0" l="0" r="0" t="921"/>
          <a:stretch/>
        </p:blipFill>
        <p:spPr>
          <a:xfrm>
            <a:off x="9281000" y="4952220"/>
            <a:ext cx="8845949" cy="4961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/>
          <p:nvPr/>
        </p:nvSpPr>
        <p:spPr>
          <a:xfrm>
            <a:off x="14167175" y="7322051"/>
            <a:ext cx="8281825" cy="4204112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1" name="Google Shape;341;p23"/>
          <p:cNvGrpSpPr/>
          <p:nvPr/>
        </p:nvGrpSpPr>
        <p:grpSpPr>
          <a:xfrm>
            <a:off x="919199" y="-915527"/>
            <a:ext cx="1660787" cy="1650512"/>
            <a:chOff x="0" y="-47625"/>
            <a:chExt cx="437406" cy="434700"/>
          </a:xfrm>
        </p:grpSpPr>
        <p:sp>
          <p:nvSpPr>
            <p:cNvPr id="342" name="Google Shape;342;p23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343" name="Google Shape;343;p23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23"/>
          <p:cNvGrpSpPr/>
          <p:nvPr/>
        </p:nvGrpSpPr>
        <p:grpSpPr>
          <a:xfrm>
            <a:off x="2664518" y="-915527"/>
            <a:ext cx="489800" cy="1650512"/>
            <a:chOff x="0" y="-47625"/>
            <a:chExt cx="129000" cy="434700"/>
          </a:xfrm>
        </p:grpSpPr>
        <p:sp>
          <p:nvSpPr>
            <p:cNvPr id="345" name="Google Shape;345;p23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346" name="Google Shape;346;p23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23"/>
          <p:cNvSpPr txBox="1"/>
          <p:nvPr/>
        </p:nvSpPr>
        <p:spPr>
          <a:xfrm>
            <a:off x="7423988" y="254375"/>
            <a:ext cx="38595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56"/>
              <a:buFont typeface="Arial"/>
              <a:buNone/>
            </a:pPr>
            <a:r>
              <a:rPr b="1" i="0" lang="en-US" sz="51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WEB - Telas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17145003" y="0"/>
            <a:ext cx="939003" cy="1233212"/>
          </a:xfrm>
          <a:custGeom>
            <a:rect b="b" l="l" r="r" t="t"/>
            <a:pathLst>
              <a:path extrusionOk="0" h="2936219" w="1956256">
                <a:moveTo>
                  <a:pt x="0" y="0"/>
                </a:moveTo>
                <a:lnTo>
                  <a:pt x="1956256" y="0"/>
                </a:lnTo>
                <a:lnTo>
                  <a:pt x="1956256" y="2936219"/>
                </a:lnTo>
                <a:lnTo>
                  <a:pt x="0" y="29362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49" name="Google Shape;34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175" y="1293358"/>
            <a:ext cx="8715592" cy="421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1349" y="1293358"/>
            <a:ext cx="8732649" cy="42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1787" y="5719862"/>
            <a:ext cx="9023926" cy="4373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4"/>
          <p:cNvGrpSpPr/>
          <p:nvPr/>
        </p:nvGrpSpPr>
        <p:grpSpPr>
          <a:xfrm>
            <a:off x="1234634" y="-915527"/>
            <a:ext cx="1660787" cy="1650512"/>
            <a:chOff x="0" y="-47625"/>
            <a:chExt cx="437406" cy="434700"/>
          </a:xfrm>
        </p:grpSpPr>
        <p:sp>
          <p:nvSpPr>
            <p:cNvPr id="357" name="Google Shape;357;p24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358" name="Google Shape;358;p24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4"/>
          <p:cNvGrpSpPr/>
          <p:nvPr/>
        </p:nvGrpSpPr>
        <p:grpSpPr>
          <a:xfrm>
            <a:off x="2895428" y="-915527"/>
            <a:ext cx="489800" cy="1650512"/>
            <a:chOff x="0" y="-47625"/>
            <a:chExt cx="129000" cy="434700"/>
          </a:xfrm>
        </p:grpSpPr>
        <p:sp>
          <p:nvSpPr>
            <p:cNvPr id="360" name="Google Shape;360;p24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361" name="Google Shape;361;p24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4"/>
          <p:cNvSpPr/>
          <p:nvPr/>
        </p:nvSpPr>
        <p:spPr>
          <a:xfrm>
            <a:off x="767037" y="386475"/>
            <a:ext cx="16753932" cy="951404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None/>
            </a:pPr>
            <a:r>
              <a:rPr b="0" i="0" lang="en-US" sz="13500" u="none" cap="none" strike="noStrike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DÚVIDAS</a:t>
            </a:r>
            <a:endParaRPr b="0" i="0" sz="13500" u="none" cap="none" strike="noStrike">
              <a:solidFill>
                <a:srgbClr val="00BF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 txBox="1"/>
          <p:nvPr/>
        </p:nvSpPr>
        <p:spPr>
          <a:xfrm>
            <a:off x="12154198" y="5973850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9742673" y="1301300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8815573" y="7058275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4571998" y="6599750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3761798" y="2428500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3077148" y="5057275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13332773" y="924875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7302273" y="1531300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14365673" y="2925875"/>
            <a:ext cx="1032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Arial"/>
              <a:buNone/>
            </a:pPr>
            <a:r>
              <a:rPr b="1" i="0" lang="en-US" sz="13000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 b="0" i="0" sz="1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/>
          <p:nvPr/>
        </p:nvSpPr>
        <p:spPr>
          <a:xfrm>
            <a:off x="12065128" y="1903981"/>
            <a:ext cx="4316658" cy="6479036"/>
          </a:xfrm>
          <a:custGeom>
            <a:rect b="b" l="l" r="r" t="t"/>
            <a:pathLst>
              <a:path extrusionOk="0" h="6479036" w="4316658">
                <a:moveTo>
                  <a:pt x="0" y="0"/>
                </a:moveTo>
                <a:lnTo>
                  <a:pt x="4316658" y="0"/>
                </a:lnTo>
                <a:lnTo>
                  <a:pt x="4316658" y="6479036"/>
                </a:lnTo>
                <a:lnTo>
                  <a:pt x="0" y="6479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7" name="Google Shape;377;p25"/>
          <p:cNvSpPr/>
          <p:nvPr/>
        </p:nvSpPr>
        <p:spPr>
          <a:xfrm>
            <a:off x="13017500" y="5859324"/>
            <a:ext cx="9202028" cy="5500708"/>
          </a:xfrm>
          <a:custGeom>
            <a:rect b="b" l="l" r="r" t="t"/>
            <a:pathLst>
              <a:path extrusionOk="0"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8" name="Google Shape;378;p25"/>
          <p:cNvGrpSpPr/>
          <p:nvPr/>
        </p:nvGrpSpPr>
        <p:grpSpPr>
          <a:xfrm>
            <a:off x="1234634" y="-915527"/>
            <a:ext cx="1660787" cy="1650512"/>
            <a:chOff x="0" y="-47625"/>
            <a:chExt cx="437406" cy="434700"/>
          </a:xfrm>
        </p:grpSpPr>
        <p:sp>
          <p:nvSpPr>
            <p:cNvPr id="379" name="Google Shape;379;p25"/>
            <p:cNvSpPr/>
            <p:nvPr/>
          </p:nvSpPr>
          <p:spPr>
            <a:xfrm>
              <a:off x="0" y="0"/>
              <a:ext cx="437406" cy="387002"/>
            </a:xfrm>
            <a:custGeom>
              <a:rect b="b" l="l" r="r" t="t"/>
              <a:pathLst>
                <a:path extrusionOk="0"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</p:sp>
        <p:sp>
          <p:nvSpPr>
            <p:cNvPr id="380" name="Google Shape;380;p25"/>
            <p:cNvSpPr txBox="1"/>
            <p:nvPr/>
          </p:nvSpPr>
          <p:spPr>
            <a:xfrm>
              <a:off x="0" y="-47625"/>
              <a:ext cx="4374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25"/>
          <p:cNvGrpSpPr/>
          <p:nvPr/>
        </p:nvGrpSpPr>
        <p:grpSpPr>
          <a:xfrm>
            <a:off x="2895428" y="-915527"/>
            <a:ext cx="489800" cy="1650512"/>
            <a:chOff x="0" y="-47625"/>
            <a:chExt cx="129000" cy="434700"/>
          </a:xfrm>
        </p:grpSpPr>
        <p:sp>
          <p:nvSpPr>
            <p:cNvPr id="382" name="Google Shape;382;p25"/>
            <p:cNvSpPr/>
            <p:nvPr/>
          </p:nvSpPr>
          <p:spPr>
            <a:xfrm>
              <a:off x="0" y="0"/>
              <a:ext cx="128975" cy="387002"/>
            </a:xfrm>
            <a:custGeom>
              <a:rect b="b" l="l" r="r" t="t"/>
              <a:pathLst>
                <a:path extrusionOk="0"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</p:sp>
        <p:sp>
          <p:nvSpPr>
            <p:cNvPr id="383" name="Google Shape;383;p25"/>
            <p:cNvSpPr txBox="1"/>
            <p:nvPr/>
          </p:nvSpPr>
          <p:spPr>
            <a:xfrm>
              <a:off x="0" y="-47625"/>
              <a:ext cx="129000" cy="4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5"/>
          <p:cNvSpPr txBox="1"/>
          <p:nvPr/>
        </p:nvSpPr>
        <p:spPr>
          <a:xfrm>
            <a:off x="4853100" y="257300"/>
            <a:ext cx="85818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6"/>
              <a:buFont typeface="Arial"/>
              <a:buNone/>
            </a:pPr>
            <a:r>
              <a:rPr b="1" i="0" lang="en-US" sz="59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PI - 4° Semestre -  DSM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5"/>
          <p:cNvSpPr txBox="1"/>
          <p:nvPr/>
        </p:nvSpPr>
        <p:spPr>
          <a:xfrm>
            <a:off x="5459425" y="1318418"/>
            <a:ext cx="6605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6"/>
              <a:buFont typeface="Arial"/>
              <a:buNone/>
            </a:pPr>
            <a:r>
              <a:rPr b="1" i="0" lang="en-US" sz="4456" u="none" cap="none" strike="noStrike">
                <a:solidFill>
                  <a:srgbClr val="7ED957"/>
                </a:solidFill>
                <a:latin typeface="Proxima Nova"/>
                <a:ea typeface="Proxima Nova"/>
                <a:cs typeface="Proxima Nova"/>
                <a:sym typeface="Proxima Nova"/>
              </a:rPr>
              <a:t>MOCHILA INTELIGENTE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1234625" y="3429000"/>
            <a:ext cx="9523500" cy="4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4664"/>
              <a:buFont typeface="Proxima Nova"/>
              <a:buChar char="-"/>
            </a:pPr>
            <a:r>
              <a:rPr b="1" i="0" lang="en-US" sz="4664" u="none" cap="none" strike="noStrike">
                <a:solidFill>
                  <a:srgbClr val="00BF63"/>
                </a:solidFill>
                <a:latin typeface="Proxima Nova"/>
                <a:ea typeface="Proxima Nova"/>
                <a:cs typeface="Proxima Nova"/>
                <a:sym typeface="Proxima Nova"/>
              </a:rPr>
              <a:t>Claudio de Melo Junior</a:t>
            </a:r>
            <a:endParaRPr b="1" i="0" sz="4664" u="none" cap="none" strike="noStrike">
              <a:solidFill>
                <a:srgbClr val="00BF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4"/>
              <a:buFont typeface="Arial"/>
              <a:buNone/>
            </a:pPr>
            <a:r>
              <a:t/>
            </a:r>
            <a:endParaRPr b="1" i="0" sz="4664" u="none" cap="none" strike="noStrike">
              <a:solidFill>
                <a:srgbClr val="00BF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57200" lvl="0" marL="45720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4664"/>
              <a:buFont typeface="Proxima Nova"/>
              <a:buChar char="-"/>
            </a:pPr>
            <a:r>
              <a:rPr b="1" i="0" lang="en-US" sz="4664" u="none" cap="none" strike="noStrike">
                <a:solidFill>
                  <a:srgbClr val="00BF63"/>
                </a:solidFill>
                <a:latin typeface="Proxima Nova"/>
                <a:ea typeface="Proxima Nova"/>
                <a:cs typeface="Proxima Nova"/>
                <a:sym typeface="Proxima Nova"/>
              </a:rPr>
              <a:t>João Vitor Nicolau dos Santos</a:t>
            </a:r>
            <a:endParaRPr b="1" i="0" sz="4664" u="none" cap="none" strike="noStrike">
              <a:solidFill>
                <a:srgbClr val="00BF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64"/>
              <a:buFont typeface="Arial"/>
              <a:buNone/>
            </a:pPr>
            <a:r>
              <a:t/>
            </a:r>
            <a:endParaRPr b="1" i="0" sz="4664" u="none" cap="none" strike="noStrike">
              <a:solidFill>
                <a:srgbClr val="00BF6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57200" lvl="0" marL="45720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4664"/>
              <a:buFont typeface="Proxima Nova"/>
              <a:buChar char="-"/>
            </a:pPr>
            <a:r>
              <a:rPr b="1" i="0" lang="en-US" sz="4664" u="none" cap="none" strike="noStrike">
                <a:solidFill>
                  <a:srgbClr val="00BF63"/>
                </a:solidFill>
                <a:latin typeface="Proxima Nova"/>
                <a:ea typeface="Proxima Nova"/>
                <a:cs typeface="Proxima Nova"/>
                <a:sym typeface="Proxima Nova"/>
              </a:rPr>
              <a:t>Luís Pedro Dutra Carrocini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4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